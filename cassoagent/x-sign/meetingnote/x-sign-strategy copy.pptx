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Certificates (millions)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2021</c:v>
                  </c:pt>
                  <c:pt idx="2">
                    <c:v>End 2024</c:v>
                  </c:pt>
                  <c:pt idx="3">
                    <c:v>Sep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0.013</c:v>
                </c:pt>
                <c:pt idx="1">
                  <c:v>0.8</c:v>
                </c:pt>
                <c:pt idx="2">
                  <c:v>11</c:v>
                </c:pt>
                <c:pt idx="3">
                  <c:v>23.5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82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Viettel-CA</c:v>
                  </c:pt>
                  <c:pt idx="1">
                    <c:v>VNPT-CA</c:v>
                  </c:pt>
                  <c:pt idx="2">
                    <c:v>NewTel-CA</c:v>
                  </c:pt>
                  <c:pt idx="3">
                    <c:v>SmartSign</c:v>
                  </c:pt>
                  <c:pt idx="4">
                    <c:v>FPT-CA</c:v>
                  </c:pt>
                  <c:pt idx="5">
                    <c:v>BKAV-CA</c:v>
                  </c:pt>
                  <c:pt idx="6">
                    <c:v>Others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28.5</c:v>
                </c:pt>
                <c:pt idx="1">
                  <c:v>27.3</c:v>
                </c:pt>
                <c:pt idx="2">
                  <c:v>12.4</c:v>
                </c:pt>
                <c:pt idx="3">
                  <c:v>10.6</c:v>
                </c:pt>
                <c:pt idx="4">
                  <c:v>6</c:v>
                </c:pt>
                <c:pt idx="5">
                  <c:v>5.9</c:v>
                </c:pt>
                <c:pt idx="6">
                  <c:v>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82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RICE Score</c:v>
                </c:pt>
              </c:strCache>
            </c:strRef>
          </c:tx>
          <c:spPr>
            <a:solidFill>
              <a:srgbClr val="2080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82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O1: eContract SMEs</c:v>
                  </c:pt>
                  <c:pt idx="1">
                    <c:v>O2: Financial Workflow</c:v>
                  </c:pt>
                  <c:pt idx="2">
                    <c:v>O3: Developer API</c:v>
                  </c:pt>
                  <c:pt idx="3">
                    <c:v>O4: Multi-CA</c:v>
                  </c:pt>
                  <c:pt idx="4">
                    <c:v>O5: Personal CKS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427</c:v>
                </c:pt>
                <c:pt idx="2">
                  <c:v>160</c:v>
                </c:pt>
                <c:pt idx="3">
                  <c:v>50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82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82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neconomy.vn/22-trieu-chung-thuc-chu-ky-so-ca-nhan-da-duoc-cap-tang-gan-gap-doi-chi-sau-8-thang.htm" TargetMode="External"/><Relationship Id="rId3" Type="http://schemas.openxmlformats.org/officeDocument/2006/relationships/hyperlink" Target="https://www.marketsandmarkets.com/Market-Reports/digital-signature-market-177504698.html" TargetMode="External"/><Relationship Id="rId4" Type="http://schemas.openxmlformats.org/officeDocument/2006/relationships/hyperlink" Target="https://en.vneconomy.vn/vietnams-digital-economy-estimated-at-39-bln-in-2025.htm" TargetMode="External"/><Relationship Id="rId1" Type="http://schemas.openxmlformats.org/officeDocument/2006/relationships/chart" Target="/ppt/charts/chart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uvienphapluat.vn/van-ban/Lao-dong-Tien-luong/Nghi-dinh-337-2025-ND-CP-giao-ket-thuc-hien-hop-dong-lao-dong-dien-tu-679694.aspx" TargetMode="External"/><Relationship Id="rId2" Type="http://schemas.openxmlformats.org/officeDocument/2006/relationships/hyperlink" Target="https://thuvienphapluat.vn/phap-luat-doanh-nghiep/bai-viet/quy-dinh-ve-chu-ky-dien-tu-theo-luat-giao-dich-dien-tu-2023-610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otro-viettel.com/tin-tuc/thi-phan-chu-ky-so-viettel/" TargetMode="External"/><Relationship Id="rId3" Type="http://schemas.openxmlformats.org/officeDocument/2006/relationships/hyperlink" Target="https://vnexpress.net/ket-qua-khao-sat-chat-luong-dich-vu-chu-ky-so-2025-5000531.html" TargetMode="External"/><Relationship Id="rId1" Type="http://schemas.openxmlformats.org/officeDocument/2006/relationships/chart" Target="/ppt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X-Sign Product Strategy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Market Analysis &amp; Roadmap for Casso.vn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March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 issued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(Sep 2025, +100% in 8mo)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800K+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needing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eContract compliance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 days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Nghi dinh 337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(Jul 1,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at an Inflection 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digital signature market has doubled in 8 months, driven by regulatory mandates and remote signing adoption.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Digital Certificates Issued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54880" y="141732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892040" y="143560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39.2%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4356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CAGR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13.5B (2025) to USD 70.2B (2030)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96596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98424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$39B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60720" y="1984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digital economy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YoY (2025), e-payments GTV $178B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51460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5328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37.96%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60720" y="25328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population coverage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23.5M of 62M adults have certificates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06324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308152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60720" y="3081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signing since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inflection: personal certs 13K to 23.5M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61188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36301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14+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60720" y="36301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CA providers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(Viettel, VNPT) hold ~56% share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NEAC (Sep 2025)</a:t>
            </a:r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MarketsandMarkets</a:t>
            </a:r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e-Conomy SEA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Mandates Creating Urgent Demand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 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Luat GDDT 2023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E-signatures have legal equivalence to handwritten signatures. 3 recognized types.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28016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 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Nghi dinh 239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registration docs must include e-copies with valid digital signatures.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1B2A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28016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A84B2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Nghi dinh 337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e-labor contracts must be digitally signed, timestamped, and uploaded to eContract platform within 24h.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E6F3F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Critical Implication: </a:t>
            </a:r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 dinh 337 creates a hard compliance deadline of July 1, 2026 for all electronic labor contracts. 800,000+ enterprises must adopt eContract + digital signing solutions. This is not optional.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Nghi dinh 337/2025</a:t>
            </a:r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Luat GDDT 2023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Landscape: Fragmented Market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0584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Integration Gap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29200" y="1417320"/>
            <a:ext cx="3657600" cy="320040"/>
          </a:xfrm>
          <a:prstGeom prst="roundRect">
            <a:avLst>
              <a:gd name="adj" fmla="val 11429"/>
            </a:avLst>
          </a:prstGeom>
          <a:solidFill>
            <a:srgbClr val="01696F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92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0664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1764792"/>
            <a:ext cx="3657600" cy="365760"/>
          </a:xfrm>
          <a:prstGeom prst="rect">
            <a:avLst/>
          </a:prstGeom>
          <a:solidFill>
            <a:srgbClr val="F0EFEB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17647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 WeSign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0" y="1764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Signing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06640" y="1764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Reconciliation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214884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eContract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0664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payments, Invoicing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0" y="2532888"/>
            <a:ext cx="3657600" cy="365760"/>
          </a:xfrm>
          <a:prstGeom prst="rect">
            <a:avLst/>
          </a:prstGeom>
          <a:solidFill>
            <a:srgbClr val="F0EFEB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2532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EFY-eCONTRACT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2532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SME focus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06640" y="2532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workflow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0" y="2916936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29169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Viettel/VNPT CA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17920" y="2916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share, Trust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2916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workflow integration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0" y="3337560"/>
            <a:ext cx="3657600" cy="411480"/>
          </a:xfrm>
          <a:prstGeom prst="roundRect">
            <a:avLst>
              <a:gd name="adj" fmla="val 8889"/>
            </a:avLst>
          </a:prstGeom>
          <a:solidFill>
            <a:srgbClr val="01696F"/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Casso X-Sign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Sign + Invoice + Pay + Reconcile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NEAC Market Share Data</a:t>
            </a:r>
            <a:pPr indent="0" marL="0">
              <a:buNone/>
            </a:pPr>
            <a:r>
              <a:rPr lang="en-US" sz="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CA-Index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Serve: 3 Core Personas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468880" cy="3611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Nguyen Thi 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Owner, 45 employees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need: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ND 337 by July 2026 without IT help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103120" cy="18288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"Casso da giup toi quan ly tien, gio cung giup toi ky hop dong duoc khong?"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468880" cy="3611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188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0808D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 Minh Duc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847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PropTech startup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240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need: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423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API that works in 24h, not 3 weeks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3200400"/>
            <a:ext cx="2103120" cy="18288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"payOS took 4 hours. If X-Sign can do the same for signing, I'll switch tomorrow."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468880" cy="3611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188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B474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Pham Quoc Hung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847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Finance/HR Head, 350 employees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240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need: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423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signing, audit trail, multi-office rollout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200400"/>
            <a:ext cx="2103120" cy="18288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"Toi can audit trail, ky hang loat, va moi nguoi o 5 tinh thanh deu dung duoc."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 Scoring: eContract for SMEs Dominates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 weighted by strategic priority: Market Impact (25%), Urgency (25%), Evidence (20%), Strategic Fit (20%), Moat (10%)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423160"/>
                <a:gridCol w="685800"/>
                <a:gridCol w="685800"/>
                <a:gridCol w="731520"/>
                <a:gridCol w="594360"/>
                <a:gridCol w="59436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Opportunity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Urgency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Evidence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Moat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Score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eContract + Signing for SMEs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Financial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Multi-CA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API-First Signing for Devs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CKS for SME 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6F3F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Recommendation: </a:t>
            </a:r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(eContract + SME compliance) scores 9.00, driven by the July 2026 hard deadline and 800K+ enterprise TAM. This is the go-to-market catalyst. O2 (financial workflow integration, score 7.90) makes it defensible. O3 (multi-CA orchestration, 7.60) builds the long-term moat.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RICE Prioritization: Clear Winner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05840"/>
          <a:ext cx="8046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47472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01696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(2,000 x 3 x 1.0) / 4 = 1,500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confidence: regulatory deadline is law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F0EFE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 x 2 x 0.8) / 3 = 427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Casso advantage, no competitor overlap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F0EFE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9728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 x 2 x 0.8) / 3 = 160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playbook from payOS developer success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Roadmap: Now / Next / Later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1B2A3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Apr-Jun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Sprint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eContract MVP with labor contract templates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Viettel-CA + VNPT-CA integration (55%+ market share)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Mobile/remote signing (no USB token)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Auto-upload to Ministry eContract 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Invoice integration (contract-to-invoice)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18872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20808D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188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Jul-Sep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Deepening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payOS -&gt; Sign -&gt; Invoice 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Auto-reconciliation of signed contracts with payments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SDK + API documentation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with sandbox environment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18872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B474D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188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2026-Q1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Expansion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 orchestration (3+ additional CAs)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switching and comparison tools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CKS onboarding via banking KYC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personal CKS with business services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Feature: X-Sign eContract MVP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launch: June 20, 2026 (11 days before regulatory deadline)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 enterprises must comply with ND 337 by July 2026.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(FPT, EFY, MISA) are standalone - not integrated with payment/invoice workflows. Casso's 1,000+ customers must leave the ecosystem to sign contracts.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Goals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SMEs activated on X-Sign by Q3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signing under 5 minutes end-to-end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signed contracts flow to X Invoice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CA providers supported at launch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cross-sell from payOS 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 Requirements (Must Ship)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eContract creation from templates (labor contracts first)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84708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via Viettel-CA + VNPT-CA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21854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Remote/mobile signing (no USB token)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52374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tracking (draft, pending, signed, expired)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86207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Auto-upload to Ministry platform with ID within 24h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Invoice integration (signed contract triggers invoice)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5387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basic audit trail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87705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(admin, signer, viewer)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Metrics: How We Measure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Leading Indicators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35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435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SME customers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Q3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29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5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sign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24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Contract-to-invoice rate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Q4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218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upload success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24h SLA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13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813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signers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Lagging Indicators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4356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 VND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Q4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299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85%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customer retention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month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24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50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0" y="2624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survey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186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rate (payOS -&gt; X-Sign)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Q4 2026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813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0" y="3813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per 100 signings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scale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Casso Wins: The Financial Workflow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connects signing to the complete financial transaction lifecycle.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01696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28700" y="24688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A84B2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12848" y="155448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01696F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12848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55748" y="24688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A84B2F"/>
          </a:solidFill>
          <a:ln/>
        </p:spPr>
      </p:sp>
      <p:sp>
        <p:nvSpPr>
          <p:cNvPr id="15" name="Text 13"/>
          <p:cNvSpPr/>
          <p:nvPr/>
        </p:nvSpPr>
        <p:spPr>
          <a:xfrm>
            <a:off x="2555748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38728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39896" y="155448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243339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39896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Invoice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82796" y="24688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437A22"/>
          </a:solidFill>
          <a:ln/>
        </p:spPr>
      </p:sp>
      <p:sp>
        <p:nvSpPr>
          <p:cNvPr id="21" name="Text 19"/>
          <p:cNvSpPr/>
          <p:nvPr/>
        </p:nvSpPr>
        <p:spPr>
          <a:xfrm>
            <a:off x="4082796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65776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66944" y="155448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243339"/>
          </a:solidFill>
          <a:ln/>
        </p:spPr>
      </p:sp>
      <p:sp>
        <p:nvSpPr>
          <p:cNvPr id="24" name="Text 22"/>
          <p:cNvSpPr/>
          <p:nvPr/>
        </p:nvSpPr>
        <p:spPr>
          <a:xfrm>
            <a:off x="5266944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66944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9844" y="24688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437A22"/>
          </a:solidFill>
          <a:ln/>
        </p:spPr>
      </p:sp>
      <p:sp>
        <p:nvSpPr>
          <p:cNvPr id="27" name="Text 25"/>
          <p:cNvSpPr/>
          <p:nvPr/>
        </p:nvSpPr>
        <p:spPr>
          <a:xfrm>
            <a:off x="5609844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92824" y="18288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93992" y="155448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243339"/>
          </a:solidFill>
          <a:ln/>
        </p:spPr>
      </p:sp>
      <p:sp>
        <p:nvSpPr>
          <p:cNvPr id="30" name="Text 28"/>
          <p:cNvSpPr/>
          <p:nvPr/>
        </p:nvSpPr>
        <p:spPr>
          <a:xfrm>
            <a:off x="6793992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3992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Casso 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6892" y="2468880"/>
            <a:ext cx="640080" cy="228600"/>
          </a:xfrm>
          <a:prstGeom prst="roundRect">
            <a:avLst>
              <a:gd name="adj" fmla="val 16000"/>
            </a:avLst>
          </a:prstGeom>
          <a:solidFill>
            <a:srgbClr val="437A22"/>
          </a:solidFill>
          <a:ln/>
        </p:spPr>
      </p:sp>
      <p:sp>
        <p:nvSpPr>
          <p:cNvPr id="33" name="Text 31"/>
          <p:cNvSpPr/>
          <p:nvPr/>
        </p:nvSpPr>
        <p:spPr>
          <a:xfrm>
            <a:off x="7136892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58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business customers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61488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38" name="Text 36"/>
          <p:cNvSpPr/>
          <p:nvPr/>
        </p:nvSpPr>
        <p:spPr>
          <a:xfrm>
            <a:off x="2761488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2761488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websites (payOS)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37176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41" name="Text 39"/>
          <p:cNvSpPr/>
          <p:nvPr/>
        </p:nvSpPr>
        <p:spPr>
          <a:xfrm>
            <a:off x="4837176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837176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partnerships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12864" y="3474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39"/>
          </a:solidFill>
          <a:ln/>
        </p:spPr>
      </p:sp>
      <p:sp>
        <p:nvSpPr>
          <p:cNvPr id="44" name="Text 42"/>
          <p:cNvSpPr/>
          <p:nvPr/>
        </p:nvSpPr>
        <p:spPr>
          <a:xfrm>
            <a:off x="6912864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912864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rate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X-Sign eContract MVP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105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person-months of engineering investment for a June 20, 2026 launch, 11 days before the ND 337 deadline. P0 scope: templates, 2 CA integrations, mobile signing, Ministry upload.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Authorize CA partnership negotiations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7249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agreements with Viettel-CA and VNPT-CA for API access and sandbox environments. These are blocking dependencies for the MVP.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to the financial workflow thesis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6393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X-Sign is not a standalone product. It is the missing link in Casso's Contract -&gt; Sign -&gt; Invoice -&gt; Pay -&gt; Reconcile chain. Cross-product integration must be a first-class priority.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182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Casso X-Sign: The missing link in Vietnam's financial workflow.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2026-03-30T09:35:07Z</dcterms:created>
  <dcterms:modified xsi:type="dcterms:W3CDTF">2026-03-30T09:35:07Z</dcterms:modified>
</cp:coreProperties>
</file>