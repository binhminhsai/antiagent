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cover. Mở đầu ngắn — đây là bản đề xuất Pricing Strategy cho portfolio module Odoo by Cas, xây trên hệ sinh thái API của CASSO. Bài này là internal review, mục tiêu là align team trước khi mang ra validate với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Bắt đầu bằng mục tiêu. Mình muốn một pricing cân bằng — không quá cao để bán không ai mua sau khi code, nhưng cũng không quá thấp để mất giá trị và mất margin. Cùng lúc, mình phải thiết kế 2 chiến lược khác nhau cho Partner và End-user. Tại sao chia 2 — slide sau sẽ rõ.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quy trình mình đề xuất, 8 bước từ Gap Analysis ban đầu đến Growth Strategy cuối. Hôm nay deck đi qua các phần được tô đậm: Value Prop, Segmentation, Competitive, Packaging, Pricing Tiers — phần Validate và Growth Strategy là next steps sau khi team align.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Value Proposition. Đây là phần xương sống của bài. Nếu mình không clear value, thì tier nào, giá nào cũng vô nghĩa.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trong một câu: Odoo ở Việt Nam có 2 điểm đứt gãy lớn. Đứt gãy thứ nhất — Odoo và hệ thống ngân hàng không nói chuyện được. Đứt gãy thứ hai — Odoo và Tổng cục Thuế không sync realtime. Cả 2 đều là pain rõ ràng và đắt tiền với khách hàng đang dùng Odoo.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'Thế' của Odoo và 'Thời' của CASSO. Odoo đang yếu ở localization Việt Nam — đó là Thế tăng trưởng. CASSO đã có sẵn hệ sinh thái API Bank Connector và Tax Connector phục vụ thị trường Việt — đó là Thời cơ. Hai cái match nhau gần như hoàn 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Pain List, chia theo 2 nguồn gốc. Bên trái là pain của End-user — vận hành hằng ngày. Bên phải là pain của Partner — kỹ thuật và chi phí dev. Mỗi nhóm có audience riêng, willingness-to-pay riêng, kênh tiếp cận riêng → đó là lý do mình tách chiến lược.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Gain Map, 3 tầng. Tầng 1 là gain functional — module chạy được, sync đúng. Tầng 2 là gain operational — đỡ tốn người, đỡ rủi ro audit. Tầng 3 là gain strategic — partner serve được khách lớn hơn, end-user yên tâm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Customer Segmentation.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tập khách dùng Odoo, mình identify 2 phân khúc tiềm năng nhất: Odoo Partners (27 đơn vị chính thức ở VN) và Enterprise End-user (khách lớn đã được partner triển khai). Mỗi phân khúc là một hành trình bán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 là đòn bẩy lớn nhất. 27 partners chính thức, mỗi partner serve 10–100 khách hàng. Bán cho 1 partner = leverage 10–100x. Họ có pain rõ — pain kỹ thuật, pain chi phí dev nội bộ — và họ có ngân sách dev sẵn. Chiến lược bán cho partner là focus vào tiết kiệm chi phí và time-to-deploy.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End-user là nơi willingness-to-pay cao nhất. 80–90% đã được triển khai qua partner — họ có ngân sách lớn, có CFO/kế toán trưởng chịu trách nhiệm compliance audit. Pain compliance + audit là pain đắt tiền. Chiến lược bán cho end-user là focus vào yên tâm compliance và automation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flywheel quan trọng. CASSO không cạnh tranh với partner — CASSO build awareness với CFO/kế toán trưởng (end-user) → end-user kéo demand về phía partner → partner buộc phải dùng CASSO dù muốn hay không. Đây là cách mình win cả 2 phân khúc cùng lúc mà không tự đập chân.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Packaging &amp;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benchmark với MISA AMIS — competitor lớn nhất ở mảng kế toán SMB Việt Nam. Khác biệt cốt lõi: MISA là phần mềm kế toán đứng riêng, CASSO là layer kết nối Odoo với ngân hàng và thuế. MISA không tích hợp sâu vào ERP, CASSO làm đúng việc đó. Không phải head-to-head, là khác 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 Competitive Benchmarking Matrix. Bức tranh cạnh tranh đầy đủ hơn: 5 đối thủ vs CASDOO Bundle A. Điểm mấu chốt — không ai đồng thời có Bank Sync + GDT Pull trong 1 gói Odoo-native. MISA JetPay có Bank Sync, không GDT Pull. meInvoice có GDT nhưng chỉ một phần và không Odoo-native. PayOS focus payment. CASSO Flow cũ chỉ Bank Sync, không Odoo. Tất cả định giá xấp xỉ 1.000đ/sự kiện — CASDOO không cần phá giá, chỉ cần clear differentiation.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 Pricing Module — toàn bộ portfolio 9 tier. Dev Sandbox free mãi: hook để partner onboard không rào cản. 4 module lẻ M1–M4 per-key annual, trung bình ~1.000đ/sự kiện. Bundle A và B là main selling unit — giảm 14–18% vs lẻ, volume discount từ batch ≥5. Full Suite A+B flagship: tiết kiệm thêm 9–11% vs bundle, SLA + dedicated support. Enterprise OEM monthly retainer cho white-label. Wholesale −30% là sàn cứng partner — không thương lượng xuống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cách đóng gói module — đây là quyết định business chính cần align hôm nay. Bán lẻ từng module để khách dễ thử, bán combo theo nhu cầu để bán cùng lúc 2 module, bán Enterprise full để khách lớn không cần nghĩ. Mình propose dùng cả 3, mỗi cách phục vụ một giai đoạn buying journey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tier cho Partner. 3 tier — Starter, Growth, Scale. Đây là draft tên tier và value, con số sẽ điền sau khi validate với 2-3 partner. Bật Tweaks ở góc phải để xem dạng table thay vì card nếu thích.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tier cho End-user Enterprise. Cùng 3 tầng — Self-serve, Business, Enterprise. Khác Partner ở chỗ Enterprise tier có thêm SLA, dedicated support, và bảo mật compliance audit-grade.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Validate &amp;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90 ngày: 2 tuần đầu align internal, 4 tuần tiếp validate với Oris/Viindoo + 2-3 partner, 4 tuần tiếp pilot với 1-2 partner + 1 enterprise end-user, sau đó GA. Mỗi giai đoạn có gate check rõ ràng.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strategy — upsell và cross-sell. Lẻ → Combo → Enterprise là upsell path. Bank Connector → Tax Connector → Reconciliation là cross-sell path. Discount theo cohort partner + early adopter để tạo case study, không phải cuộc đua xuống đáy.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 3 thứ mình cần từ team sau session hôm nay: 1) Sign-off Value Prop và Segmentation, 2) Approve packaging strategy, 3) Greenlight cho phase Validate với partner tuần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A12"/>
        </a:solidFill>
      </p:bgPr>
    </p:bg>
    <p:spTree>
      <p:nvGrpSpPr>
        <p:cNvPr id="1" name=""/>
        <p:cNvGrpSpPr/>
        <p:nvPr/>
      </p:nvGrpSpPr>
      <p:grpSpPr>
        <a:xfrm>
          <a:off x="0" y="0"/>
          <a:ext cx="0" cy="0"/>
          <a:chOff x="0" y="0"/>
          <a:chExt cx="0" cy="0"/>
        </a:xfrm>
      </p:grpSpPr>
      <p:sp>
        <p:nvSpPr>
          <p:cNvPr id="2" name="Shape 0"/>
          <p:cNvSpPr/>
          <p:nvPr/>
        </p:nvSpPr>
        <p:spPr>
          <a:xfrm>
            <a:off x="1143000" y="940263"/>
            <a:ext cx="419034" cy="419034"/>
          </a:xfrm>
          <a:prstGeom prst="roundRect">
            <a:avLst>
              <a:gd name="adj" fmla="val 27277"/>
            </a:avLst>
          </a:prstGeom>
          <a:solidFill>
            <a:srgbClr val="00B26A"/>
          </a:solidFill>
          <a:ln/>
        </p:spPr>
      </p:sp>
      <p:sp>
        <p:nvSpPr>
          <p:cNvPr id="3" name="Text 1"/>
          <p:cNvSpPr/>
          <p:nvPr/>
        </p:nvSpPr>
        <p:spPr>
          <a:xfrm>
            <a:off x="1143000" y="940263"/>
            <a:ext cx="495234" cy="457134"/>
          </a:xfrm>
          <a:prstGeom prst="rect">
            <a:avLst/>
          </a:prstGeom>
          <a:noFill/>
          <a:ln/>
        </p:spPr>
        <p:txBody>
          <a:bodyPr wrap="square" lIns="25400" tIns="25400" rIns="25400" bIns="25400" rtlCol="0" anchor="t">
            <a:normAutofit/>
          </a:bodyPr>
          <a:lstStyle/>
          <a:p>
            <a:pPr algn="l" indent="0" marL="0">
              <a:lnSpc>
                <a:spcPct val="140000"/>
              </a:lnSpc>
              <a:buNone/>
            </a:pPr>
            <a:r>
              <a:rPr lang="en-US" sz="1800" b="1" spc="36" kern="0" dirty="0">
                <a:solidFill>
                  <a:srgbClr val="FFFFFF"/>
                </a:solidFill>
                <a:latin typeface="Arial" pitchFamily="34" charset="0"/>
                <a:ea typeface="Arial" pitchFamily="34" charset="-122"/>
                <a:cs typeface="Arial" pitchFamily="34" charset="-120"/>
              </a:rPr>
              <a:t>C</a:t>
            </a:r>
            <a:endParaRPr lang="en-US" sz="1800" dirty="0"/>
          </a:p>
        </p:txBody>
      </p:sp>
      <p:sp>
        <p:nvSpPr>
          <p:cNvPr id="4" name="Text 2"/>
          <p:cNvSpPr/>
          <p:nvPr/>
        </p:nvSpPr>
        <p:spPr>
          <a:xfrm>
            <a:off x="1695318" y="989872"/>
            <a:ext cx="2975587"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36" kern="0" dirty="0">
                <a:solidFill>
                  <a:srgbClr val="FFFFFF"/>
                </a:solidFill>
                <a:latin typeface="Arial" pitchFamily="34" charset="0"/>
                <a:ea typeface="Arial" pitchFamily="34" charset="-122"/>
                <a:cs typeface="Arial" pitchFamily="34" charset="-120"/>
              </a:rPr>
              <a:t>CASSO · Internal Review</a:t>
            </a:r>
            <a:endParaRPr lang="en-US" sz="1800" dirty="0"/>
          </a:p>
        </p:txBody>
      </p:sp>
      <p:sp>
        <p:nvSpPr>
          <p:cNvPr id="5" name="Text 3"/>
          <p:cNvSpPr/>
          <p:nvPr/>
        </p:nvSpPr>
        <p:spPr>
          <a:xfrm>
            <a:off x="1143000" y="1625865"/>
            <a:ext cx="8983139" cy="4815152"/>
          </a:xfrm>
          <a:prstGeom prst="rect">
            <a:avLst/>
          </a:prstGeom>
          <a:noFill/>
          <a:ln/>
        </p:spPr>
        <p:txBody>
          <a:bodyPr wrap="square" lIns="25400" tIns="25400" rIns="25400" bIns="25400" rtlCol="0" anchor="t">
            <a:normAutofit/>
          </a:bodyPr>
          <a:lstStyle/>
          <a:p>
            <a:pPr algn="l" indent="0" marL="0">
              <a:lnSpc>
                <a:spcPct val="95000"/>
              </a:lnSpc>
              <a:buNone/>
            </a:pPr>
            <a:r>
              <a:rPr lang="en-US" sz="9900" b="1" spc="-346" kern="0" dirty="0">
                <a:solidFill>
                  <a:srgbClr val="FFFFFF"/>
                </a:solidFill>
                <a:latin typeface="Arial" pitchFamily="34" charset="0"/>
                <a:ea typeface="Arial" pitchFamily="34" charset="-122"/>
                <a:cs typeface="Arial" pitchFamily="34" charset="-120"/>
              </a:rPr>
              <a:t>Product &amp; Pricing Strategy cho Odoo by Cas</a:t>
            </a:r>
            <a:endParaRPr lang="en-US" sz="9900" dirty="0"/>
          </a:p>
        </p:txBody>
      </p:sp>
      <p:sp>
        <p:nvSpPr>
          <p:cNvPr id="6" name="Text 4"/>
          <p:cNvSpPr/>
          <p:nvPr/>
        </p:nvSpPr>
        <p:spPr>
          <a:xfrm>
            <a:off x="1143000" y="6669485"/>
            <a:ext cx="7848601" cy="1318022"/>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FFFFF">
                    <a:alpha val="75000"/>
                  </a:srgbClr>
                </a:solidFill>
                <a:latin typeface="Arial" pitchFamily="34" charset="0"/>
                <a:ea typeface="Arial" pitchFamily="34" charset="-122"/>
                <a:cs typeface="Arial" pitchFamily="34" charset="-120"/>
              </a:rPr>
              <a:t>Một chiến lược giá cân bằng — bán dễ, ít rủi ro code xong không có người mua. Hai chiến lược song song cho Partner và End-user dùng Odoo Enterprise.</a:t>
            </a:r>
            <a:endParaRPr lang="en-US" sz="2400" dirty="0"/>
          </a:p>
        </p:txBody>
      </p:sp>
      <p:sp>
        <p:nvSpPr>
          <p:cNvPr id="7" name="Text 5"/>
          <p:cNvSpPr/>
          <p:nvPr/>
        </p:nvSpPr>
        <p:spPr>
          <a:xfrm>
            <a:off x="1143000" y="8330242"/>
            <a:ext cx="3035882"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FFFFFF">
                    <a:alpha val="50000"/>
                  </a:srgbClr>
                </a:solidFill>
                <a:latin typeface="Courier New" pitchFamily="34" charset="0"/>
                <a:ea typeface="Courier New" pitchFamily="34" charset="-122"/>
                <a:cs typeface="Courier New" pitchFamily="34" charset="-120"/>
              </a:rPr>
              <a:t>AUTHOR</a:t>
            </a:r>
            <a:endParaRPr lang="en-US" sz="1800" dirty="0"/>
          </a:p>
        </p:txBody>
      </p:sp>
      <p:sp>
        <p:nvSpPr>
          <p:cNvPr id="8" name="Text 6"/>
          <p:cNvSpPr/>
          <p:nvPr/>
        </p:nvSpPr>
        <p:spPr>
          <a:xfrm>
            <a:off x="1143000" y="8707107"/>
            <a:ext cx="3035882" cy="67773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FFFFFF"/>
                </a:solidFill>
                <a:latin typeface="Courier New" pitchFamily="34" charset="0"/>
                <a:ea typeface="Courier New" pitchFamily="34" charset="-122"/>
                <a:cs typeface="Courier New" pitchFamily="34" charset="-120"/>
              </a:rPr>
              <a:t>ISA · Product Strategy</a:t>
            </a:r>
            <a:endParaRPr lang="en-US" sz="1800" dirty="0"/>
          </a:p>
        </p:txBody>
      </p:sp>
      <p:sp>
        <p:nvSpPr>
          <p:cNvPr id="9" name="Text 7"/>
          <p:cNvSpPr/>
          <p:nvPr/>
        </p:nvSpPr>
        <p:spPr>
          <a:xfrm>
            <a:off x="4699992" y="8330242"/>
            <a:ext cx="2759785"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FFFFFF">
                    <a:alpha val="50000"/>
                  </a:srgbClr>
                </a:solidFill>
                <a:latin typeface="Courier New" pitchFamily="34" charset="0"/>
                <a:ea typeface="Courier New" pitchFamily="34" charset="-122"/>
                <a:cs typeface="Courier New" pitchFamily="34" charset="-120"/>
              </a:rPr>
              <a:t>STATUS</a:t>
            </a:r>
            <a:endParaRPr lang="en-US" sz="1800" dirty="0"/>
          </a:p>
        </p:txBody>
      </p:sp>
      <p:sp>
        <p:nvSpPr>
          <p:cNvPr id="10" name="Text 8"/>
          <p:cNvSpPr/>
          <p:nvPr/>
        </p:nvSpPr>
        <p:spPr>
          <a:xfrm>
            <a:off x="4699992" y="8707107"/>
            <a:ext cx="2759785" cy="67773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FFFFFF"/>
                </a:solidFill>
                <a:latin typeface="Courier New" pitchFamily="34" charset="0"/>
                <a:ea typeface="Courier New" pitchFamily="34" charset="-122"/>
                <a:cs typeface="Courier New" pitchFamily="34" charset="-120"/>
              </a:rPr>
              <a:t>Internal review · v1</a:t>
            </a:r>
            <a:endParaRPr lang="en-US" sz="1800" dirty="0"/>
          </a:p>
        </p:txBody>
      </p:sp>
      <p:sp>
        <p:nvSpPr>
          <p:cNvPr id="11" name="Text 9"/>
          <p:cNvSpPr/>
          <p:nvPr/>
        </p:nvSpPr>
        <p:spPr>
          <a:xfrm>
            <a:off x="7988929" y="8330242"/>
            <a:ext cx="1951765"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FFFFFF">
                    <a:alpha val="50000"/>
                  </a:srgbClr>
                </a:solidFill>
                <a:latin typeface="Courier New" pitchFamily="34" charset="0"/>
                <a:ea typeface="Courier New" pitchFamily="34" charset="-122"/>
                <a:cs typeface="Courier New" pitchFamily="34" charset="-120"/>
              </a:rPr>
              <a:t>DATE</a:t>
            </a:r>
            <a:endParaRPr lang="en-US" sz="1800" dirty="0"/>
          </a:p>
        </p:txBody>
      </p:sp>
      <p:sp>
        <p:nvSpPr>
          <p:cNvPr id="12" name="Text 10"/>
          <p:cNvSpPr/>
          <p:nvPr/>
        </p:nvSpPr>
        <p:spPr>
          <a:xfrm>
            <a:off x="7988929" y="8707107"/>
            <a:ext cx="1951765" cy="67773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FFFFFF"/>
                </a:solidFill>
                <a:latin typeface="Courier New" pitchFamily="34" charset="0"/>
                <a:ea typeface="Courier New" pitchFamily="34" charset="-122"/>
                <a:cs typeface="Courier New" pitchFamily="34" charset="-120"/>
              </a:rPr>
              <a:t>27 · 05 · 2026</a:t>
            </a:r>
            <a:endParaRPr lang="en-US" sz="1800" dirty="0"/>
          </a:p>
        </p:txBody>
      </p:sp>
      <p:sp>
        <p:nvSpPr>
          <p:cNvPr id="13" name="Shape 11"/>
          <p:cNvSpPr/>
          <p:nvPr/>
        </p:nvSpPr>
        <p:spPr>
          <a:xfrm>
            <a:off x="10435994" y="1788914"/>
            <a:ext cx="6709007" cy="6709007"/>
          </a:xfrm>
          <a:prstGeom prst="rect">
            <a:avLst/>
          </a:prstGeom>
          <a:solidFill>
            <a:srgbClr val="00B26A">
              <a:alpha val="35000"/>
            </a:srgbClr>
          </a:solidFill>
          <a:ln/>
        </p:spPr>
      </p:sp>
      <p:sp>
        <p:nvSpPr>
          <p:cNvPr id="14" name="Shape 12"/>
          <p:cNvSpPr/>
          <p:nvPr/>
        </p:nvSpPr>
        <p:spPr>
          <a:xfrm>
            <a:off x="11218664" y="2571585"/>
            <a:ext cx="5143500" cy="5143500"/>
          </a:xfrm>
          <a:prstGeom prst="ellipse">
            <a:avLst/>
          </a:prstGeom>
          <a:solidFill>
            <a:srgbClr val="00B26A"/>
          </a:solidFill>
          <a:ln/>
          <a:effectLst>
            <a:outerShdw sx="100000" sy="100000" kx="0" ky="0" algn="bl" rotWithShape="0" blurRad="101600" dist="50800" dir="16200000">
              <a:srgbClr val="FFFFFF">
                <a:alpha val="8000"/>
              </a:srgbClr>
            </a:outerShdw>
          </a:effectLst>
        </p:spPr>
      </p:sp>
      <p:sp>
        <p:nvSpPr>
          <p:cNvPr id="15" name="Shape 13"/>
          <p:cNvSpPr/>
          <p:nvPr/>
        </p:nvSpPr>
        <p:spPr>
          <a:xfrm>
            <a:off x="12791612" y="4174795"/>
            <a:ext cx="1997604" cy="569516"/>
          </a:xfrm>
          <a:prstGeom prst="roundRect">
            <a:avLst>
              <a:gd name="adj" fmla="val 50000"/>
            </a:avLst>
          </a:prstGeom>
          <a:solidFill>
            <a:srgbClr val="FFFFFF">
              <a:alpha val="10000"/>
            </a:srgbClr>
          </a:solidFill>
          <a:ln w="10583">
            <a:solidFill>
              <a:srgbClr val="FFFFFF">
                <a:alpha val="18000"/>
              </a:srgbClr>
            </a:solidFill>
            <a:prstDash val="solid"/>
          </a:ln>
        </p:spPr>
      </p:sp>
      <p:sp>
        <p:nvSpPr>
          <p:cNvPr id="16" name="Shape 14"/>
          <p:cNvSpPr/>
          <p:nvPr/>
        </p:nvSpPr>
        <p:spPr>
          <a:xfrm>
            <a:off x="13068764" y="4421518"/>
            <a:ext cx="76068" cy="76068"/>
          </a:xfrm>
          <a:prstGeom prst="ellipse">
            <a:avLst/>
          </a:prstGeom>
          <a:solidFill>
            <a:srgbClr val="66D59C"/>
          </a:solidFill>
          <a:ln/>
        </p:spPr>
      </p:sp>
      <p:sp>
        <p:nvSpPr>
          <p:cNvPr id="17" name="Text 15"/>
          <p:cNvSpPr/>
          <p:nvPr/>
        </p:nvSpPr>
        <p:spPr>
          <a:xfrm>
            <a:off x="13278115" y="4310228"/>
            <a:ext cx="1310150" cy="334433"/>
          </a:xfrm>
          <a:prstGeom prst="rect">
            <a:avLst/>
          </a:prstGeom>
          <a:noFill/>
          <a:ln/>
        </p:spPr>
        <p:txBody>
          <a:bodyPr wrap="square" lIns="0" tIns="0" rIns="0" bIns="0" rtlCol="0" anchor="t">
            <a:normAutofit/>
          </a:bodyPr>
          <a:lstStyle/>
          <a:p>
            <a:pPr algn="l" indent="0" marL="0">
              <a:lnSpc>
                <a:spcPct val="140000"/>
              </a:lnSpc>
              <a:buNone/>
            </a:pPr>
            <a:r>
              <a:rPr lang="en-US" sz="1800" dirty="0">
                <a:solidFill>
                  <a:srgbClr val="FFFFFF">
                    <a:alpha val="92000"/>
                  </a:srgbClr>
                </a:solidFill>
                <a:latin typeface="Courier New" pitchFamily="34" charset="0"/>
                <a:ea typeface="Courier New" pitchFamily="34" charset="-122"/>
                <a:cs typeface="Courier New" pitchFamily="34" charset="-120"/>
              </a:rPr>
              <a:t>Module lẻ</a:t>
            </a:r>
            <a:endParaRPr lang="en-US" sz="1800" dirty="0"/>
          </a:p>
        </p:txBody>
      </p:sp>
      <p:sp>
        <p:nvSpPr>
          <p:cNvPr id="18" name="Shape 16"/>
          <p:cNvSpPr/>
          <p:nvPr/>
        </p:nvSpPr>
        <p:spPr>
          <a:xfrm>
            <a:off x="12517438" y="4858577"/>
            <a:ext cx="2545953" cy="569516"/>
          </a:xfrm>
          <a:prstGeom prst="roundRect">
            <a:avLst>
              <a:gd name="adj" fmla="val 50000"/>
            </a:avLst>
          </a:prstGeom>
          <a:solidFill>
            <a:srgbClr val="FFFFFF">
              <a:alpha val="10000"/>
            </a:srgbClr>
          </a:solidFill>
          <a:ln w="10583">
            <a:solidFill>
              <a:srgbClr val="FFFFFF">
                <a:alpha val="18000"/>
              </a:srgbClr>
            </a:solidFill>
            <a:prstDash val="solid"/>
          </a:ln>
        </p:spPr>
      </p:sp>
      <p:sp>
        <p:nvSpPr>
          <p:cNvPr id="19" name="Shape 17"/>
          <p:cNvSpPr/>
          <p:nvPr/>
        </p:nvSpPr>
        <p:spPr>
          <a:xfrm>
            <a:off x="12794589" y="5105301"/>
            <a:ext cx="76068" cy="76068"/>
          </a:xfrm>
          <a:prstGeom prst="ellipse">
            <a:avLst/>
          </a:prstGeom>
          <a:solidFill>
            <a:srgbClr val="66D59C"/>
          </a:solidFill>
          <a:ln/>
        </p:spPr>
      </p:sp>
      <p:sp>
        <p:nvSpPr>
          <p:cNvPr id="20" name="Text 18"/>
          <p:cNvSpPr/>
          <p:nvPr/>
        </p:nvSpPr>
        <p:spPr>
          <a:xfrm>
            <a:off x="13003941" y="4994011"/>
            <a:ext cx="1858499" cy="334433"/>
          </a:xfrm>
          <a:prstGeom prst="rect">
            <a:avLst/>
          </a:prstGeom>
          <a:noFill/>
          <a:ln/>
        </p:spPr>
        <p:txBody>
          <a:bodyPr wrap="square" lIns="0" tIns="0" rIns="0" bIns="0" rtlCol="0" anchor="t">
            <a:normAutofit/>
          </a:bodyPr>
          <a:lstStyle/>
          <a:p>
            <a:pPr algn="l" indent="0" marL="0">
              <a:lnSpc>
                <a:spcPct val="140000"/>
              </a:lnSpc>
              <a:buNone/>
            </a:pPr>
            <a:r>
              <a:rPr lang="en-US" sz="1800" dirty="0">
                <a:solidFill>
                  <a:srgbClr val="FFFFFF">
                    <a:alpha val="92000"/>
                  </a:srgbClr>
                </a:solidFill>
                <a:latin typeface="Courier New" pitchFamily="34" charset="0"/>
                <a:ea typeface="Courier New" pitchFamily="34" charset="-122"/>
                <a:cs typeface="Courier New" pitchFamily="34" charset="-120"/>
              </a:rPr>
              <a:t>Combo nhu cầu</a:t>
            </a:r>
            <a:endParaRPr lang="en-US" sz="1800" dirty="0"/>
          </a:p>
        </p:txBody>
      </p:sp>
      <p:sp>
        <p:nvSpPr>
          <p:cNvPr id="21" name="Shape 19"/>
          <p:cNvSpPr/>
          <p:nvPr/>
        </p:nvSpPr>
        <p:spPr>
          <a:xfrm>
            <a:off x="12380351" y="5542359"/>
            <a:ext cx="2820128" cy="569516"/>
          </a:xfrm>
          <a:prstGeom prst="roundRect">
            <a:avLst>
              <a:gd name="adj" fmla="val 50000"/>
            </a:avLst>
          </a:prstGeom>
          <a:solidFill>
            <a:srgbClr val="FFFFFF">
              <a:alpha val="10000"/>
            </a:srgbClr>
          </a:solidFill>
          <a:ln w="10583">
            <a:solidFill>
              <a:srgbClr val="FFFFFF">
                <a:alpha val="18000"/>
              </a:srgbClr>
            </a:solidFill>
            <a:prstDash val="solid"/>
          </a:ln>
        </p:spPr>
      </p:sp>
      <p:sp>
        <p:nvSpPr>
          <p:cNvPr id="22" name="Shape 20"/>
          <p:cNvSpPr/>
          <p:nvPr/>
        </p:nvSpPr>
        <p:spPr>
          <a:xfrm>
            <a:off x="12657502" y="5789084"/>
            <a:ext cx="76068" cy="76068"/>
          </a:xfrm>
          <a:prstGeom prst="ellipse">
            <a:avLst/>
          </a:prstGeom>
          <a:solidFill>
            <a:srgbClr val="66D59C"/>
          </a:solidFill>
          <a:ln/>
        </p:spPr>
      </p:sp>
      <p:sp>
        <p:nvSpPr>
          <p:cNvPr id="23" name="Text 21"/>
          <p:cNvSpPr/>
          <p:nvPr/>
        </p:nvSpPr>
        <p:spPr>
          <a:xfrm>
            <a:off x="12866853" y="5677793"/>
            <a:ext cx="2132674" cy="334434"/>
          </a:xfrm>
          <a:prstGeom prst="rect">
            <a:avLst/>
          </a:prstGeom>
          <a:noFill/>
          <a:ln/>
        </p:spPr>
        <p:txBody>
          <a:bodyPr wrap="square" lIns="0" tIns="0" rIns="0" bIns="0" rtlCol="0" anchor="t">
            <a:normAutofit/>
          </a:bodyPr>
          <a:lstStyle/>
          <a:p>
            <a:pPr algn="l" indent="0" marL="0">
              <a:lnSpc>
                <a:spcPct val="140000"/>
              </a:lnSpc>
              <a:buNone/>
            </a:pPr>
            <a:r>
              <a:rPr lang="en-US" sz="1800" dirty="0">
                <a:solidFill>
                  <a:srgbClr val="FFFFFF">
                    <a:alpha val="92000"/>
                  </a:srgbClr>
                </a:solidFill>
                <a:latin typeface="Courier New" pitchFamily="34" charset="0"/>
                <a:ea typeface="Courier New" pitchFamily="34" charset="-122"/>
                <a:cs typeface="Courier New" pitchFamily="34" charset="-120"/>
              </a:rPr>
              <a:t>Full Enterprise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01 · MỤC TIÊU</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Pricing phải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cân bằng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 bán dễ, ít rủi ro code xong không có người mua.</a:t>
            </a:r>
            <a:endParaRPr lang="en-US" sz="5400" dirty="0"/>
          </a:p>
        </p:txBody>
      </p:sp>
      <p:sp>
        <p:nvSpPr>
          <p:cNvPr id="4" name="Shape 2"/>
          <p:cNvSpPr/>
          <p:nvPr/>
        </p:nvSpPr>
        <p:spPr>
          <a:xfrm>
            <a:off x="1143000" y="3359712"/>
            <a:ext cx="5105466" cy="2748029"/>
          </a:xfrm>
          <a:prstGeom prst="roundRect">
            <a:avLst>
              <a:gd name="adj" fmla="val 6932"/>
            </a:avLst>
          </a:prstGeom>
          <a:solidFill>
            <a:srgbClr val="FFFFFF"/>
          </a:solidFill>
          <a:ln w="10583">
            <a:solidFill>
              <a:srgbClr val="E2E7E5"/>
            </a:solidFill>
            <a:prstDash val="solid"/>
          </a:ln>
        </p:spPr>
      </p:sp>
      <p:sp>
        <p:nvSpPr>
          <p:cNvPr id="5" name="Text 3"/>
          <p:cNvSpPr/>
          <p:nvPr/>
        </p:nvSpPr>
        <p:spPr>
          <a:xfrm>
            <a:off x="1534583" y="3713097"/>
            <a:ext cx="445196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GOAL · 01</a:t>
            </a:r>
            <a:endParaRPr lang="en-US" sz="1800" dirty="0"/>
          </a:p>
        </p:txBody>
      </p:sp>
      <p:sp>
        <p:nvSpPr>
          <p:cNvPr id="6" name="Text 4"/>
          <p:cNvSpPr/>
          <p:nvPr/>
        </p:nvSpPr>
        <p:spPr>
          <a:xfrm>
            <a:off x="1534583" y="4204229"/>
            <a:ext cx="445196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Một chiến lược cân bằng</a:t>
            </a:r>
            <a:endParaRPr lang="en-US" sz="2400" dirty="0"/>
          </a:p>
        </p:txBody>
      </p:sp>
      <p:sp>
        <p:nvSpPr>
          <p:cNvPr id="7" name="Text 5"/>
          <p:cNvSpPr/>
          <p:nvPr/>
        </p:nvSpPr>
        <p:spPr>
          <a:xfrm>
            <a:off x="1534583" y="4725955"/>
            <a:ext cx="4451969" cy="1066502"/>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23A36"/>
                </a:solidFill>
                <a:latin typeface="Arial" pitchFamily="34" charset="0"/>
                <a:ea typeface="Arial" pitchFamily="34" charset="-122"/>
                <a:cs typeface="Arial" pitchFamily="34" charset="-120"/>
              </a:rPr>
              <a:t>Đủ rẻ để Partner và End-user mua thử, đủ đắt để giữ margin và phản ánh đúng value CASSO mang lại.</a:t>
            </a:r>
            <a:endParaRPr lang="en-US" sz="1800" dirty="0"/>
          </a:p>
        </p:txBody>
      </p:sp>
      <p:sp>
        <p:nvSpPr>
          <p:cNvPr id="8" name="Shape 6"/>
          <p:cNvSpPr/>
          <p:nvPr/>
        </p:nvSpPr>
        <p:spPr>
          <a:xfrm>
            <a:off x="6591267" y="3359712"/>
            <a:ext cx="5105466" cy="2758612"/>
          </a:xfrm>
          <a:prstGeom prst="roundRect">
            <a:avLst>
              <a:gd name="adj" fmla="val 6906"/>
            </a:avLst>
          </a:prstGeom>
          <a:solidFill>
            <a:srgbClr val="FFFFFF"/>
          </a:solidFill>
          <a:ln w="10583">
            <a:solidFill>
              <a:srgbClr val="E2E7E5"/>
            </a:solidFill>
            <a:prstDash val="solid"/>
          </a:ln>
        </p:spPr>
      </p:sp>
      <p:sp>
        <p:nvSpPr>
          <p:cNvPr id="9" name="Text 7"/>
          <p:cNvSpPr/>
          <p:nvPr/>
        </p:nvSpPr>
        <p:spPr>
          <a:xfrm>
            <a:off x="6982851" y="3713097"/>
            <a:ext cx="445196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GOAL · 02</a:t>
            </a:r>
            <a:endParaRPr lang="en-US" sz="1800" dirty="0"/>
          </a:p>
        </p:txBody>
      </p:sp>
      <p:sp>
        <p:nvSpPr>
          <p:cNvPr id="10" name="Text 8"/>
          <p:cNvSpPr/>
          <p:nvPr/>
        </p:nvSpPr>
        <p:spPr>
          <a:xfrm>
            <a:off x="6982851" y="4204229"/>
            <a:ext cx="445196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Hai chiến lược song song</a:t>
            </a:r>
            <a:endParaRPr lang="en-US" sz="2400" dirty="0"/>
          </a:p>
        </p:txBody>
      </p:sp>
      <p:sp>
        <p:nvSpPr>
          <p:cNvPr id="11" name="Text 9"/>
          <p:cNvSpPr/>
          <p:nvPr/>
        </p:nvSpPr>
        <p:spPr>
          <a:xfrm>
            <a:off x="6982851" y="4725955"/>
            <a:ext cx="4451969" cy="1077086"/>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23A36"/>
                </a:solidFill>
                <a:latin typeface="Arial" pitchFamily="34" charset="0"/>
                <a:ea typeface="Arial" pitchFamily="34" charset="-122"/>
                <a:cs typeface="Arial" pitchFamily="34" charset="-120"/>
              </a:rPr>
              <a:t>Pricing riêng cho </a:t>
            </a:r>
            <a:pPr algn="l" indent="0" marL="0">
              <a:lnSpc>
                <a:spcPct val="150000"/>
              </a:lnSpc>
              <a:buNone/>
            </a:pPr>
            <a:r>
              <a:rPr lang="en-US" sz="1800" b="1" dirty="0">
                <a:solidFill>
                  <a:srgbClr val="323A36"/>
                </a:solidFill>
                <a:latin typeface="Arial" pitchFamily="34" charset="0"/>
                <a:ea typeface="Arial" pitchFamily="34" charset="-122"/>
                <a:cs typeface="Arial" pitchFamily="34" charset="-120"/>
              </a:rPr>
              <a:t>Odoo Partners </a:t>
            </a:r>
            <a:pPr algn="l" indent="0" marL="0">
              <a:lnSpc>
                <a:spcPct val="150000"/>
              </a:lnSpc>
              <a:buNone/>
            </a:pPr>
            <a:r>
              <a:rPr lang="en-US" sz="1800" dirty="0">
                <a:solidFill>
                  <a:srgbClr val="323A36"/>
                </a:solidFill>
                <a:latin typeface="Arial" pitchFamily="34" charset="0"/>
                <a:ea typeface="Arial" pitchFamily="34" charset="-122"/>
                <a:cs typeface="Arial" pitchFamily="34" charset="-120"/>
              </a:rPr>
              <a:t>(Oris, Viindoo…) và End-user dùng Odoo Enterprise — vì hành vi mua khác nhau.</a:t>
            </a:r>
            <a:endParaRPr lang="en-US" sz="1800" dirty="0"/>
          </a:p>
        </p:txBody>
      </p:sp>
      <p:sp>
        <p:nvSpPr>
          <p:cNvPr id="12" name="Shape 10"/>
          <p:cNvSpPr/>
          <p:nvPr/>
        </p:nvSpPr>
        <p:spPr>
          <a:xfrm>
            <a:off x="12039535" y="3359712"/>
            <a:ext cx="5105466" cy="2748029"/>
          </a:xfrm>
          <a:prstGeom prst="roundRect">
            <a:avLst>
              <a:gd name="adj" fmla="val 6932"/>
            </a:avLst>
          </a:prstGeom>
          <a:solidFill>
            <a:srgbClr val="FFFFFF"/>
          </a:solidFill>
          <a:ln w="10583">
            <a:solidFill>
              <a:srgbClr val="E2E7E5"/>
            </a:solidFill>
            <a:prstDash val="solid"/>
          </a:ln>
        </p:spPr>
      </p:sp>
      <p:sp>
        <p:nvSpPr>
          <p:cNvPr id="13" name="Text 11"/>
          <p:cNvSpPr/>
          <p:nvPr/>
        </p:nvSpPr>
        <p:spPr>
          <a:xfrm>
            <a:off x="12431118" y="3713097"/>
            <a:ext cx="445196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GOAL · 03</a:t>
            </a:r>
            <a:endParaRPr lang="en-US" sz="1800" dirty="0"/>
          </a:p>
        </p:txBody>
      </p:sp>
      <p:sp>
        <p:nvSpPr>
          <p:cNvPr id="14" name="Text 12"/>
          <p:cNvSpPr/>
          <p:nvPr/>
        </p:nvSpPr>
        <p:spPr>
          <a:xfrm>
            <a:off x="12431118" y="4204229"/>
            <a:ext cx="445196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Cho partner thử trước</a:t>
            </a:r>
            <a:endParaRPr lang="en-US" sz="2400" dirty="0"/>
          </a:p>
        </p:txBody>
      </p:sp>
      <p:sp>
        <p:nvSpPr>
          <p:cNvPr id="15" name="Text 13"/>
          <p:cNvSpPr/>
          <p:nvPr/>
        </p:nvSpPr>
        <p:spPr>
          <a:xfrm>
            <a:off x="12431118" y="4725955"/>
            <a:ext cx="4451969" cy="1066502"/>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23A36"/>
                </a:solidFill>
                <a:latin typeface="Arial" pitchFamily="34" charset="0"/>
                <a:ea typeface="Arial" pitchFamily="34" charset="-122"/>
                <a:cs typeface="Arial" pitchFamily="34" charset="-120"/>
              </a:rPr>
              <a:t>Ưu tiên đưa module cho partner Odoo khác xài thử &amp; validate giá, dọn đường cho CASSO lên Third Party của Odoo.</a:t>
            </a:r>
            <a:endParaRPr lang="en-US" sz="1800" dirty="0"/>
          </a:p>
        </p:txBody>
      </p:sp>
      <p:sp>
        <p:nvSpPr>
          <p:cNvPr id="16" name="Text 14"/>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02 / 24</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02 · QUY TRÌNH</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8 bước đi từ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Gap Analysis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đến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Growth Strategy</a:t>
            </a:r>
            <a:endParaRPr lang="en-US" sz="5400" dirty="0"/>
          </a:p>
        </p:txBody>
      </p:sp>
      <p:sp>
        <p:nvSpPr>
          <p:cNvPr id="4" name="Shape 2"/>
          <p:cNvSpPr/>
          <p:nvPr/>
        </p:nvSpPr>
        <p:spPr>
          <a:xfrm>
            <a:off x="1143000" y="3359712"/>
            <a:ext cx="1878376" cy="2286000"/>
          </a:xfrm>
          <a:prstGeom prst="roundRect">
            <a:avLst>
              <a:gd name="adj" fmla="val 7099"/>
            </a:avLst>
          </a:prstGeom>
          <a:solidFill>
            <a:srgbClr val="00B26A"/>
          </a:solidFill>
          <a:ln w="10583">
            <a:solidFill>
              <a:srgbClr val="008F55"/>
            </a:solidFill>
            <a:prstDash val="solid"/>
          </a:ln>
        </p:spPr>
      </p:sp>
      <p:sp>
        <p:nvSpPr>
          <p:cNvPr id="5" name="Text 3"/>
          <p:cNvSpPr/>
          <p:nvPr/>
        </p:nvSpPr>
        <p:spPr>
          <a:xfrm>
            <a:off x="1344083" y="3636863"/>
            <a:ext cx="1552410"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44" kern="0" dirty="0">
                <a:solidFill>
                  <a:srgbClr val="FFFFFF">
                    <a:alpha val="70000"/>
                  </a:srgbClr>
                </a:solidFill>
                <a:latin typeface="Courier New" pitchFamily="34" charset="0"/>
                <a:ea typeface="Courier New" pitchFamily="34" charset="-122"/>
                <a:cs typeface="Courier New" pitchFamily="34" charset="-120"/>
              </a:rPr>
              <a:t>01</a:t>
            </a:r>
            <a:endParaRPr lang="en-US" sz="1800" dirty="0"/>
          </a:p>
        </p:txBody>
      </p:sp>
      <p:sp>
        <p:nvSpPr>
          <p:cNvPr id="6" name="Text 4"/>
          <p:cNvSpPr/>
          <p:nvPr/>
        </p:nvSpPr>
        <p:spPr>
          <a:xfrm>
            <a:off x="1344083" y="4070945"/>
            <a:ext cx="1552410" cy="586449"/>
          </a:xfrm>
          <a:prstGeom prst="rect">
            <a:avLst/>
          </a:prstGeom>
          <a:noFill/>
          <a:ln/>
        </p:spPr>
        <p:txBody>
          <a:bodyPr wrap="square" lIns="25400" tIns="25400" rIns="25400" bIns="25400" rtlCol="0" anchor="t">
            <a:normAutofit/>
          </a:bodyPr>
          <a:lstStyle/>
          <a:p>
            <a:pPr algn="l" indent="0" marL="0">
              <a:lnSpc>
                <a:spcPct val="120000"/>
              </a:lnSpc>
              <a:buNone/>
            </a:pPr>
            <a:r>
              <a:rPr lang="en-US" sz="1800" b="1" spc="-9" kern="0" dirty="0">
                <a:solidFill>
                  <a:srgbClr val="FFFFFF"/>
                </a:solidFill>
                <a:latin typeface="Arial" pitchFamily="34" charset="0"/>
                <a:ea typeface="Arial" pitchFamily="34" charset="-122"/>
                <a:cs typeface="Arial" pitchFamily="34" charset="-120"/>
              </a:rPr>
              <a:t>Gap Analysis</a:t>
            </a:r>
            <a:endParaRPr lang="en-US" sz="1800" dirty="0"/>
          </a:p>
        </p:txBody>
      </p:sp>
      <p:sp>
        <p:nvSpPr>
          <p:cNvPr id="7" name="Text 5"/>
          <p:cNvSpPr/>
          <p:nvPr/>
        </p:nvSpPr>
        <p:spPr>
          <a:xfrm>
            <a:off x="2972594" y="4407462"/>
            <a:ext cx="266700" cy="228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B7771"/>
                </a:solidFill>
                <a:latin typeface="Courier New" pitchFamily="34" charset="0"/>
                <a:ea typeface="Courier New" pitchFamily="34" charset="-122"/>
                <a:cs typeface="Courier New" pitchFamily="34" charset="-120"/>
              </a:rPr>
              <a:t>›</a:t>
            </a:r>
            <a:endParaRPr lang="en-US" sz="1800" dirty="0"/>
          </a:p>
        </p:txBody>
      </p:sp>
      <p:sp>
        <p:nvSpPr>
          <p:cNvPr id="8" name="Shape 6"/>
          <p:cNvSpPr/>
          <p:nvPr/>
        </p:nvSpPr>
        <p:spPr>
          <a:xfrm>
            <a:off x="3135643" y="3359712"/>
            <a:ext cx="1878542" cy="2286000"/>
          </a:xfrm>
          <a:prstGeom prst="roundRect">
            <a:avLst>
              <a:gd name="adj" fmla="val 7099"/>
            </a:avLst>
          </a:prstGeom>
          <a:solidFill>
            <a:srgbClr val="00B26A"/>
          </a:solidFill>
          <a:ln w="10583">
            <a:solidFill>
              <a:srgbClr val="008F55"/>
            </a:solidFill>
            <a:prstDash val="solid"/>
          </a:ln>
        </p:spPr>
      </p:sp>
      <p:sp>
        <p:nvSpPr>
          <p:cNvPr id="9" name="Text 7"/>
          <p:cNvSpPr/>
          <p:nvPr/>
        </p:nvSpPr>
        <p:spPr>
          <a:xfrm>
            <a:off x="3336727" y="3636863"/>
            <a:ext cx="1552575"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44" kern="0" dirty="0">
                <a:solidFill>
                  <a:srgbClr val="FFFFFF">
                    <a:alpha val="70000"/>
                  </a:srgbClr>
                </a:solidFill>
                <a:latin typeface="Courier New" pitchFamily="34" charset="0"/>
                <a:ea typeface="Courier New" pitchFamily="34" charset="-122"/>
                <a:cs typeface="Courier New" pitchFamily="34" charset="-120"/>
              </a:rPr>
              <a:t>02</a:t>
            </a:r>
            <a:endParaRPr lang="en-US" sz="1800" dirty="0"/>
          </a:p>
        </p:txBody>
      </p:sp>
      <p:sp>
        <p:nvSpPr>
          <p:cNvPr id="10" name="Text 8"/>
          <p:cNvSpPr/>
          <p:nvPr/>
        </p:nvSpPr>
        <p:spPr>
          <a:xfrm>
            <a:off x="3336727" y="4070945"/>
            <a:ext cx="1552575" cy="586449"/>
          </a:xfrm>
          <a:prstGeom prst="rect">
            <a:avLst/>
          </a:prstGeom>
          <a:noFill/>
          <a:ln/>
        </p:spPr>
        <p:txBody>
          <a:bodyPr wrap="square" lIns="25400" tIns="25400" rIns="25400" bIns="25400" rtlCol="0" anchor="t">
            <a:normAutofit/>
          </a:bodyPr>
          <a:lstStyle/>
          <a:p>
            <a:pPr algn="l" indent="0" marL="0">
              <a:lnSpc>
                <a:spcPct val="120000"/>
              </a:lnSpc>
              <a:buNone/>
            </a:pPr>
            <a:r>
              <a:rPr lang="en-US" sz="1800" b="1" spc="-9" kern="0" dirty="0">
                <a:solidFill>
                  <a:srgbClr val="FFFFFF"/>
                </a:solidFill>
                <a:latin typeface="Arial" pitchFamily="34" charset="0"/>
                <a:ea typeface="Arial" pitchFamily="34" charset="-122"/>
                <a:cs typeface="Arial" pitchFamily="34" charset="-120"/>
              </a:rPr>
              <a:t>Value Proposition</a:t>
            </a:r>
            <a:endParaRPr lang="en-US" sz="1800" dirty="0"/>
          </a:p>
        </p:txBody>
      </p:sp>
      <p:sp>
        <p:nvSpPr>
          <p:cNvPr id="11" name="Text 9"/>
          <p:cNvSpPr/>
          <p:nvPr/>
        </p:nvSpPr>
        <p:spPr>
          <a:xfrm>
            <a:off x="4965403" y="4407462"/>
            <a:ext cx="266700" cy="228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B7771"/>
                </a:solidFill>
                <a:latin typeface="Courier New" pitchFamily="34" charset="0"/>
                <a:ea typeface="Courier New" pitchFamily="34" charset="-122"/>
                <a:cs typeface="Courier New" pitchFamily="34" charset="-120"/>
              </a:rPr>
              <a:t>›</a:t>
            </a:r>
            <a:endParaRPr lang="en-US" sz="1800" dirty="0"/>
          </a:p>
        </p:txBody>
      </p:sp>
      <p:sp>
        <p:nvSpPr>
          <p:cNvPr id="12" name="Shape 10"/>
          <p:cNvSpPr/>
          <p:nvPr/>
        </p:nvSpPr>
        <p:spPr>
          <a:xfrm>
            <a:off x="5128452" y="3359712"/>
            <a:ext cx="2009345" cy="2286000"/>
          </a:xfrm>
          <a:prstGeom prst="roundRect">
            <a:avLst>
              <a:gd name="adj" fmla="val 6636"/>
            </a:avLst>
          </a:prstGeom>
          <a:solidFill>
            <a:srgbClr val="00B26A"/>
          </a:solidFill>
          <a:ln w="10583">
            <a:solidFill>
              <a:srgbClr val="008F55"/>
            </a:solidFill>
            <a:prstDash val="solid"/>
          </a:ln>
        </p:spPr>
      </p:sp>
      <p:sp>
        <p:nvSpPr>
          <p:cNvPr id="13" name="Text 11"/>
          <p:cNvSpPr/>
          <p:nvPr/>
        </p:nvSpPr>
        <p:spPr>
          <a:xfrm>
            <a:off x="5329535" y="3636863"/>
            <a:ext cx="1683378"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44" kern="0" dirty="0">
                <a:solidFill>
                  <a:srgbClr val="FFFFFF">
                    <a:alpha val="70000"/>
                  </a:srgbClr>
                </a:solidFill>
                <a:latin typeface="Courier New" pitchFamily="34" charset="0"/>
                <a:ea typeface="Courier New" pitchFamily="34" charset="-122"/>
                <a:cs typeface="Courier New" pitchFamily="34" charset="-120"/>
              </a:rPr>
              <a:t>03</a:t>
            </a:r>
            <a:endParaRPr lang="en-US" sz="1800" dirty="0"/>
          </a:p>
        </p:txBody>
      </p:sp>
      <p:sp>
        <p:nvSpPr>
          <p:cNvPr id="14" name="Text 12"/>
          <p:cNvSpPr/>
          <p:nvPr/>
        </p:nvSpPr>
        <p:spPr>
          <a:xfrm>
            <a:off x="5329535" y="4070945"/>
            <a:ext cx="1683378" cy="586449"/>
          </a:xfrm>
          <a:prstGeom prst="rect">
            <a:avLst/>
          </a:prstGeom>
          <a:noFill/>
          <a:ln/>
        </p:spPr>
        <p:txBody>
          <a:bodyPr wrap="square" lIns="25400" tIns="25400" rIns="25400" bIns="25400" rtlCol="0" anchor="t">
            <a:normAutofit/>
          </a:bodyPr>
          <a:lstStyle/>
          <a:p>
            <a:pPr algn="l" indent="0" marL="0">
              <a:lnSpc>
                <a:spcPct val="120000"/>
              </a:lnSpc>
              <a:buNone/>
            </a:pPr>
            <a:r>
              <a:rPr lang="en-US" sz="1800" b="1" spc="-9" kern="0" dirty="0">
                <a:solidFill>
                  <a:srgbClr val="FFFFFF"/>
                </a:solidFill>
                <a:latin typeface="Arial" pitchFamily="34" charset="0"/>
                <a:ea typeface="Arial" pitchFamily="34" charset="-122"/>
                <a:cs typeface="Arial" pitchFamily="34" charset="-120"/>
              </a:rPr>
              <a:t>Customer Segmentation</a:t>
            </a:r>
            <a:endParaRPr lang="en-US" sz="1800" dirty="0"/>
          </a:p>
        </p:txBody>
      </p:sp>
      <p:sp>
        <p:nvSpPr>
          <p:cNvPr id="15" name="Text 13"/>
          <p:cNvSpPr/>
          <p:nvPr/>
        </p:nvSpPr>
        <p:spPr>
          <a:xfrm>
            <a:off x="7089014" y="4407462"/>
            <a:ext cx="266700" cy="228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B7771"/>
                </a:solidFill>
                <a:latin typeface="Courier New" pitchFamily="34" charset="0"/>
                <a:ea typeface="Courier New" pitchFamily="34" charset="-122"/>
                <a:cs typeface="Courier New" pitchFamily="34" charset="-120"/>
              </a:rPr>
              <a:t>›</a:t>
            </a:r>
            <a:endParaRPr lang="en-US" sz="1800" dirty="0"/>
          </a:p>
        </p:txBody>
      </p:sp>
      <p:sp>
        <p:nvSpPr>
          <p:cNvPr id="16" name="Shape 14"/>
          <p:cNvSpPr/>
          <p:nvPr/>
        </p:nvSpPr>
        <p:spPr>
          <a:xfrm>
            <a:off x="7252064" y="3359712"/>
            <a:ext cx="1878542" cy="2286000"/>
          </a:xfrm>
          <a:prstGeom prst="roundRect">
            <a:avLst>
              <a:gd name="adj" fmla="val 7099"/>
            </a:avLst>
          </a:prstGeom>
          <a:solidFill>
            <a:srgbClr val="00B26A"/>
          </a:solidFill>
          <a:ln w="10583">
            <a:solidFill>
              <a:srgbClr val="008F55"/>
            </a:solidFill>
            <a:prstDash val="solid"/>
          </a:ln>
        </p:spPr>
      </p:sp>
      <p:sp>
        <p:nvSpPr>
          <p:cNvPr id="17" name="Text 15"/>
          <p:cNvSpPr/>
          <p:nvPr/>
        </p:nvSpPr>
        <p:spPr>
          <a:xfrm>
            <a:off x="7453147" y="3636863"/>
            <a:ext cx="1552575"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44" kern="0" dirty="0">
                <a:solidFill>
                  <a:srgbClr val="FFFFFF">
                    <a:alpha val="70000"/>
                  </a:srgbClr>
                </a:solidFill>
                <a:latin typeface="Courier New" pitchFamily="34" charset="0"/>
                <a:ea typeface="Courier New" pitchFamily="34" charset="-122"/>
                <a:cs typeface="Courier New" pitchFamily="34" charset="-120"/>
              </a:rPr>
              <a:t>04</a:t>
            </a:r>
            <a:endParaRPr lang="en-US" sz="1800" dirty="0"/>
          </a:p>
        </p:txBody>
      </p:sp>
      <p:sp>
        <p:nvSpPr>
          <p:cNvPr id="18" name="Text 16"/>
          <p:cNvSpPr/>
          <p:nvPr/>
        </p:nvSpPr>
        <p:spPr>
          <a:xfrm>
            <a:off x="7453147" y="4070945"/>
            <a:ext cx="1552575" cy="586449"/>
          </a:xfrm>
          <a:prstGeom prst="rect">
            <a:avLst/>
          </a:prstGeom>
          <a:noFill/>
          <a:ln/>
        </p:spPr>
        <p:txBody>
          <a:bodyPr wrap="square" lIns="25400" tIns="25400" rIns="25400" bIns="25400" rtlCol="0" anchor="t">
            <a:normAutofit/>
          </a:bodyPr>
          <a:lstStyle/>
          <a:p>
            <a:pPr algn="l" indent="0" marL="0">
              <a:lnSpc>
                <a:spcPct val="120000"/>
              </a:lnSpc>
              <a:buNone/>
            </a:pPr>
            <a:r>
              <a:rPr lang="en-US" sz="1800" b="1" spc="-9" kern="0" dirty="0">
                <a:solidFill>
                  <a:srgbClr val="FFFFFF"/>
                </a:solidFill>
                <a:latin typeface="Arial" pitchFamily="34" charset="0"/>
                <a:ea typeface="Arial" pitchFamily="34" charset="-122"/>
                <a:cs typeface="Arial" pitchFamily="34" charset="-120"/>
              </a:rPr>
              <a:t>Competitive Benchmark</a:t>
            </a:r>
            <a:endParaRPr lang="en-US" sz="1800" dirty="0"/>
          </a:p>
        </p:txBody>
      </p:sp>
      <p:sp>
        <p:nvSpPr>
          <p:cNvPr id="19" name="Text 17"/>
          <p:cNvSpPr/>
          <p:nvPr/>
        </p:nvSpPr>
        <p:spPr>
          <a:xfrm>
            <a:off x="9081824" y="4407462"/>
            <a:ext cx="266700" cy="228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B7771"/>
                </a:solidFill>
                <a:latin typeface="Courier New" pitchFamily="34" charset="0"/>
                <a:ea typeface="Courier New" pitchFamily="34" charset="-122"/>
                <a:cs typeface="Courier New" pitchFamily="34" charset="-120"/>
              </a:rPr>
              <a:t>›</a:t>
            </a:r>
            <a:endParaRPr lang="en-US" sz="1800" dirty="0"/>
          </a:p>
        </p:txBody>
      </p:sp>
      <p:sp>
        <p:nvSpPr>
          <p:cNvPr id="20" name="Shape 18"/>
          <p:cNvSpPr/>
          <p:nvPr/>
        </p:nvSpPr>
        <p:spPr>
          <a:xfrm>
            <a:off x="9244873" y="3359712"/>
            <a:ext cx="1878376" cy="2286000"/>
          </a:xfrm>
          <a:prstGeom prst="roundRect">
            <a:avLst>
              <a:gd name="adj" fmla="val 7099"/>
            </a:avLst>
          </a:prstGeom>
          <a:solidFill>
            <a:srgbClr val="00B26A"/>
          </a:solidFill>
          <a:ln w="10583">
            <a:solidFill>
              <a:srgbClr val="008F55"/>
            </a:solidFill>
            <a:prstDash val="solid"/>
          </a:ln>
        </p:spPr>
      </p:sp>
      <p:sp>
        <p:nvSpPr>
          <p:cNvPr id="21" name="Text 19"/>
          <p:cNvSpPr/>
          <p:nvPr/>
        </p:nvSpPr>
        <p:spPr>
          <a:xfrm>
            <a:off x="9445956" y="3636863"/>
            <a:ext cx="1552410"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44" kern="0" dirty="0">
                <a:solidFill>
                  <a:srgbClr val="FFFFFF">
                    <a:alpha val="70000"/>
                  </a:srgbClr>
                </a:solidFill>
                <a:latin typeface="Courier New" pitchFamily="34" charset="0"/>
                <a:ea typeface="Courier New" pitchFamily="34" charset="-122"/>
                <a:cs typeface="Courier New" pitchFamily="34" charset="-120"/>
              </a:rPr>
              <a:t>05</a:t>
            </a:r>
            <a:endParaRPr lang="en-US" sz="1800" dirty="0"/>
          </a:p>
        </p:txBody>
      </p:sp>
      <p:sp>
        <p:nvSpPr>
          <p:cNvPr id="22" name="Text 20"/>
          <p:cNvSpPr/>
          <p:nvPr/>
        </p:nvSpPr>
        <p:spPr>
          <a:xfrm>
            <a:off x="9445956" y="4070945"/>
            <a:ext cx="1552410" cy="586449"/>
          </a:xfrm>
          <a:prstGeom prst="rect">
            <a:avLst/>
          </a:prstGeom>
          <a:noFill/>
          <a:ln/>
        </p:spPr>
        <p:txBody>
          <a:bodyPr wrap="square" lIns="25400" tIns="25400" rIns="25400" bIns="25400" rtlCol="0" anchor="t">
            <a:normAutofit/>
          </a:bodyPr>
          <a:lstStyle/>
          <a:p>
            <a:pPr algn="l" indent="0" marL="0">
              <a:lnSpc>
                <a:spcPct val="120000"/>
              </a:lnSpc>
              <a:buNone/>
            </a:pPr>
            <a:r>
              <a:rPr lang="en-US" sz="1800" b="1" spc="-9" kern="0" dirty="0">
                <a:solidFill>
                  <a:srgbClr val="FFFFFF"/>
                </a:solidFill>
                <a:latin typeface="Arial" pitchFamily="34" charset="0"/>
                <a:ea typeface="Arial" pitchFamily="34" charset="-122"/>
                <a:cs typeface="Arial" pitchFamily="34" charset="-120"/>
              </a:rPr>
              <a:t>Pricing Module</a:t>
            </a:r>
            <a:endParaRPr lang="en-US" sz="1800" dirty="0"/>
          </a:p>
        </p:txBody>
      </p:sp>
      <p:sp>
        <p:nvSpPr>
          <p:cNvPr id="23" name="Text 21"/>
          <p:cNvSpPr/>
          <p:nvPr/>
        </p:nvSpPr>
        <p:spPr>
          <a:xfrm>
            <a:off x="11074467" y="4407462"/>
            <a:ext cx="266700" cy="228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B7771"/>
                </a:solidFill>
                <a:latin typeface="Courier New" pitchFamily="34" charset="0"/>
                <a:ea typeface="Courier New" pitchFamily="34" charset="-122"/>
                <a:cs typeface="Courier New" pitchFamily="34" charset="-120"/>
              </a:rPr>
              <a:t>›</a:t>
            </a:r>
            <a:endParaRPr lang="en-US" sz="1800" dirty="0"/>
          </a:p>
        </p:txBody>
      </p:sp>
      <p:sp>
        <p:nvSpPr>
          <p:cNvPr id="24" name="Shape 22"/>
          <p:cNvSpPr/>
          <p:nvPr/>
        </p:nvSpPr>
        <p:spPr>
          <a:xfrm>
            <a:off x="11237516" y="3359712"/>
            <a:ext cx="1878542" cy="2286000"/>
          </a:xfrm>
          <a:prstGeom prst="roundRect">
            <a:avLst>
              <a:gd name="adj" fmla="val 7099"/>
            </a:avLst>
          </a:prstGeom>
          <a:solidFill>
            <a:srgbClr val="00B26A"/>
          </a:solidFill>
          <a:ln w="10583">
            <a:solidFill>
              <a:srgbClr val="008F55"/>
            </a:solidFill>
            <a:prstDash val="solid"/>
          </a:ln>
        </p:spPr>
      </p:sp>
      <p:sp>
        <p:nvSpPr>
          <p:cNvPr id="25" name="Text 23"/>
          <p:cNvSpPr/>
          <p:nvPr/>
        </p:nvSpPr>
        <p:spPr>
          <a:xfrm>
            <a:off x="11438599" y="3636863"/>
            <a:ext cx="1552575"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44" kern="0" dirty="0">
                <a:solidFill>
                  <a:srgbClr val="FFFFFF">
                    <a:alpha val="70000"/>
                  </a:srgbClr>
                </a:solidFill>
                <a:latin typeface="Courier New" pitchFamily="34" charset="0"/>
                <a:ea typeface="Courier New" pitchFamily="34" charset="-122"/>
                <a:cs typeface="Courier New" pitchFamily="34" charset="-120"/>
              </a:rPr>
              <a:t>06</a:t>
            </a:r>
            <a:endParaRPr lang="en-US" sz="1800" dirty="0"/>
          </a:p>
        </p:txBody>
      </p:sp>
      <p:sp>
        <p:nvSpPr>
          <p:cNvPr id="26" name="Text 24"/>
          <p:cNvSpPr/>
          <p:nvPr/>
        </p:nvSpPr>
        <p:spPr>
          <a:xfrm>
            <a:off x="11438599" y="4070945"/>
            <a:ext cx="1552575" cy="312274"/>
          </a:xfrm>
          <a:prstGeom prst="rect">
            <a:avLst/>
          </a:prstGeom>
          <a:noFill/>
          <a:ln/>
        </p:spPr>
        <p:txBody>
          <a:bodyPr wrap="square" lIns="25400" tIns="25400" rIns="25400" bIns="25400" rtlCol="0" anchor="t">
            <a:normAutofit/>
          </a:bodyPr>
          <a:lstStyle/>
          <a:p>
            <a:pPr algn="l" indent="0" marL="0">
              <a:lnSpc>
                <a:spcPct val="120000"/>
              </a:lnSpc>
              <a:buNone/>
            </a:pPr>
            <a:r>
              <a:rPr lang="en-US" sz="1800" b="1" spc="-9" kern="0" dirty="0">
                <a:solidFill>
                  <a:srgbClr val="FFFFFF"/>
                </a:solidFill>
                <a:latin typeface="Arial" pitchFamily="34" charset="0"/>
                <a:ea typeface="Arial" pitchFamily="34" charset="-122"/>
                <a:cs typeface="Arial" pitchFamily="34" charset="-120"/>
              </a:rPr>
              <a:t>Pricing Tiers</a:t>
            </a:r>
            <a:endParaRPr lang="en-US" sz="1800" dirty="0"/>
          </a:p>
        </p:txBody>
      </p:sp>
      <p:sp>
        <p:nvSpPr>
          <p:cNvPr id="27" name="Text 25"/>
          <p:cNvSpPr/>
          <p:nvPr/>
        </p:nvSpPr>
        <p:spPr>
          <a:xfrm>
            <a:off x="13067276" y="4407462"/>
            <a:ext cx="266700" cy="228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B7771"/>
                </a:solidFill>
                <a:latin typeface="Courier New" pitchFamily="34" charset="0"/>
                <a:ea typeface="Courier New" pitchFamily="34" charset="-122"/>
                <a:cs typeface="Courier New" pitchFamily="34" charset="-120"/>
              </a:rPr>
              <a:t>›</a:t>
            </a:r>
            <a:endParaRPr lang="en-US" sz="1800" dirty="0"/>
          </a:p>
        </p:txBody>
      </p:sp>
      <p:sp>
        <p:nvSpPr>
          <p:cNvPr id="28" name="Shape 26"/>
          <p:cNvSpPr/>
          <p:nvPr/>
        </p:nvSpPr>
        <p:spPr>
          <a:xfrm>
            <a:off x="13230325" y="3359712"/>
            <a:ext cx="1921867" cy="2286000"/>
          </a:xfrm>
          <a:prstGeom prst="roundRect">
            <a:avLst>
              <a:gd name="adj" fmla="val 6939"/>
            </a:avLst>
          </a:prstGeom>
          <a:solidFill>
            <a:srgbClr val="FFFFFF"/>
          </a:solidFill>
          <a:ln w="10583">
            <a:solidFill>
              <a:srgbClr val="E2E7E5"/>
            </a:solidFill>
            <a:prstDash val="solid"/>
          </a:ln>
        </p:spPr>
      </p:sp>
      <p:sp>
        <p:nvSpPr>
          <p:cNvPr id="29" name="Text 27"/>
          <p:cNvSpPr/>
          <p:nvPr/>
        </p:nvSpPr>
        <p:spPr>
          <a:xfrm>
            <a:off x="13431408" y="3636863"/>
            <a:ext cx="159590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44" kern="0" dirty="0">
                <a:solidFill>
                  <a:srgbClr val="6B7771"/>
                </a:solidFill>
                <a:latin typeface="Courier New" pitchFamily="34" charset="0"/>
                <a:ea typeface="Courier New" pitchFamily="34" charset="-122"/>
                <a:cs typeface="Courier New" pitchFamily="34" charset="-120"/>
              </a:rPr>
              <a:t>07</a:t>
            </a:r>
            <a:endParaRPr lang="en-US" sz="1800" dirty="0"/>
          </a:p>
        </p:txBody>
      </p:sp>
      <p:sp>
        <p:nvSpPr>
          <p:cNvPr id="30" name="Text 28"/>
          <p:cNvSpPr/>
          <p:nvPr/>
        </p:nvSpPr>
        <p:spPr>
          <a:xfrm>
            <a:off x="13431408" y="4070945"/>
            <a:ext cx="1595901" cy="586449"/>
          </a:xfrm>
          <a:prstGeom prst="rect">
            <a:avLst/>
          </a:prstGeom>
          <a:noFill/>
          <a:ln/>
        </p:spPr>
        <p:txBody>
          <a:bodyPr wrap="square" lIns="25400" tIns="25400" rIns="25400" bIns="25400" rtlCol="0" anchor="t">
            <a:normAutofit/>
          </a:bodyPr>
          <a:lstStyle/>
          <a:p>
            <a:pPr algn="l" indent="0" marL="0">
              <a:lnSpc>
                <a:spcPct val="120000"/>
              </a:lnSpc>
              <a:buNone/>
            </a:pPr>
            <a:r>
              <a:rPr lang="en-US" sz="1800" b="1" spc="-9" kern="0" dirty="0">
                <a:solidFill>
                  <a:srgbClr val="0F1311"/>
                </a:solidFill>
                <a:latin typeface="Arial" pitchFamily="34" charset="0"/>
                <a:ea typeface="Arial" pitchFamily="34" charset="-122"/>
                <a:cs typeface="Arial" pitchFamily="34" charset="-120"/>
              </a:rPr>
              <a:t>Validate Stakeholders</a:t>
            </a:r>
            <a:endParaRPr lang="en-US" sz="1800" dirty="0"/>
          </a:p>
        </p:txBody>
      </p:sp>
      <p:sp>
        <p:nvSpPr>
          <p:cNvPr id="31" name="Text 29"/>
          <p:cNvSpPr/>
          <p:nvPr/>
        </p:nvSpPr>
        <p:spPr>
          <a:xfrm>
            <a:off x="15103410" y="4407462"/>
            <a:ext cx="266700" cy="228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B7771"/>
                </a:solidFill>
                <a:latin typeface="Courier New" pitchFamily="34" charset="0"/>
                <a:ea typeface="Courier New" pitchFamily="34" charset="-122"/>
                <a:cs typeface="Courier New" pitchFamily="34" charset="-120"/>
              </a:rPr>
              <a:t>›</a:t>
            </a:r>
            <a:endParaRPr lang="en-US" sz="1800" dirty="0"/>
          </a:p>
        </p:txBody>
      </p:sp>
      <p:sp>
        <p:nvSpPr>
          <p:cNvPr id="32" name="Shape 30"/>
          <p:cNvSpPr/>
          <p:nvPr/>
        </p:nvSpPr>
        <p:spPr>
          <a:xfrm>
            <a:off x="15266459" y="3359712"/>
            <a:ext cx="1878542" cy="2286000"/>
          </a:xfrm>
          <a:prstGeom prst="roundRect">
            <a:avLst>
              <a:gd name="adj" fmla="val 7099"/>
            </a:avLst>
          </a:prstGeom>
          <a:solidFill>
            <a:srgbClr val="FFFFFF"/>
          </a:solidFill>
          <a:ln w="10583">
            <a:solidFill>
              <a:srgbClr val="E2E7E5"/>
            </a:solidFill>
            <a:prstDash val="solid"/>
          </a:ln>
        </p:spPr>
      </p:sp>
      <p:sp>
        <p:nvSpPr>
          <p:cNvPr id="33" name="Text 31"/>
          <p:cNvSpPr/>
          <p:nvPr/>
        </p:nvSpPr>
        <p:spPr>
          <a:xfrm>
            <a:off x="15467542" y="3636863"/>
            <a:ext cx="1552575"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44" kern="0" dirty="0">
                <a:solidFill>
                  <a:srgbClr val="6B7771"/>
                </a:solidFill>
                <a:latin typeface="Courier New" pitchFamily="34" charset="0"/>
                <a:ea typeface="Courier New" pitchFamily="34" charset="-122"/>
                <a:cs typeface="Courier New" pitchFamily="34" charset="-120"/>
              </a:rPr>
              <a:t>08</a:t>
            </a:r>
            <a:endParaRPr lang="en-US" sz="1800" dirty="0"/>
          </a:p>
        </p:txBody>
      </p:sp>
      <p:sp>
        <p:nvSpPr>
          <p:cNvPr id="34" name="Text 32"/>
          <p:cNvSpPr/>
          <p:nvPr/>
        </p:nvSpPr>
        <p:spPr>
          <a:xfrm>
            <a:off x="15467542" y="4070945"/>
            <a:ext cx="1552575" cy="586449"/>
          </a:xfrm>
          <a:prstGeom prst="rect">
            <a:avLst/>
          </a:prstGeom>
          <a:noFill/>
          <a:ln/>
        </p:spPr>
        <p:txBody>
          <a:bodyPr wrap="square" lIns="25400" tIns="25400" rIns="25400" bIns="25400" rtlCol="0" anchor="t">
            <a:normAutofit/>
          </a:bodyPr>
          <a:lstStyle/>
          <a:p>
            <a:pPr algn="l" indent="0" marL="0">
              <a:lnSpc>
                <a:spcPct val="120000"/>
              </a:lnSpc>
              <a:buNone/>
            </a:pPr>
            <a:r>
              <a:rPr lang="en-US" sz="1800" b="1" spc="-9" kern="0" dirty="0">
                <a:solidFill>
                  <a:srgbClr val="0F1311"/>
                </a:solidFill>
                <a:latin typeface="Arial" pitchFamily="34" charset="0"/>
                <a:ea typeface="Arial" pitchFamily="34" charset="-122"/>
                <a:cs typeface="Arial" pitchFamily="34" charset="-120"/>
              </a:rPr>
              <a:t>Growth Strategy</a:t>
            </a:r>
            <a:endParaRPr lang="en-US" sz="1800" dirty="0"/>
          </a:p>
        </p:txBody>
      </p:sp>
      <p:sp>
        <p:nvSpPr>
          <p:cNvPr id="35" name="Text 33"/>
          <p:cNvSpPr/>
          <p:nvPr/>
        </p:nvSpPr>
        <p:spPr>
          <a:xfrm>
            <a:off x="1143000" y="6179014"/>
            <a:ext cx="13735051" cy="711134"/>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Deck hôm nay đi qua các bước </a:t>
            </a:r>
            <a:pPr algn="l" indent="0" marL="0">
              <a:lnSpc>
                <a:spcPct val="145000"/>
              </a:lnSpc>
              <a:buNone/>
            </a:pPr>
            <a:r>
              <a:rPr lang="en-US" sz="1800" b="1" dirty="0">
                <a:solidFill>
                  <a:srgbClr val="006B40"/>
                </a:solidFill>
                <a:latin typeface="Arial" pitchFamily="34" charset="0"/>
                <a:ea typeface="Arial" pitchFamily="34" charset="-122"/>
                <a:cs typeface="Arial" pitchFamily="34" charset="-120"/>
              </a:rPr>
              <a:t>01 → 06</a:t>
            </a:r>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 Bước </a:t>
            </a:r>
            <a:pPr algn="l" indent="0" marL="0">
              <a:lnSpc>
                <a:spcPct val="145000"/>
              </a:lnSpc>
              <a:buNone/>
            </a:pPr>
            <a:r>
              <a:rPr lang="en-US" sz="1800" b="1" dirty="0">
                <a:solidFill>
                  <a:srgbClr val="323A36"/>
                </a:solidFill>
                <a:latin typeface="Arial" pitchFamily="34" charset="0"/>
                <a:ea typeface="Arial" pitchFamily="34" charset="-122"/>
                <a:cs typeface="Arial" pitchFamily="34" charset="-120"/>
              </a:rPr>
              <a:t>07 Validate </a:t>
            </a:r>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và </a:t>
            </a:r>
            <a:pPr algn="l" indent="0" marL="0">
              <a:lnSpc>
                <a:spcPct val="145000"/>
              </a:lnSpc>
              <a:buNone/>
            </a:pPr>
            <a:r>
              <a:rPr lang="en-US" sz="1800" b="1" dirty="0">
                <a:solidFill>
                  <a:srgbClr val="323A36"/>
                </a:solidFill>
                <a:latin typeface="Arial" pitchFamily="34" charset="0"/>
                <a:ea typeface="Arial" pitchFamily="34" charset="-122"/>
                <a:cs typeface="Arial" pitchFamily="34" charset="-120"/>
              </a:rPr>
              <a:t>08 Growth </a:t>
            </a:r>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là next steps sau khi team align trên packaging strategy.</a:t>
            </a:r>
            <a:endParaRPr lang="en-US" sz="1800" dirty="0"/>
          </a:p>
        </p:txBody>
      </p:sp>
      <p:sp>
        <p:nvSpPr>
          <p:cNvPr id="36" name="Text 34"/>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03 / 24</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1A12"/>
        </a:solidFill>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FFFFFF">
              <a:alpha val="4000"/>
            </a:srgbClr>
          </a:solidFill>
          <a:ln/>
        </p:spPr>
      </p:sp>
      <p:sp>
        <p:nvSpPr>
          <p:cNvPr id="3" name="Text 1"/>
          <p:cNvSpPr/>
          <p:nvPr/>
        </p:nvSpPr>
        <p:spPr>
          <a:xfrm>
            <a:off x="1143000" y="2691970"/>
            <a:ext cx="16482061" cy="464741"/>
          </a:xfrm>
          <a:prstGeom prst="rect">
            <a:avLst/>
          </a:prstGeom>
          <a:noFill/>
          <a:ln/>
        </p:spPr>
        <p:txBody>
          <a:bodyPr wrap="square" lIns="25400" tIns="25400" rIns="25400" bIns="25400" rtlCol="0" anchor="t">
            <a:normAutofit/>
          </a:bodyPr>
          <a:lstStyle/>
          <a:p>
            <a:pPr algn="l" indent="0" marL="0">
              <a:lnSpc>
                <a:spcPct val="140000"/>
              </a:lnSpc>
              <a:buNone/>
            </a:pPr>
            <a:r>
              <a:rPr lang="en-US" sz="2400" spc="432" kern="0" dirty="0">
                <a:solidFill>
                  <a:srgbClr val="66D59C"/>
                </a:solidFill>
                <a:latin typeface="Courier New" pitchFamily="34" charset="0"/>
                <a:ea typeface="Courier New" pitchFamily="34" charset="-122"/>
                <a:cs typeface="Courier New" pitchFamily="34" charset="-120"/>
              </a:rPr>
              <a:t>SECTION · A</a:t>
            </a:r>
            <a:endParaRPr lang="en-US" sz="2400" dirty="0"/>
          </a:p>
        </p:txBody>
      </p:sp>
      <p:sp>
        <p:nvSpPr>
          <p:cNvPr id="4" name="Text 2"/>
          <p:cNvSpPr/>
          <p:nvPr/>
        </p:nvSpPr>
        <p:spPr>
          <a:xfrm>
            <a:off x="1143000" y="3423378"/>
            <a:ext cx="14716126" cy="2788775"/>
          </a:xfrm>
          <a:prstGeom prst="rect">
            <a:avLst/>
          </a:prstGeom>
          <a:noFill/>
          <a:ln/>
        </p:spPr>
        <p:txBody>
          <a:bodyPr wrap="square" lIns="25400" tIns="25400" rIns="25400" bIns="25400" rtlCol="0" anchor="t">
            <a:normAutofit/>
          </a:bodyPr>
          <a:lstStyle/>
          <a:p>
            <a:pPr algn="l" indent="0" marL="0">
              <a:lnSpc>
                <a:spcPct val="95000"/>
              </a:lnSpc>
              <a:buNone/>
            </a:pPr>
            <a:r>
              <a:rPr lang="en-US" sz="11400" b="1" spc="-456" kern="0" dirty="0">
                <a:solidFill>
                  <a:srgbClr val="FFFFFF"/>
                </a:solidFill>
                <a:latin typeface="Arial" pitchFamily="34" charset="0"/>
                <a:ea typeface="Arial" pitchFamily="34" charset="-122"/>
                <a:cs typeface="Arial" pitchFamily="34" charset="-120"/>
              </a:rPr>
              <a:t>Value Proposition.</a:t>
            </a:r>
            <a:endParaRPr lang="en-US" sz="11400" dirty="0"/>
          </a:p>
        </p:txBody>
      </p:sp>
      <p:sp>
        <p:nvSpPr>
          <p:cNvPr id="5" name="Shape 3"/>
          <p:cNvSpPr/>
          <p:nvPr/>
        </p:nvSpPr>
        <p:spPr>
          <a:xfrm>
            <a:off x="1143000" y="6478819"/>
            <a:ext cx="914301" cy="38034"/>
          </a:xfrm>
          <a:prstGeom prst="rect">
            <a:avLst/>
          </a:prstGeom>
          <a:solidFill>
            <a:srgbClr val="00B26A"/>
          </a:solidFill>
          <a:ln/>
        </p:spPr>
      </p:sp>
      <p:sp>
        <p:nvSpPr>
          <p:cNvPr id="6" name="Text 4"/>
          <p:cNvSpPr/>
          <p:nvPr/>
        </p:nvSpPr>
        <p:spPr>
          <a:xfrm>
            <a:off x="1143000" y="6821620"/>
            <a:ext cx="11772900" cy="81134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FFFFFF">
                    <a:alpha val="65000"/>
                  </a:srgbClr>
                </a:solidFill>
                <a:latin typeface="Arial" pitchFamily="34" charset="0"/>
                <a:ea typeface="Arial" pitchFamily="34" charset="-122"/>
                <a:cs typeface="Arial" pitchFamily="34" charset="-120"/>
              </a:rPr>
              <a:t>Vì sao một bộ module Odoo by Cas, làm bởi CASSO — đúng thời điểm này, ở thị trường Việt Nam — lại có cửa thắng.</a:t>
            </a:r>
            <a:endParaRPr lang="en-US" sz="2100" dirty="0"/>
          </a:p>
        </p:txBody>
      </p:sp>
      <p:sp>
        <p:nvSpPr>
          <p:cNvPr id="7" name="Text 5"/>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FFFFFF">
                    <a:alpha val="40000"/>
                  </a:srgbClr>
                </a:solidFill>
                <a:latin typeface="Courier New" pitchFamily="34" charset="0"/>
                <a:ea typeface="Courier New" pitchFamily="34" charset="-122"/>
                <a:cs typeface="Courier New" pitchFamily="34" charset="-120"/>
              </a:rPr>
              <a:t>04 / 24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A · 01 · ODOO AT VN</a:t>
            </a:r>
            <a:endParaRPr lang="en-US" sz="1800" dirty="0"/>
          </a:p>
        </p:txBody>
      </p:sp>
      <p:sp>
        <p:nvSpPr>
          <p:cNvPr id="3" name="Text 1"/>
          <p:cNvSpPr/>
          <p:nvPr/>
        </p:nvSpPr>
        <p:spPr>
          <a:xfrm>
            <a:off x="1143000" y="1386417"/>
            <a:ext cx="14716126" cy="758097"/>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Odoo ở Việt Nam có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2 điểm đứt gãy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cốt lõi.</a:t>
            </a:r>
            <a:endParaRPr lang="en-US" sz="5400" dirty="0"/>
          </a:p>
        </p:txBody>
      </p:sp>
      <p:sp>
        <p:nvSpPr>
          <p:cNvPr id="4" name="Shape 2"/>
          <p:cNvSpPr/>
          <p:nvPr/>
        </p:nvSpPr>
        <p:spPr>
          <a:xfrm>
            <a:off x="1143000" y="2639715"/>
            <a:ext cx="7772466" cy="1312168"/>
          </a:xfrm>
          <a:prstGeom prst="roundRect">
            <a:avLst>
              <a:gd name="adj" fmla="val 13066"/>
            </a:avLst>
          </a:prstGeom>
          <a:solidFill>
            <a:srgbClr val="F7F9F8"/>
          </a:solidFill>
          <a:ln w="10583">
            <a:solidFill>
              <a:srgbClr val="E2E7E5"/>
            </a:solidFill>
            <a:prstDash val="solid"/>
          </a:ln>
        </p:spPr>
      </p:sp>
      <p:sp>
        <p:nvSpPr>
          <p:cNvPr id="5" name="Text 3"/>
          <p:cNvSpPr/>
          <p:nvPr/>
        </p:nvSpPr>
        <p:spPr>
          <a:xfrm>
            <a:off x="1420250" y="2920669"/>
            <a:ext cx="1835018" cy="411493"/>
          </a:xfrm>
          <a:prstGeom prst="rect">
            <a:avLst/>
          </a:prstGeom>
          <a:noFill/>
          <a:ln/>
        </p:spPr>
        <p:txBody>
          <a:bodyPr wrap="square" lIns="25400" tIns="25400" rIns="25400" bIns="25400" rtlCol="0" anchor="t">
            <a:normAutofit/>
          </a:bodyPr>
          <a:lstStyle/>
          <a:p>
            <a:pPr algn="ctr" indent="0" marL="0">
              <a:lnSpc>
                <a:spcPct val="140000"/>
              </a:lnSpc>
              <a:buNone/>
            </a:pPr>
            <a:r>
              <a:rPr lang="en-US" sz="2100" b="1" spc="-21" kern="0" dirty="0">
                <a:solidFill>
                  <a:srgbClr val="0F1311"/>
                </a:solidFill>
                <a:latin typeface="Arial" pitchFamily="34" charset="0"/>
                <a:ea typeface="Arial" pitchFamily="34" charset="-122"/>
                <a:cs typeface="Arial" pitchFamily="34" charset="-120"/>
              </a:rPr>
              <a:t>Odoo</a:t>
            </a:r>
            <a:endParaRPr lang="en-US" sz="2100" dirty="0"/>
          </a:p>
        </p:txBody>
      </p:sp>
      <p:sp>
        <p:nvSpPr>
          <p:cNvPr id="6" name="Text 4"/>
          <p:cNvSpPr/>
          <p:nvPr/>
        </p:nvSpPr>
        <p:spPr>
          <a:xfrm>
            <a:off x="1420250" y="3351113"/>
            <a:ext cx="1835018" cy="357915"/>
          </a:xfrm>
          <a:prstGeom prst="rect">
            <a:avLst/>
          </a:prstGeom>
          <a:noFill/>
          <a:ln/>
        </p:spPr>
        <p:txBody>
          <a:bodyPr wrap="square" lIns="25400" tIns="25400" rIns="25400" bIns="25400" rtlCol="0" anchor="t">
            <a:normAutofit/>
          </a:bodyPr>
          <a:lstStyle/>
          <a:p>
            <a:pPr algn="ctr"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ERP</a:t>
            </a:r>
            <a:endParaRPr lang="en-US" sz="1800" dirty="0"/>
          </a:p>
        </p:txBody>
      </p:sp>
      <p:pic>
        <p:nvPicPr>
          <p:cNvPr id="7" name="Image 0" descr="preencoded.png">    </p:cNvPr>
          <p:cNvPicPr>
            <a:picLocks noChangeAspect="1"/>
          </p:cNvPicPr>
          <p:nvPr/>
        </p:nvPicPr>
        <p:blipFill>
          <a:blip r:embed="rId1"/>
          <a:stretch>
            <a:fillRect/>
          </a:stretch>
        </p:blipFill>
        <p:spPr>
          <a:xfrm>
            <a:off x="4724466" y="2916866"/>
            <a:ext cx="609534" cy="381000"/>
          </a:xfrm>
          <a:prstGeom prst="rect">
            <a:avLst/>
          </a:prstGeom>
        </p:spPr>
      </p:pic>
      <p:sp>
        <p:nvSpPr>
          <p:cNvPr id="8" name="Text 5"/>
          <p:cNvSpPr/>
          <p:nvPr/>
        </p:nvSpPr>
        <p:spPr>
          <a:xfrm>
            <a:off x="3445702" y="3354917"/>
            <a:ext cx="3262075"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C62A2F"/>
                </a:solidFill>
                <a:latin typeface="Courier New" pitchFamily="34" charset="0"/>
                <a:ea typeface="Courier New" pitchFamily="34" charset="-122"/>
                <a:cs typeface="Courier New" pitchFamily="34" charset="-120"/>
              </a:rPr>
              <a:t>KHÔNG NÓI CHUYỆN ĐƯỢC</a:t>
            </a:r>
            <a:endParaRPr lang="en-US" sz="1800" dirty="0"/>
          </a:p>
        </p:txBody>
      </p:sp>
      <p:sp>
        <p:nvSpPr>
          <p:cNvPr id="9" name="Text 6"/>
          <p:cNvSpPr/>
          <p:nvPr/>
        </p:nvSpPr>
        <p:spPr>
          <a:xfrm>
            <a:off x="6803199" y="2920669"/>
            <a:ext cx="1835018" cy="411493"/>
          </a:xfrm>
          <a:prstGeom prst="rect">
            <a:avLst/>
          </a:prstGeom>
          <a:noFill/>
          <a:ln/>
        </p:spPr>
        <p:txBody>
          <a:bodyPr wrap="square" lIns="25400" tIns="25400" rIns="25400" bIns="25400" rtlCol="0" anchor="t">
            <a:normAutofit/>
          </a:bodyPr>
          <a:lstStyle/>
          <a:p>
            <a:pPr algn="ctr" indent="0" marL="0">
              <a:lnSpc>
                <a:spcPct val="140000"/>
              </a:lnSpc>
              <a:buNone/>
            </a:pPr>
            <a:r>
              <a:rPr lang="en-US" sz="2100" b="1" spc="-21" kern="0" dirty="0">
                <a:solidFill>
                  <a:srgbClr val="0F1311"/>
                </a:solidFill>
                <a:latin typeface="Arial" pitchFamily="34" charset="0"/>
                <a:ea typeface="Arial" pitchFamily="34" charset="-122"/>
                <a:cs typeface="Arial" pitchFamily="34" charset="-120"/>
              </a:rPr>
              <a:t>Ngân hàng</a:t>
            </a:r>
            <a:endParaRPr lang="en-US" sz="2100" dirty="0"/>
          </a:p>
        </p:txBody>
      </p:sp>
      <p:sp>
        <p:nvSpPr>
          <p:cNvPr id="10" name="Text 7"/>
          <p:cNvSpPr/>
          <p:nvPr/>
        </p:nvSpPr>
        <p:spPr>
          <a:xfrm>
            <a:off x="6803199" y="3351113"/>
            <a:ext cx="1835018" cy="357915"/>
          </a:xfrm>
          <a:prstGeom prst="rect">
            <a:avLst/>
          </a:prstGeom>
          <a:noFill/>
          <a:ln/>
        </p:spPr>
        <p:txBody>
          <a:bodyPr wrap="square" lIns="25400" tIns="25400" rIns="25400" bIns="25400" rtlCol="0" anchor="t">
            <a:normAutofit/>
          </a:bodyPr>
          <a:lstStyle/>
          <a:p>
            <a:pPr algn="ctr"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BANK</a:t>
            </a:r>
            <a:endParaRPr lang="en-US" sz="1800" dirty="0"/>
          </a:p>
        </p:txBody>
      </p:sp>
      <p:sp>
        <p:nvSpPr>
          <p:cNvPr id="11" name="Text 8"/>
          <p:cNvSpPr/>
          <p:nvPr/>
        </p:nvSpPr>
        <p:spPr>
          <a:xfrm>
            <a:off x="1143000" y="4256485"/>
            <a:ext cx="8005640"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G1 · Bank disconnection</a:t>
            </a:r>
            <a:endParaRPr lang="en-US" sz="2400" dirty="0"/>
          </a:p>
        </p:txBody>
      </p:sp>
      <p:sp>
        <p:nvSpPr>
          <p:cNvPr id="12" name="Text 9"/>
          <p:cNvSpPr/>
          <p:nvPr/>
        </p:nvSpPr>
        <p:spPr>
          <a:xfrm>
            <a:off x="982980" y="4987727"/>
            <a:ext cx="8008686" cy="137441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Nhập tay sao kê, lệnh chi rời rạc.</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Không có dòng tiền real-time.</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Đối soát thủ công, sai sót &amp; chậm.</a:t>
            </a:r>
            <a:endParaRPr lang="en-US" sz="1800" dirty="0"/>
          </a:p>
        </p:txBody>
      </p:sp>
      <p:sp>
        <p:nvSpPr>
          <p:cNvPr id="13" name="Shape 10"/>
          <p:cNvSpPr/>
          <p:nvPr/>
        </p:nvSpPr>
        <p:spPr>
          <a:xfrm>
            <a:off x="9372534" y="2639715"/>
            <a:ext cx="7772466" cy="1677955"/>
          </a:xfrm>
          <a:prstGeom prst="roundRect">
            <a:avLst>
              <a:gd name="adj" fmla="val 10218"/>
            </a:avLst>
          </a:prstGeom>
          <a:solidFill>
            <a:srgbClr val="F7F9F8"/>
          </a:solidFill>
          <a:ln w="10583">
            <a:solidFill>
              <a:srgbClr val="E2E7E5"/>
            </a:solidFill>
            <a:prstDash val="solid"/>
          </a:ln>
        </p:spPr>
      </p:sp>
      <p:sp>
        <p:nvSpPr>
          <p:cNvPr id="14" name="Text 11"/>
          <p:cNvSpPr/>
          <p:nvPr/>
        </p:nvSpPr>
        <p:spPr>
          <a:xfrm>
            <a:off x="9649785" y="3103563"/>
            <a:ext cx="1985830" cy="411493"/>
          </a:xfrm>
          <a:prstGeom prst="rect">
            <a:avLst/>
          </a:prstGeom>
          <a:noFill/>
          <a:ln/>
        </p:spPr>
        <p:txBody>
          <a:bodyPr wrap="square" lIns="25400" tIns="25400" rIns="25400" bIns="25400" rtlCol="0" anchor="t">
            <a:normAutofit/>
          </a:bodyPr>
          <a:lstStyle/>
          <a:p>
            <a:pPr algn="ctr" indent="0" marL="0">
              <a:lnSpc>
                <a:spcPct val="140000"/>
              </a:lnSpc>
              <a:buNone/>
            </a:pPr>
            <a:r>
              <a:rPr lang="en-US" sz="2100" b="1" spc="-21" kern="0" dirty="0">
                <a:solidFill>
                  <a:srgbClr val="0F1311"/>
                </a:solidFill>
                <a:latin typeface="Arial" pitchFamily="34" charset="0"/>
                <a:ea typeface="Arial" pitchFamily="34" charset="-122"/>
                <a:cs typeface="Arial" pitchFamily="34" charset="-120"/>
              </a:rPr>
              <a:t>Odoo</a:t>
            </a:r>
            <a:endParaRPr lang="en-US" sz="2100" dirty="0"/>
          </a:p>
        </p:txBody>
      </p:sp>
      <p:sp>
        <p:nvSpPr>
          <p:cNvPr id="15" name="Text 12"/>
          <p:cNvSpPr/>
          <p:nvPr/>
        </p:nvSpPr>
        <p:spPr>
          <a:xfrm>
            <a:off x="9649785" y="3534007"/>
            <a:ext cx="1985830" cy="357915"/>
          </a:xfrm>
          <a:prstGeom prst="rect">
            <a:avLst/>
          </a:prstGeom>
          <a:noFill/>
          <a:ln/>
        </p:spPr>
        <p:txBody>
          <a:bodyPr wrap="square" lIns="25400" tIns="25400" rIns="25400" bIns="25400" rtlCol="0" anchor="t">
            <a:normAutofit/>
          </a:bodyPr>
          <a:lstStyle/>
          <a:p>
            <a:pPr algn="ctr"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ERP</a:t>
            </a:r>
            <a:endParaRPr lang="en-US" sz="1800" dirty="0"/>
          </a:p>
        </p:txBody>
      </p:sp>
      <p:pic>
        <p:nvPicPr>
          <p:cNvPr id="16" name="Image 1" descr="preencoded.png">    </p:cNvPr>
          <p:cNvPicPr>
            <a:picLocks noChangeAspect="1"/>
          </p:cNvPicPr>
          <p:nvPr/>
        </p:nvPicPr>
        <p:blipFill>
          <a:blip r:embed="rId2"/>
          <a:stretch>
            <a:fillRect/>
          </a:stretch>
        </p:blipFill>
        <p:spPr>
          <a:xfrm>
            <a:off x="12954001" y="3099759"/>
            <a:ext cx="609534" cy="381000"/>
          </a:xfrm>
          <a:prstGeom prst="rect">
            <a:avLst/>
          </a:prstGeom>
        </p:spPr>
      </p:pic>
      <p:sp>
        <p:nvSpPr>
          <p:cNvPr id="17" name="Text 13"/>
          <p:cNvSpPr/>
          <p:nvPr/>
        </p:nvSpPr>
        <p:spPr>
          <a:xfrm>
            <a:off x="11826049" y="3537810"/>
            <a:ext cx="295140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C62A2F"/>
                </a:solidFill>
                <a:latin typeface="Courier New" pitchFamily="34" charset="0"/>
                <a:ea typeface="Courier New" pitchFamily="34" charset="-122"/>
                <a:cs typeface="Courier New" pitchFamily="34" charset="-120"/>
              </a:rPr>
              <a:t>KHÔNG SYNC REALTIME</a:t>
            </a:r>
            <a:endParaRPr lang="en-US" sz="1800" dirty="0"/>
          </a:p>
        </p:txBody>
      </p:sp>
      <p:sp>
        <p:nvSpPr>
          <p:cNvPr id="18" name="Text 14"/>
          <p:cNvSpPr/>
          <p:nvPr/>
        </p:nvSpPr>
        <p:spPr>
          <a:xfrm>
            <a:off x="14881921" y="2916866"/>
            <a:ext cx="1985830" cy="784886"/>
          </a:xfrm>
          <a:prstGeom prst="rect">
            <a:avLst/>
          </a:prstGeom>
          <a:noFill/>
          <a:ln/>
        </p:spPr>
        <p:txBody>
          <a:bodyPr wrap="square" lIns="25400" tIns="25400" rIns="25400" bIns="25400" rtlCol="0" anchor="t">
            <a:normAutofit/>
          </a:bodyPr>
          <a:lstStyle/>
          <a:p>
            <a:pPr algn="ctr" indent="0" marL="0">
              <a:lnSpc>
                <a:spcPct val="140000"/>
              </a:lnSpc>
              <a:buNone/>
            </a:pPr>
            <a:r>
              <a:rPr lang="en-US" sz="2100" b="1" spc="-21" kern="0" dirty="0">
                <a:solidFill>
                  <a:srgbClr val="0F1311"/>
                </a:solidFill>
                <a:latin typeface="Arial" pitchFamily="34" charset="0"/>
                <a:ea typeface="Arial" pitchFamily="34" charset="-122"/>
                <a:cs typeface="Arial" pitchFamily="34" charset="-120"/>
              </a:rPr>
              <a:t>Tổng cục Thuế</a:t>
            </a:r>
            <a:endParaRPr lang="en-US" sz="2100" dirty="0"/>
          </a:p>
        </p:txBody>
      </p:sp>
      <p:sp>
        <p:nvSpPr>
          <p:cNvPr id="19" name="Text 15"/>
          <p:cNvSpPr/>
          <p:nvPr/>
        </p:nvSpPr>
        <p:spPr>
          <a:xfrm>
            <a:off x="14881921" y="3720703"/>
            <a:ext cx="1985830" cy="357915"/>
          </a:xfrm>
          <a:prstGeom prst="rect">
            <a:avLst/>
          </a:prstGeom>
          <a:noFill/>
          <a:ln/>
        </p:spPr>
        <p:txBody>
          <a:bodyPr wrap="square" lIns="25400" tIns="25400" rIns="25400" bIns="25400" rtlCol="0" anchor="t">
            <a:normAutofit/>
          </a:bodyPr>
          <a:lstStyle/>
          <a:p>
            <a:pPr algn="ctr"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GDT</a:t>
            </a:r>
            <a:endParaRPr lang="en-US" sz="1800" dirty="0"/>
          </a:p>
        </p:txBody>
      </p:sp>
      <p:sp>
        <p:nvSpPr>
          <p:cNvPr id="20" name="Text 16"/>
          <p:cNvSpPr/>
          <p:nvPr/>
        </p:nvSpPr>
        <p:spPr>
          <a:xfrm>
            <a:off x="9372534" y="4622271"/>
            <a:ext cx="8005640"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G2 · Tax disconnection</a:t>
            </a:r>
            <a:endParaRPr lang="en-US" sz="2400" dirty="0"/>
          </a:p>
        </p:txBody>
      </p:sp>
      <p:sp>
        <p:nvSpPr>
          <p:cNvPr id="21" name="Text 17"/>
          <p:cNvSpPr/>
          <p:nvPr/>
        </p:nvSpPr>
        <p:spPr>
          <a:xfrm>
            <a:off x="9212514" y="5353513"/>
            <a:ext cx="8008686" cy="137441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Sót hóa đơn đầu vào.</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Lệch số quyết toán.</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Phải dùng phần mềm thứ 3 để phát hành hóa đơn.</a:t>
            </a:r>
            <a:endParaRPr lang="en-US" sz="1800" dirty="0"/>
          </a:p>
        </p:txBody>
      </p:sp>
      <p:sp>
        <p:nvSpPr>
          <p:cNvPr id="22" name="Text 18"/>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05 / 24</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261A"/>
        </a:solidFill>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FFFFFF">
              <a:alpha val="4000"/>
            </a:srgbClr>
          </a:solidFill>
          <a:ln/>
        </p:spPr>
      </p:sp>
      <p:sp>
        <p:nvSpPr>
          <p:cNvPr id="3" name="Text 1"/>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66D59C"/>
                </a:solidFill>
                <a:latin typeface="Courier New" pitchFamily="34" charset="0"/>
                <a:ea typeface="Courier New" pitchFamily="34" charset="-122"/>
                <a:cs typeface="Courier New" pitchFamily="34" charset="-120"/>
              </a:rPr>
              <a:t>A · 02 · PRODUCT STRATEGY</a:t>
            </a:r>
            <a:endParaRPr lang="en-US" sz="1800" dirty="0"/>
          </a:p>
        </p:txBody>
      </p:sp>
      <p:sp>
        <p:nvSpPr>
          <p:cNvPr id="4" name="Text 2"/>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FFFFFF"/>
                </a:solidFill>
                <a:latin typeface="Arial" pitchFamily="34" charset="0"/>
                <a:ea typeface="Arial" pitchFamily="34" charset="-122"/>
                <a:cs typeface="Arial" pitchFamily="34" charset="-120"/>
              </a:rPr>
              <a:t>CASSO sở hữu đúng </a:t>
            </a:r>
            <a:pPr algn="l" indent="0" marL="0">
              <a:lnSpc>
                <a:spcPct val="105000"/>
              </a:lnSpc>
              <a:buNone/>
            </a:pPr>
            <a:r>
              <a:rPr lang="en-US" sz="5400" b="1" spc="-135" kern="0" dirty="0">
                <a:solidFill>
                  <a:srgbClr val="66D59C"/>
                </a:solidFill>
                <a:latin typeface="Arial" pitchFamily="34" charset="0"/>
                <a:ea typeface="Arial" pitchFamily="34" charset="-122"/>
                <a:cs typeface="Arial" pitchFamily="34" charset="-120"/>
              </a:rPr>
              <a:t>hệ sinh thái API </a:t>
            </a:r>
            <a:pPr algn="l" indent="0" marL="0">
              <a:lnSpc>
                <a:spcPct val="105000"/>
              </a:lnSpc>
              <a:buNone/>
            </a:pPr>
            <a:r>
              <a:rPr lang="en-US" sz="5400" b="1" spc="-135" kern="0" dirty="0">
                <a:solidFill>
                  <a:srgbClr val="FFFFFF"/>
                </a:solidFill>
                <a:latin typeface="Arial" pitchFamily="34" charset="0"/>
                <a:ea typeface="Arial" pitchFamily="34" charset="-122"/>
                <a:cs typeface="Arial" pitchFamily="34" charset="-120"/>
              </a:rPr>
              <a:t>để vá cả 2 điểm đứt gãy đó.</a:t>
            </a:r>
            <a:endParaRPr lang="en-US" sz="5400" dirty="0"/>
          </a:p>
        </p:txBody>
      </p:sp>
      <p:sp>
        <p:nvSpPr>
          <p:cNvPr id="5" name="Shape 3"/>
          <p:cNvSpPr/>
          <p:nvPr/>
        </p:nvSpPr>
        <p:spPr>
          <a:xfrm>
            <a:off x="1143000" y="3359712"/>
            <a:ext cx="7696234" cy="3345822"/>
          </a:xfrm>
          <a:prstGeom prst="roundRect">
            <a:avLst>
              <a:gd name="adj" fmla="val 5694"/>
            </a:avLst>
          </a:prstGeom>
          <a:solidFill>
            <a:srgbClr val="FFFFFF">
              <a:alpha val="4000"/>
            </a:srgbClr>
          </a:solidFill>
          <a:ln w="10583">
            <a:solidFill>
              <a:srgbClr val="FFFFFF">
                <a:alpha val="12000"/>
              </a:srgbClr>
            </a:solidFill>
            <a:prstDash val="solid"/>
          </a:ln>
        </p:spPr>
      </p:sp>
      <p:sp>
        <p:nvSpPr>
          <p:cNvPr id="6" name="Text 4"/>
          <p:cNvSpPr/>
          <p:nvPr/>
        </p:nvSpPr>
        <p:spPr>
          <a:xfrm>
            <a:off x="1534583" y="3713097"/>
            <a:ext cx="712045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66D59C"/>
                </a:solidFill>
                <a:latin typeface="Courier New" pitchFamily="34" charset="0"/>
                <a:ea typeface="Courier New" pitchFamily="34" charset="-122"/>
                <a:cs typeface="Courier New" pitchFamily="34" charset="-120"/>
              </a:rPr>
              <a:t>THẾ · ODOO</a:t>
            </a:r>
            <a:endParaRPr lang="en-US" sz="1800" dirty="0"/>
          </a:p>
        </p:txBody>
      </p:sp>
      <p:sp>
        <p:nvSpPr>
          <p:cNvPr id="7" name="Text 5"/>
          <p:cNvSpPr/>
          <p:nvPr/>
        </p:nvSpPr>
        <p:spPr>
          <a:xfrm>
            <a:off x="1534583" y="4204229"/>
            <a:ext cx="7120459" cy="738915"/>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FFFFFF"/>
                </a:solidFill>
                <a:latin typeface="Arial" pitchFamily="34" charset="0"/>
                <a:ea typeface="Arial" pitchFamily="34" charset="-122"/>
                <a:cs typeface="Arial" pitchFamily="34" charset="-120"/>
              </a:rPr>
              <a:t>Odoo chưa có pháp nhân tại VN, đang khó ở khâu Localization.</a:t>
            </a:r>
            <a:endParaRPr lang="en-US" sz="2400" dirty="0"/>
          </a:p>
        </p:txBody>
      </p:sp>
      <p:sp>
        <p:nvSpPr>
          <p:cNvPr id="8" name="Text 6"/>
          <p:cNvSpPr/>
          <p:nvPr/>
        </p:nvSpPr>
        <p:spPr>
          <a:xfrm>
            <a:off x="1534583" y="5076362"/>
            <a:ext cx="7120459" cy="723702"/>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72000"/>
                  </a:srgbClr>
                </a:solidFill>
                <a:latin typeface="Arial" pitchFamily="34" charset="0"/>
                <a:ea typeface="Arial" pitchFamily="34" charset="-122"/>
                <a:cs typeface="Arial" pitchFamily="34" charset="-120"/>
              </a:rPr>
              <a:t>Bank + Tax là 2 khâu Localization khó nhất, nặng đặc thù Việt — đó là vùng Odoo không thể tự lấp một sớm một chiều.</a:t>
            </a:r>
            <a:endParaRPr lang="en-US" sz="1800" dirty="0"/>
          </a:p>
        </p:txBody>
      </p:sp>
      <p:sp>
        <p:nvSpPr>
          <p:cNvPr id="9" name="Text 7"/>
          <p:cNvSpPr/>
          <p:nvPr/>
        </p:nvSpPr>
        <p:spPr>
          <a:xfrm>
            <a:off x="1534583" y="6009349"/>
            <a:ext cx="7120459" cy="380901"/>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6D59C"/>
                </a:solidFill>
                <a:latin typeface="Arial" pitchFamily="34" charset="0"/>
                <a:ea typeface="Arial" pitchFamily="34" charset="-122"/>
                <a:cs typeface="Arial" pitchFamily="34" charset="-120"/>
              </a:rPr>
              <a:t>→ Tạo ra </a:t>
            </a:r>
            <a:pPr algn="l" indent="0" marL="0">
              <a:lnSpc>
                <a:spcPct val="150000"/>
              </a:lnSpc>
              <a:buNone/>
            </a:pPr>
            <a:r>
              <a:rPr lang="en-US" sz="1800" b="1" dirty="0">
                <a:solidFill>
                  <a:srgbClr val="66D59C"/>
                </a:solidFill>
                <a:latin typeface="Arial" pitchFamily="34" charset="0"/>
                <a:ea typeface="Arial" pitchFamily="34" charset="-122"/>
                <a:cs typeface="Arial" pitchFamily="34" charset="-120"/>
              </a:rPr>
              <a:t>"Thế" </a:t>
            </a:r>
            <a:pPr algn="l" indent="0" marL="0">
              <a:lnSpc>
                <a:spcPct val="150000"/>
              </a:lnSpc>
              <a:buNone/>
            </a:pPr>
            <a:r>
              <a:rPr lang="en-US" sz="1800" dirty="0">
                <a:solidFill>
                  <a:srgbClr val="66D59C"/>
                </a:solidFill>
                <a:latin typeface="Arial" pitchFamily="34" charset="0"/>
                <a:ea typeface="Arial" pitchFamily="34" charset="-122"/>
                <a:cs typeface="Arial" pitchFamily="34" charset="-120"/>
              </a:rPr>
              <a:t>tăng trưởng cho 1 bên thứ 3 nội địa.</a:t>
            </a:r>
            <a:endParaRPr lang="en-US" sz="1800" dirty="0"/>
          </a:p>
        </p:txBody>
      </p:sp>
      <p:sp>
        <p:nvSpPr>
          <p:cNvPr id="10" name="Shape 8"/>
          <p:cNvSpPr/>
          <p:nvPr/>
        </p:nvSpPr>
        <p:spPr>
          <a:xfrm>
            <a:off x="9448767" y="3359712"/>
            <a:ext cx="7696234" cy="3345822"/>
          </a:xfrm>
          <a:prstGeom prst="roundRect">
            <a:avLst>
              <a:gd name="adj" fmla="val 5694"/>
            </a:avLst>
          </a:prstGeom>
          <a:solidFill>
            <a:srgbClr val="FFFFFF">
              <a:alpha val="4000"/>
            </a:srgbClr>
          </a:solidFill>
          <a:ln w="10583">
            <a:solidFill>
              <a:srgbClr val="FFFFFF">
                <a:alpha val="12000"/>
              </a:srgbClr>
            </a:solidFill>
            <a:prstDash val="solid"/>
          </a:ln>
        </p:spPr>
      </p:sp>
      <p:sp>
        <p:nvSpPr>
          <p:cNvPr id="11" name="Text 9"/>
          <p:cNvSpPr/>
          <p:nvPr/>
        </p:nvSpPr>
        <p:spPr>
          <a:xfrm>
            <a:off x="9840351" y="3713097"/>
            <a:ext cx="712045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66D59C"/>
                </a:solidFill>
                <a:latin typeface="Courier New" pitchFamily="34" charset="0"/>
                <a:ea typeface="Courier New" pitchFamily="34" charset="-122"/>
                <a:cs typeface="Courier New" pitchFamily="34" charset="-120"/>
              </a:rPr>
              <a:t>THỜI · CASSO</a:t>
            </a:r>
            <a:endParaRPr lang="en-US" sz="1800" dirty="0"/>
          </a:p>
        </p:txBody>
      </p:sp>
      <p:sp>
        <p:nvSpPr>
          <p:cNvPr id="12" name="Text 10"/>
          <p:cNvSpPr/>
          <p:nvPr/>
        </p:nvSpPr>
        <p:spPr>
          <a:xfrm>
            <a:off x="9840351" y="4204229"/>
            <a:ext cx="7120459" cy="738915"/>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FFFFFF"/>
                </a:solidFill>
                <a:latin typeface="Arial" pitchFamily="34" charset="0"/>
                <a:ea typeface="Arial" pitchFamily="34" charset="-122"/>
                <a:cs typeface="Arial" pitchFamily="34" charset="-120"/>
              </a:rPr>
              <a:t>CASSO đã có sẵn API Bank Connector + Tax Connector phục vụ thị trường VN.</a:t>
            </a:r>
            <a:endParaRPr lang="en-US" sz="2400" dirty="0"/>
          </a:p>
        </p:txBody>
      </p:sp>
      <p:sp>
        <p:nvSpPr>
          <p:cNvPr id="13" name="Text 11"/>
          <p:cNvSpPr/>
          <p:nvPr/>
        </p:nvSpPr>
        <p:spPr>
          <a:xfrm>
            <a:off x="9840351" y="5076362"/>
            <a:ext cx="7120459" cy="723702"/>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72000"/>
                  </a:srgbClr>
                </a:solidFill>
                <a:latin typeface="Arial" pitchFamily="34" charset="0"/>
                <a:ea typeface="Arial" pitchFamily="34" charset="-122"/>
                <a:cs typeface="Arial" pitchFamily="34" charset="-120"/>
              </a:rPr>
              <a:t>Hạ tầng đã chạy production cho payOS, Casso Flow — tái sử dụng để module-hóa cho Odoo gần như không cost xây mới.</a:t>
            </a:r>
            <a:endParaRPr lang="en-US" sz="1800" dirty="0"/>
          </a:p>
        </p:txBody>
      </p:sp>
      <p:sp>
        <p:nvSpPr>
          <p:cNvPr id="14" name="Text 12"/>
          <p:cNvSpPr/>
          <p:nvPr/>
        </p:nvSpPr>
        <p:spPr>
          <a:xfrm>
            <a:off x="9840351" y="6009349"/>
            <a:ext cx="7120459" cy="380901"/>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6D59C"/>
                </a:solidFill>
                <a:latin typeface="Arial" pitchFamily="34" charset="0"/>
                <a:ea typeface="Arial" pitchFamily="34" charset="-122"/>
                <a:cs typeface="Arial" pitchFamily="34" charset="-120"/>
              </a:rPr>
              <a:t>→ CASSO chớp lấy </a:t>
            </a:r>
            <a:pPr algn="l" indent="0" marL="0">
              <a:lnSpc>
                <a:spcPct val="150000"/>
              </a:lnSpc>
              <a:buNone/>
            </a:pPr>
            <a:r>
              <a:rPr lang="en-US" sz="1800" b="1" dirty="0">
                <a:solidFill>
                  <a:srgbClr val="66D59C"/>
                </a:solidFill>
                <a:latin typeface="Arial" pitchFamily="34" charset="0"/>
                <a:ea typeface="Arial" pitchFamily="34" charset="-122"/>
                <a:cs typeface="Arial" pitchFamily="34" charset="-120"/>
              </a:rPr>
              <a:t>"Thời" </a:t>
            </a:r>
            <a:pPr algn="l" indent="0" marL="0">
              <a:lnSpc>
                <a:spcPct val="150000"/>
              </a:lnSpc>
              <a:buNone/>
            </a:pPr>
            <a:r>
              <a:rPr lang="en-US" sz="1800" dirty="0">
                <a:solidFill>
                  <a:srgbClr val="66D59C"/>
                </a:solidFill>
                <a:latin typeface="Arial" pitchFamily="34" charset="0"/>
                <a:ea typeface="Arial" pitchFamily="34" charset="-122"/>
                <a:cs typeface="Arial" pitchFamily="34" charset="-120"/>
              </a:rPr>
              <a:t>cơ.</a:t>
            </a:r>
            <a:endParaRPr lang="en-US" sz="1800" dirty="0"/>
          </a:p>
        </p:txBody>
      </p:sp>
      <p:sp>
        <p:nvSpPr>
          <p:cNvPr id="15" name="Text 13"/>
          <p:cNvSpPr/>
          <p:nvPr/>
        </p:nvSpPr>
        <p:spPr>
          <a:xfrm>
            <a:off x="1143000" y="7238835"/>
            <a:ext cx="14716126" cy="1043517"/>
          </a:xfrm>
          <a:prstGeom prst="rect">
            <a:avLst/>
          </a:prstGeom>
          <a:noFill/>
          <a:ln/>
        </p:spPr>
        <p:txBody>
          <a:bodyPr wrap="square" lIns="25400" tIns="25400" rIns="25400" bIns="25400" rtlCol="0" anchor="t">
            <a:normAutofit/>
          </a:bodyPr>
          <a:lstStyle/>
          <a:p>
            <a:pPr algn="l" indent="0" marL="0">
              <a:lnSpc>
                <a:spcPct val="120000"/>
              </a:lnSpc>
              <a:buNone/>
            </a:pPr>
            <a:r>
              <a:rPr lang="en-US" sz="3300" b="1" spc="-66" kern="0" dirty="0">
                <a:solidFill>
                  <a:srgbClr val="FFFFFF"/>
                </a:solidFill>
                <a:latin typeface="Arial" pitchFamily="34" charset="0"/>
                <a:ea typeface="Arial" pitchFamily="34" charset="-122"/>
                <a:cs typeface="Arial" pitchFamily="34" charset="-120"/>
              </a:rPr>
              <a:t>Khi </a:t>
            </a:r>
            <a:pPr algn="l" indent="0" marL="0">
              <a:lnSpc>
                <a:spcPct val="120000"/>
              </a:lnSpc>
              <a:buNone/>
            </a:pPr>
            <a:r>
              <a:rPr lang="en-US" sz="3300" b="1" spc="-66" kern="0" dirty="0">
                <a:solidFill>
                  <a:srgbClr val="33C77B"/>
                </a:solidFill>
                <a:latin typeface="Arial" pitchFamily="34" charset="0"/>
                <a:ea typeface="Arial" pitchFamily="34" charset="-122"/>
                <a:cs typeface="Arial" pitchFamily="34" charset="-120"/>
              </a:rPr>
              <a:t>Thế </a:t>
            </a:r>
            <a:pPr algn="l" indent="0" marL="0">
              <a:lnSpc>
                <a:spcPct val="120000"/>
              </a:lnSpc>
              <a:buNone/>
            </a:pPr>
            <a:r>
              <a:rPr lang="en-US" sz="3300" b="1" spc="-66" kern="0" dirty="0">
                <a:solidFill>
                  <a:srgbClr val="FFFFFF"/>
                </a:solidFill>
                <a:latin typeface="Arial" pitchFamily="34" charset="0"/>
                <a:ea typeface="Arial" pitchFamily="34" charset="-122"/>
                <a:cs typeface="Arial" pitchFamily="34" charset="-120"/>
              </a:rPr>
              <a:t>+ </a:t>
            </a:r>
            <a:pPr algn="l" indent="0" marL="0">
              <a:lnSpc>
                <a:spcPct val="120000"/>
              </a:lnSpc>
              <a:buNone/>
            </a:pPr>
            <a:r>
              <a:rPr lang="en-US" sz="3300" b="1" spc="-66" kern="0" dirty="0">
                <a:solidFill>
                  <a:srgbClr val="33C77B"/>
                </a:solidFill>
                <a:latin typeface="Arial" pitchFamily="34" charset="0"/>
                <a:ea typeface="Arial" pitchFamily="34" charset="-122"/>
                <a:cs typeface="Arial" pitchFamily="34" charset="-120"/>
              </a:rPr>
              <a:t>Thời </a:t>
            </a:r>
            <a:pPr algn="l" indent="0" marL="0">
              <a:lnSpc>
                <a:spcPct val="120000"/>
              </a:lnSpc>
              <a:buNone/>
            </a:pPr>
            <a:r>
              <a:rPr lang="en-US" sz="3300" b="1" spc="-66" kern="0" dirty="0">
                <a:solidFill>
                  <a:srgbClr val="FFFFFF"/>
                </a:solidFill>
                <a:latin typeface="Arial" pitchFamily="34" charset="0"/>
                <a:ea typeface="Arial" pitchFamily="34" charset="-122"/>
                <a:cs typeface="Arial" pitchFamily="34" charset="-120"/>
              </a:rPr>
              <a:t>trùng nhau, ta không thiết kế sản phẩm — ta đóng gói cái mình đã có cho đúng </a:t>
            </a:r>
            <a:pPr algn="l" indent="0" marL="0">
              <a:lnSpc>
                <a:spcPct val="120000"/>
              </a:lnSpc>
              <a:buNone/>
            </a:pPr>
            <a:r>
              <a:rPr lang="en-US" sz="3300" b="1" spc="-66" kern="0" dirty="0">
                <a:solidFill>
                  <a:srgbClr val="33C77B"/>
                </a:solidFill>
                <a:latin typeface="Arial" pitchFamily="34" charset="0"/>
                <a:ea typeface="Arial" pitchFamily="34" charset="-122"/>
                <a:cs typeface="Arial" pitchFamily="34" charset="-120"/>
              </a:rPr>
              <a:t>cửa </a:t>
            </a:r>
            <a:pPr algn="l" indent="0" marL="0">
              <a:lnSpc>
                <a:spcPct val="120000"/>
              </a:lnSpc>
              <a:buNone/>
            </a:pPr>
            <a:r>
              <a:rPr lang="en-US" sz="3300" b="1" spc="-66" kern="0" dirty="0">
                <a:solidFill>
                  <a:srgbClr val="FFFFFF"/>
                </a:solidFill>
                <a:latin typeface="Arial" pitchFamily="34" charset="0"/>
                <a:ea typeface="Arial" pitchFamily="34" charset="-122"/>
                <a:cs typeface="Arial" pitchFamily="34" charset="-120"/>
              </a:rPr>
              <a:t>đang mở.</a:t>
            </a:r>
            <a:endParaRPr lang="en-US" sz="3300" dirty="0"/>
          </a:p>
        </p:txBody>
      </p:sp>
      <p:sp>
        <p:nvSpPr>
          <p:cNvPr id="16" name="Text 14"/>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FFFFFF">
                    <a:alpha val="40000"/>
                  </a:srgbClr>
                </a:solidFill>
                <a:latin typeface="Courier New" pitchFamily="34" charset="0"/>
                <a:ea typeface="Courier New" pitchFamily="34" charset="-122"/>
                <a:cs typeface="Courier New" pitchFamily="34" charset="-120"/>
              </a:rPr>
              <a:t>06 / 24</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A · 03 · MASTER PAIN LIST</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Pain phân theo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nguồn gốc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 ai chịu trực tiếp?</a:t>
            </a:r>
            <a:endParaRPr lang="en-US" sz="5400" dirty="0"/>
          </a:p>
        </p:txBody>
      </p:sp>
      <p:sp>
        <p:nvSpPr>
          <p:cNvPr id="4" name="Text 2"/>
          <p:cNvSpPr/>
          <p:nvPr/>
        </p:nvSpPr>
        <p:spPr>
          <a:xfrm>
            <a:off x="1143000" y="3423212"/>
            <a:ext cx="5036355" cy="738915"/>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Nhóm 1 · End-user đang dùng Odoo</a:t>
            </a:r>
            <a:endParaRPr lang="en-US" sz="2400" dirty="0"/>
          </a:p>
        </p:txBody>
      </p:sp>
      <p:sp>
        <p:nvSpPr>
          <p:cNvPr id="5" name="Shape 3"/>
          <p:cNvSpPr/>
          <p:nvPr/>
        </p:nvSpPr>
        <p:spPr>
          <a:xfrm>
            <a:off x="6032665" y="3359712"/>
            <a:ext cx="2920835" cy="851297"/>
          </a:xfrm>
          <a:prstGeom prst="roundRect">
            <a:avLst>
              <a:gd name="adj" fmla="val 50000"/>
            </a:avLst>
          </a:prstGeom>
          <a:solidFill>
            <a:srgbClr val="E6F8EF"/>
          </a:solidFill>
          <a:ln w="10583">
            <a:solidFill>
              <a:srgbClr val="CCF1DE"/>
            </a:solidFill>
            <a:prstDash val="solid"/>
          </a:ln>
        </p:spPr>
      </p:sp>
      <p:sp>
        <p:nvSpPr>
          <p:cNvPr id="6" name="Text 4"/>
          <p:cNvSpPr/>
          <p:nvPr/>
        </p:nvSpPr>
        <p:spPr>
          <a:xfrm>
            <a:off x="6233749" y="3465546"/>
            <a:ext cx="2606293" cy="677730"/>
          </a:xfrm>
          <a:prstGeom prst="rect">
            <a:avLst/>
          </a:prstGeom>
          <a:noFill/>
          <a:ln/>
        </p:spPr>
        <p:txBody>
          <a:bodyPr wrap="square" lIns="25400" tIns="25400" rIns="25400" bIns="25400" rtlCol="0" anchor="ctr">
            <a:normAutofit/>
          </a:bodyPr>
          <a:lstStyle/>
          <a:p>
            <a:pPr algn="l" indent="0" marL="0">
              <a:lnSpc>
                <a:spcPct val="140000"/>
              </a:lnSpc>
              <a:buNone/>
            </a:pPr>
            <a:r>
              <a:rPr lang="en-US" sz="1800" spc="108" kern="0" dirty="0">
                <a:solidFill>
                  <a:srgbClr val="006B40"/>
                </a:solidFill>
                <a:latin typeface="Courier New" pitchFamily="34" charset="0"/>
                <a:ea typeface="Courier New" pitchFamily="34" charset="-122"/>
                <a:cs typeface="Courier New" pitchFamily="34" charset="-120"/>
              </a:rPr>
              <a:t>VẬN HÀNH HÀNG NGÀY</a:t>
            </a:r>
            <a:endParaRPr lang="en-US" sz="1800" dirty="0"/>
          </a:p>
        </p:txBody>
      </p:sp>
      <p:sp>
        <p:nvSpPr>
          <p:cNvPr id="7" name="Shape 5"/>
          <p:cNvSpPr/>
          <p:nvPr/>
        </p:nvSpPr>
        <p:spPr>
          <a:xfrm>
            <a:off x="1143000" y="4515611"/>
            <a:ext cx="7810501" cy="1578901"/>
          </a:xfrm>
          <a:prstGeom prst="roundRect">
            <a:avLst>
              <a:gd name="adj" fmla="val 7239"/>
            </a:avLst>
          </a:prstGeom>
          <a:solidFill>
            <a:srgbClr val="FFFFFF"/>
          </a:solidFill>
          <a:ln/>
        </p:spPr>
      </p:sp>
      <p:sp>
        <p:nvSpPr>
          <p:cNvPr id="8" name="Shape 6"/>
          <p:cNvSpPr/>
          <p:nvPr/>
        </p:nvSpPr>
        <p:spPr>
          <a:xfrm>
            <a:off x="1143000" y="6083929"/>
            <a:ext cx="7810501" cy="10583"/>
          </a:xfrm>
          <a:prstGeom prst="rect">
            <a:avLst/>
          </a:prstGeom>
          <a:solidFill>
            <a:srgbClr val="E2E7E5"/>
          </a:solidFill>
          <a:ln/>
        </p:spPr>
      </p:sp>
      <p:sp>
        <p:nvSpPr>
          <p:cNvPr id="9" name="Shape 7"/>
          <p:cNvSpPr/>
          <p:nvPr/>
        </p:nvSpPr>
        <p:spPr>
          <a:xfrm>
            <a:off x="1143000" y="4515611"/>
            <a:ext cx="7810501" cy="10583"/>
          </a:xfrm>
          <a:prstGeom prst="rect">
            <a:avLst/>
          </a:prstGeom>
          <a:solidFill>
            <a:srgbClr val="E2E7E5"/>
          </a:solidFill>
          <a:ln/>
        </p:spPr>
      </p:sp>
      <p:sp>
        <p:nvSpPr>
          <p:cNvPr id="10" name="Shape 8"/>
          <p:cNvSpPr/>
          <p:nvPr/>
        </p:nvSpPr>
        <p:spPr>
          <a:xfrm>
            <a:off x="1143000" y="4515611"/>
            <a:ext cx="52917" cy="1578901"/>
          </a:xfrm>
          <a:prstGeom prst="rect">
            <a:avLst/>
          </a:prstGeom>
          <a:solidFill>
            <a:srgbClr val="E5484D"/>
          </a:solidFill>
          <a:ln/>
        </p:spPr>
      </p:sp>
      <p:sp>
        <p:nvSpPr>
          <p:cNvPr id="11" name="Shape 9"/>
          <p:cNvSpPr/>
          <p:nvPr/>
        </p:nvSpPr>
        <p:spPr>
          <a:xfrm>
            <a:off x="8942917" y="4515611"/>
            <a:ext cx="10583" cy="1578901"/>
          </a:xfrm>
          <a:prstGeom prst="rect">
            <a:avLst/>
          </a:prstGeom>
          <a:solidFill>
            <a:srgbClr val="E2E7E5"/>
          </a:solidFill>
          <a:ln/>
        </p:spPr>
      </p:sp>
      <p:sp>
        <p:nvSpPr>
          <p:cNvPr id="12" name="Text 10"/>
          <p:cNvSpPr/>
          <p:nvPr/>
        </p:nvSpPr>
        <p:spPr>
          <a:xfrm>
            <a:off x="1443468" y="4735711"/>
            <a:ext cx="7469456"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9C1D21"/>
                </a:solidFill>
                <a:latin typeface="Courier New" pitchFamily="34" charset="0"/>
                <a:ea typeface="Courier New" pitchFamily="34" charset="-122"/>
                <a:cs typeface="Courier New" pitchFamily="34" charset="-120"/>
              </a:rPr>
              <a:t>PAIN · DAILY OPS</a:t>
            </a:r>
            <a:endParaRPr lang="en-US" sz="1800" dirty="0"/>
          </a:p>
        </p:txBody>
      </p:sp>
      <p:sp>
        <p:nvSpPr>
          <p:cNvPr id="13" name="Text 11"/>
          <p:cNvSpPr/>
          <p:nvPr/>
        </p:nvSpPr>
        <p:spPr>
          <a:xfrm>
            <a:off x="1443468" y="5150776"/>
            <a:ext cx="7469456" cy="335260"/>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0F1311"/>
                </a:solidFill>
                <a:latin typeface="Arial" pitchFamily="34" charset="0"/>
                <a:ea typeface="Arial" pitchFamily="34" charset="-122"/>
                <a:cs typeface="Arial" pitchFamily="34" charset="-120"/>
              </a:rPr>
              <a:t>Đối soát thủ công, kéo dài cuối tháng</a:t>
            </a:r>
            <a:endParaRPr lang="en-US" sz="1950" dirty="0"/>
          </a:p>
        </p:txBody>
      </p:sp>
      <p:sp>
        <p:nvSpPr>
          <p:cNvPr id="14" name="Text 12"/>
          <p:cNvSpPr/>
          <p:nvPr/>
        </p:nvSpPr>
        <p:spPr>
          <a:xfrm>
            <a:off x="1443468" y="5543187"/>
            <a:ext cx="7469456" cy="369325"/>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Kế toán mất 3–5 ngày/tháng đối khớp sao kê với phiếu thu chi Odoo.</a:t>
            </a:r>
            <a:endParaRPr lang="en-US" sz="1800" dirty="0"/>
          </a:p>
        </p:txBody>
      </p:sp>
      <p:sp>
        <p:nvSpPr>
          <p:cNvPr id="15" name="Shape 13"/>
          <p:cNvSpPr/>
          <p:nvPr/>
        </p:nvSpPr>
        <p:spPr>
          <a:xfrm>
            <a:off x="1143000" y="6227796"/>
            <a:ext cx="7810501" cy="1910126"/>
          </a:xfrm>
          <a:prstGeom prst="roundRect">
            <a:avLst>
              <a:gd name="adj" fmla="val 5984"/>
            </a:avLst>
          </a:prstGeom>
          <a:solidFill>
            <a:srgbClr val="FFFFFF"/>
          </a:solidFill>
          <a:ln/>
        </p:spPr>
      </p:sp>
      <p:sp>
        <p:nvSpPr>
          <p:cNvPr id="16" name="Shape 14"/>
          <p:cNvSpPr/>
          <p:nvPr/>
        </p:nvSpPr>
        <p:spPr>
          <a:xfrm>
            <a:off x="1143000" y="8127339"/>
            <a:ext cx="7810501" cy="10583"/>
          </a:xfrm>
          <a:prstGeom prst="rect">
            <a:avLst/>
          </a:prstGeom>
          <a:solidFill>
            <a:srgbClr val="E2E7E5"/>
          </a:solidFill>
          <a:ln/>
        </p:spPr>
      </p:sp>
      <p:sp>
        <p:nvSpPr>
          <p:cNvPr id="17" name="Shape 15"/>
          <p:cNvSpPr/>
          <p:nvPr/>
        </p:nvSpPr>
        <p:spPr>
          <a:xfrm>
            <a:off x="1143000" y="6227796"/>
            <a:ext cx="7810501" cy="10583"/>
          </a:xfrm>
          <a:prstGeom prst="rect">
            <a:avLst/>
          </a:prstGeom>
          <a:solidFill>
            <a:srgbClr val="E2E7E5"/>
          </a:solidFill>
          <a:ln/>
        </p:spPr>
      </p:sp>
      <p:sp>
        <p:nvSpPr>
          <p:cNvPr id="18" name="Shape 16"/>
          <p:cNvSpPr/>
          <p:nvPr/>
        </p:nvSpPr>
        <p:spPr>
          <a:xfrm>
            <a:off x="1143000" y="6227796"/>
            <a:ext cx="52917" cy="1910126"/>
          </a:xfrm>
          <a:prstGeom prst="rect">
            <a:avLst/>
          </a:prstGeom>
          <a:solidFill>
            <a:srgbClr val="E5484D"/>
          </a:solidFill>
          <a:ln/>
        </p:spPr>
      </p:sp>
      <p:sp>
        <p:nvSpPr>
          <p:cNvPr id="19" name="Shape 17"/>
          <p:cNvSpPr/>
          <p:nvPr/>
        </p:nvSpPr>
        <p:spPr>
          <a:xfrm>
            <a:off x="8942917" y="6227796"/>
            <a:ext cx="10583" cy="1910126"/>
          </a:xfrm>
          <a:prstGeom prst="rect">
            <a:avLst/>
          </a:prstGeom>
          <a:solidFill>
            <a:srgbClr val="E2E7E5"/>
          </a:solidFill>
          <a:ln/>
        </p:spPr>
      </p:sp>
      <p:sp>
        <p:nvSpPr>
          <p:cNvPr id="20" name="Text 18"/>
          <p:cNvSpPr/>
          <p:nvPr/>
        </p:nvSpPr>
        <p:spPr>
          <a:xfrm>
            <a:off x="1443468" y="6447896"/>
            <a:ext cx="7469456"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9C1D21"/>
                </a:solidFill>
                <a:latin typeface="Courier New" pitchFamily="34" charset="0"/>
                <a:ea typeface="Courier New" pitchFamily="34" charset="-122"/>
                <a:cs typeface="Courier New" pitchFamily="34" charset="-120"/>
              </a:rPr>
              <a:t>PAIN · CASH VISIBILITY</a:t>
            </a:r>
            <a:endParaRPr lang="en-US" sz="1800" dirty="0"/>
          </a:p>
        </p:txBody>
      </p:sp>
      <p:sp>
        <p:nvSpPr>
          <p:cNvPr id="21" name="Text 19"/>
          <p:cNvSpPr/>
          <p:nvPr/>
        </p:nvSpPr>
        <p:spPr>
          <a:xfrm>
            <a:off x="1443468" y="6862961"/>
            <a:ext cx="7469456" cy="335260"/>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0F1311"/>
                </a:solidFill>
                <a:latin typeface="Arial" pitchFamily="34" charset="0"/>
                <a:ea typeface="Arial" pitchFamily="34" charset="-122"/>
                <a:cs typeface="Arial" pitchFamily="34" charset="-120"/>
              </a:rPr>
              <a:t>Không thấy dòng tiền real-time</a:t>
            </a:r>
            <a:endParaRPr lang="en-US" sz="1950" dirty="0"/>
          </a:p>
        </p:txBody>
      </p:sp>
      <p:sp>
        <p:nvSpPr>
          <p:cNvPr id="22" name="Text 20"/>
          <p:cNvSpPr/>
          <p:nvPr/>
        </p:nvSpPr>
        <p:spPr>
          <a:xfrm>
            <a:off x="1443468" y="7255372"/>
            <a:ext cx="7469456" cy="70055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CFO không biết số dư hôm nay là bao nhiêu, chỉ thấy số "hôm qua đã đóng sổ".</a:t>
            </a:r>
            <a:endParaRPr lang="en-US" sz="1800" dirty="0"/>
          </a:p>
        </p:txBody>
      </p:sp>
      <p:sp>
        <p:nvSpPr>
          <p:cNvPr id="23" name="Shape 21"/>
          <p:cNvSpPr/>
          <p:nvPr/>
        </p:nvSpPr>
        <p:spPr>
          <a:xfrm>
            <a:off x="1143000" y="8271206"/>
            <a:ext cx="7810501" cy="1578901"/>
          </a:xfrm>
          <a:prstGeom prst="roundRect">
            <a:avLst>
              <a:gd name="adj" fmla="val 7239"/>
            </a:avLst>
          </a:prstGeom>
          <a:solidFill>
            <a:srgbClr val="FFFFFF"/>
          </a:solidFill>
          <a:ln/>
        </p:spPr>
      </p:sp>
      <p:sp>
        <p:nvSpPr>
          <p:cNvPr id="24" name="Shape 22"/>
          <p:cNvSpPr/>
          <p:nvPr/>
        </p:nvSpPr>
        <p:spPr>
          <a:xfrm>
            <a:off x="1143000" y="9839524"/>
            <a:ext cx="7810501" cy="10583"/>
          </a:xfrm>
          <a:prstGeom prst="rect">
            <a:avLst/>
          </a:prstGeom>
          <a:solidFill>
            <a:srgbClr val="E2E7E5"/>
          </a:solidFill>
          <a:ln/>
        </p:spPr>
      </p:sp>
      <p:sp>
        <p:nvSpPr>
          <p:cNvPr id="25" name="Shape 23"/>
          <p:cNvSpPr/>
          <p:nvPr/>
        </p:nvSpPr>
        <p:spPr>
          <a:xfrm>
            <a:off x="1143000" y="8271206"/>
            <a:ext cx="7810501" cy="10583"/>
          </a:xfrm>
          <a:prstGeom prst="rect">
            <a:avLst/>
          </a:prstGeom>
          <a:solidFill>
            <a:srgbClr val="E2E7E5"/>
          </a:solidFill>
          <a:ln/>
        </p:spPr>
      </p:sp>
      <p:sp>
        <p:nvSpPr>
          <p:cNvPr id="26" name="Shape 24"/>
          <p:cNvSpPr/>
          <p:nvPr/>
        </p:nvSpPr>
        <p:spPr>
          <a:xfrm>
            <a:off x="1143000" y="8271206"/>
            <a:ext cx="52917" cy="1578901"/>
          </a:xfrm>
          <a:prstGeom prst="rect">
            <a:avLst/>
          </a:prstGeom>
          <a:solidFill>
            <a:srgbClr val="E5484D"/>
          </a:solidFill>
          <a:ln/>
        </p:spPr>
      </p:sp>
      <p:sp>
        <p:nvSpPr>
          <p:cNvPr id="27" name="Shape 25"/>
          <p:cNvSpPr/>
          <p:nvPr/>
        </p:nvSpPr>
        <p:spPr>
          <a:xfrm>
            <a:off x="8942917" y="8271206"/>
            <a:ext cx="10583" cy="1578901"/>
          </a:xfrm>
          <a:prstGeom prst="rect">
            <a:avLst/>
          </a:prstGeom>
          <a:solidFill>
            <a:srgbClr val="E2E7E5"/>
          </a:solidFill>
          <a:ln/>
        </p:spPr>
      </p:sp>
      <p:sp>
        <p:nvSpPr>
          <p:cNvPr id="28" name="Text 26"/>
          <p:cNvSpPr/>
          <p:nvPr/>
        </p:nvSpPr>
        <p:spPr>
          <a:xfrm>
            <a:off x="1443468" y="8491306"/>
            <a:ext cx="7469456"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9C1D21"/>
                </a:solidFill>
                <a:latin typeface="Courier New" pitchFamily="34" charset="0"/>
                <a:ea typeface="Courier New" pitchFamily="34" charset="-122"/>
                <a:cs typeface="Courier New" pitchFamily="34" charset="-120"/>
              </a:rPr>
              <a:t>PAIN · COMPLIANCE</a:t>
            </a:r>
            <a:endParaRPr lang="en-US" sz="1800" dirty="0"/>
          </a:p>
        </p:txBody>
      </p:sp>
      <p:sp>
        <p:nvSpPr>
          <p:cNvPr id="29" name="Text 27"/>
          <p:cNvSpPr/>
          <p:nvPr/>
        </p:nvSpPr>
        <p:spPr>
          <a:xfrm>
            <a:off x="1443468" y="8906371"/>
            <a:ext cx="7469456" cy="335260"/>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0F1311"/>
                </a:solidFill>
                <a:latin typeface="Arial" pitchFamily="34" charset="0"/>
                <a:ea typeface="Arial" pitchFamily="34" charset="-122"/>
                <a:cs typeface="Arial" pitchFamily="34" charset="-120"/>
              </a:rPr>
              <a:t>Audit thuế tốn người, rủi ro phạt</a:t>
            </a:r>
            <a:endParaRPr lang="en-US" sz="1950" dirty="0"/>
          </a:p>
        </p:txBody>
      </p:sp>
      <p:sp>
        <p:nvSpPr>
          <p:cNvPr id="30" name="Text 28"/>
          <p:cNvSpPr/>
          <p:nvPr/>
        </p:nvSpPr>
        <p:spPr>
          <a:xfrm>
            <a:off x="1443468" y="9298782"/>
            <a:ext cx="7469456" cy="369325"/>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Sót hóa đơn đầu vào → lệch số quyết toán → nguy cơ truy thu, phạt.</a:t>
            </a:r>
            <a:endParaRPr lang="en-US" sz="1800" dirty="0"/>
          </a:p>
        </p:txBody>
      </p:sp>
      <p:sp>
        <p:nvSpPr>
          <p:cNvPr id="31" name="Text 29"/>
          <p:cNvSpPr/>
          <p:nvPr/>
        </p:nvSpPr>
        <p:spPr>
          <a:xfrm>
            <a:off x="9334501" y="3423212"/>
            <a:ext cx="4913210" cy="738915"/>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Nhóm 2 · Odoo Partner triển khai</a:t>
            </a:r>
            <a:endParaRPr lang="en-US" sz="2400" dirty="0"/>
          </a:p>
        </p:txBody>
      </p:sp>
      <p:sp>
        <p:nvSpPr>
          <p:cNvPr id="32" name="Shape 30"/>
          <p:cNvSpPr/>
          <p:nvPr/>
        </p:nvSpPr>
        <p:spPr>
          <a:xfrm>
            <a:off x="14104608" y="3359712"/>
            <a:ext cx="3040393" cy="851297"/>
          </a:xfrm>
          <a:prstGeom prst="roundRect">
            <a:avLst>
              <a:gd name="adj" fmla="val 50000"/>
            </a:avLst>
          </a:prstGeom>
          <a:solidFill>
            <a:srgbClr val="E6F8EF"/>
          </a:solidFill>
          <a:ln w="10583">
            <a:solidFill>
              <a:srgbClr val="CCF1DE"/>
            </a:solidFill>
            <a:prstDash val="solid"/>
          </a:ln>
        </p:spPr>
      </p:sp>
      <p:sp>
        <p:nvSpPr>
          <p:cNvPr id="33" name="Text 31"/>
          <p:cNvSpPr/>
          <p:nvPr/>
        </p:nvSpPr>
        <p:spPr>
          <a:xfrm>
            <a:off x="14305691" y="3465546"/>
            <a:ext cx="2729439" cy="677730"/>
          </a:xfrm>
          <a:prstGeom prst="rect">
            <a:avLst/>
          </a:prstGeom>
          <a:noFill/>
          <a:ln/>
        </p:spPr>
        <p:txBody>
          <a:bodyPr wrap="square" lIns="25400" tIns="25400" rIns="25400" bIns="25400" rtlCol="0" anchor="ctr">
            <a:normAutofit/>
          </a:bodyPr>
          <a:lstStyle/>
          <a:p>
            <a:pPr algn="l" indent="0" marL="0">
              <a:lnSpc>
                <a:spcPct val="140000"/>
              </a:lnSpc>
              <a:buNone/>
            </a:pPr>
            <a:r>
              <a:rPr lang="en-US" sz="1800" spc="108" kern="0" dirty="0">
                <a:solidFill>
                  <a:srgbClr val="006B40"/>
                </a:solidFill>
                <a:latin typeface="Courier New" pitchFamily="34" charset="0"/>
                <a:ea typeface="Courier New" pitchFamily="34" charset="-122"/>
                <a:cs typeface="Courier New" pitchFamily="34" charset="-120"/>
              </a:rPr>
              <a:t>KỸ THUẬT &amp; CHI PHÍ</a:t>
            </a:r>
            <a:endParaRPr lang="en-US" sz="1800" dirty="0"/>
          </a:p>
        </p:txBody>
      </p:sp>
      <p:sp>
        <p:nvSpPr>
          <p:cNvPr id="34" name="Shape 32"/>
          <p:cNvSpPr/>
          <p:nvPr/>
        </p:nvSpPr>
        <p:spPr>
          <a:xfrm>
            <a:off x="9334501" y="4515611"/>
            <a:ext cx="7810501" cy="1910126"/>
          </a:xfrm>
          <a:prstGeom prst="roundRect">
            <a:avLst>
              <a:gd name="adj" fmla="val 5984"/>
            </a:avLst>
          </a:prstGeom>
          <a:solidFill>
            <a:srgbClr val="FFFFFF"/>
          </a:solidFill>
          <a:ln/>
        </p:spPr>
      </p:sp>
      <p:sp>
        <p:nvSpPr>
          <p:cNvPr id="35" name="Shape 33"/>
          <p:cNvSpPr/>
          <p:nvPr/>
        </p:nvSpPr>
        <p:spPr>
          <a:xfrm>
            <a:off x="9334501" y="6415154"/>
            <a:ext cx="7810501" cy="10583"/>
          </a:xfrm>
          <a:prstGeom prst="rect">
            <a:avLst/>
          </a:prstGeom>
          <a:solidFill>
            <a:srgbClr val="E2E7E5"/>
          </a:solidFill>
          <a:ln/>
        </p:spPr>
      </p:sp>
      <p:sp>
        <p:nvSpPr>
          <p:cNvPr id="36" name="Shape 34"/>
          <p:cNvSpPr/>
          <p:nvPr/>
        </p:nvSpPr>
        <p:spPr>
          <a:xfrm>
            <a:off x="9334501" y="4515611"/>
            <a:ext cx="7810501" cy="10583"/>
          </a:xfrm>
          <a:prstGeom prst="rect">
            <a:avLst/>
          </a:prstGeom>
          <a:solidFill>
            <a:srgbClr val="E2E7E5"/>
          </a:solidFill>
          <a:ln/>
        </p:spPr>
      </p:sp>
      <p:sp>
        <p:nvSpPr>
          <p:cNvPr id="37" name="Shape 35"/>
          <p:cNvSpPr/>
          <p:nvPr/>
        </p:nvSpPr>
        <p:spPr>
          <a:xfrm>
            <a:off x="9334501" y="4515611"/>
            <a:ext cx="52917" cy="1910126"/>
          </a:xfrm>
          <a:prstGeom prst="rect">
            <a:avLst/>
          </a:prstGeom>
          <a:solidFill>
            <a:srgbClr val="E5484D"/>
          </a:solidFill>
          <a:ln/>
        </p:spPr>
      </p:sp>
      <p:sp>
        <p:nvSpPr>
          <p:cNvPr id="38" name="Shape 36"/>
          <p:cNvSpPr/>
          <p:nvPr/>
        </p:nvSpPr>
        <p:spPr>
          <a:xfrm>
            <a:off x="17134418" y="4515611"/>
            <a:ext cx="10583" cy="1910126"/>
          </a:xfrm>
          <a:prstGeom prst="rect">
            <a:avLst/>
          </a:prstGeom>
          <a:solidFill>
            <a:srgbClr val="E2E7E5"/>
          </a:solidFill>
          <a:ln/>
        </p:spPr>
      </p:sp>
      <p:sp>
        <p:nvSpPr>
          <p:cNvPr id="39" name="Text 37"/>
          <p:cNvSpPr/>
          <p:nvPr/>
        </p:nvSpPr>
        <p:spPr>
          <a:xfrm>
            <a:off x="9634968" y="4735711"/>
            <a:ext cx="7469456"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9C1D21"/>
                </a:solidFill>
                <a:latin typeface="Courier New" pitchFamily="34" charset="0"/>
                <a:ea typeface="Courier New" pitchFamily="34" charset="-122"/>
                <a:cs typeface="Courier New" pitchFamily="34" charset="-120"/>
              </a:rPr>
              <a:t>PAIN · DEV COST</a:t>
            </a:r>
            <a:endParaRPr lang="en-US" sz="1800" dirty="0"/>
          </a:p>
        </p:txBody>
      </p:sp>
      <p:sp>
        <p:nvSpPr>
          <p:cNvPr id="40" name="Text 38"/>
          <p:cNvSpPr/>
          <p:nvPr/>
        </p:nvSpPr>
        <p:spPr>
          <a:xfrm>
            <a:off x="9634968" y="5150776"/>
            <a:ext cx="7469456" cy="335260"/>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0F1311"/>
                </a:solidFill>
                <a:latin typeface="Arial" pitchFamily="34" charset="0"/>
                <a:ea typeface="Arial" pitchFamily="34" charset="-122"/>
                <a:cs typeface="Arial" pitchFamily="34" charset="-120"/>
              </a:rPr>
              <a:t>Tự custom mỗi project = đốt tiền</a:t>
            </a:r>
            <a:endParaRPr lang="en-US" sz="1950" dirty="0"/>
          </a:p>
        </p:txBody>
      </p:sp>
      <p:sp>
        <p:nvSpPr>
          <p:cNvPr id="41" name="Text 39"/>
          <p:cNvSpPr/>
          <p:nvPr/>
        </p:nvSpPr>
        <p:spPr>
          <a:xfrm>
            <a:off x="9634968" y="5543187"/>
            <a:ext cx="7469456" cy="70055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Mỗi khách Enterprise tốn 2–6 tháng dev để custom Bank + Tax — không tái dùng được.</a:t>
            </a:r>
            <a:endParaRPr lang="en-US" sz="1800" dirty="0"/>
          </a:p>
        </p:txBody>
      </p:sp>
      <p:sp>
        <p:nvSpPr>
          <p:cNvPr id="42" name="Shape 40"/>
          <p:cNvSpPr/>
          <p:nvPr/>
        </p:nvSpPr>
        <p:spPr>
          <a:xfrm>
            <a:off x="9334501" y="6559021"/>
            <a:ext cx="7810501" cy="1910126"/>
          </a:xfrm>
          <a:prstGeom prst="roundRect">
            <a:avLst>
              <a:gd name="adj" fmla="val 5984"/>
            </a:avLst>
          </a:prstGeom>
          <a:solidFill>
            <a:srgbClr val="FFFFFF"/>
          </a:solidFill>
          <a:ln/>
        </p:spPr>
      </p:sp>
      <p:sp>
        <p:nvSpPr>
          <p:cNvPr id="43" name="Shape 41"/>
          <p:cNvSpPr/>
          <p:nvPr/>
        </p:nvSpPr>
        <p:spPr>
          <a:xfrm>
            <a:off x="9334501" y="8458564"/>
            <a:ext cx="7810501" cy="10583"/>
          </a:xfrm>
          <a:prstGeom prst="rect">
            <a:avLst/>
          </a:prstGeom>
          <a:solidFill>
            <a:srgbClr val="E2E7E5"/>
          </a:solidFill>
          <a:ln/>
        </p:spPr>
      </p:sp>
      <p:sp>
        <p:nvSpPr>
          <p:cNvPr id="44" name="Shape 42"/>
          <p:cNvSpPr/>
          <p:nvPr/>
        </p:nvSpPr>
        <p:spPr>
          <a:xfrm>
            <a:off x="9334501" y="6559021"/>
            <a:ext cx="7810501" cy="10583"/>
          </a:xfrm>
          <a:prstGeom prst="rect">
            <a:avLst/>
          </a:prstGeom>
          <a:solidFill>
            <a:srgbClr val="E2E7E5"/>
          </a:solidFill>
          <a:ln/>
        </p:spPr>
      </p:sp>
      <p:sp>
        <p:nvSpPr>
          <p:cNvPr id="45" name="Shape 43"/>
          <p:cNvSpPr/>
          <p:nvPr/>
        </p:nvSpPr>
        <p:spPr>
          <a:xfrm>
            <a:off x="9334501" y="6559021"/>
            <a:ext cx="52917" cy="1910126"/>
          </a:xfrm>
          <a:prstGeom prst="rect">
            <a:avLst/>
          </a:prstGeom>
          <a:solidFill>
            <a:srgbClr val="E5484D"/>
          </a:solidFill>
          <a:ln/>
        </p:spPr>
      </p:sp>
      <p:sp>
        <p:nvSpPr>
          <p:cNvPr id="46" name="Shape 44"/>
          <p:cNvSpPr/>
          <p:nvPr/>
        </p:nvSpPr>
        <p:spPr>
          <a:xfrm>
            <a:off x="17134418" y="6559021"/>
            <a:ext cx="10583" cy="1910126"/>
          </a:xfrm>
          <a:prstGeom prst="rect">
            <a:avLst/>
          </a:prstGeom>
          <a:solidFill>
            <a:srgbClr val="E2E7E5"/>
          </a:solidFill>
          <a:ln/>
        </p:spPr>
      </p:sp>
      <p:sp>
        <p:nvSpPr>
          <p:cNvPr id="47" name="Text 45"/>
          <p:cNvSpPr/>
          <p:nvPr/>
        </p:nvSpPr>
        <p:spPr>
          <a:xfrm>
            <a:off x="9634968" y="6779122"/>
            <a:ext cx="7469456"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9C1D21"/>
                </a:solidFill>
                <a:latin typeface="Courier New" pitchFamily="34" charset="0"/>
                <a:ea typeface="Courier New" pitchFamily="34" charset="-122"/>
                <a:cs typeface="Courier New" pitchFamily="34" charset="-120"/>
              </a:rPr>
              <a:t>PAIN · MAINTENANCE</a:t>
            </a:r>
            <a:endParaRPr lang="en-US" sz="1800" dirty="0"/>
          </a:p>
        </p:txBody>
      </p:sp>
      <p:sp>
        <p:nvSpPr>
          <p:cNvPr id="48" name="Text 46"/>
          <p:cNvSpPr/>
          <p:nvPr/>
        </p:nvSpPr>
        <p:spPr>
          <a:xfrm>
            <a:off x="9634968" y="7194186"/>
            <a:ext cx="7469456" cy="335260"/>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0F1311"/>
                </a:solidFill>
                <a:latin typeface="Arial" pitchFamily="34" charset="0"/>
                <a:ea typeface="Arial" pitchFamily="34" charset="-122"/>
                <a:cs typeface="Arial" pitchFamily="34" charset="-120"/>
              </a:rPr>
              <a:t>API ngân hàng đổi, partner phải fix free</a:t>
            </a:r>
            <a:endParaRPr lang="en-US" sz="1950" dirty="0"/>
          </a:p>
        </p:txBody>
      </p:sp>
      <p:sp>
        <p:nvSpPr>
          <p:cNvPr id="49" name="Text 47"/>
          <p:cNvSpPr/>
          <p:nvPr/>
        </p:nvSpPr>
        <p:spPr>
          <a:xfrm>
            <a:off x="9634968" y="7586597"/>
            <a:ext cx="7469456" cy="70055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Maintenance trở thành liability — biên lợi nhuận triển khai bị bào mòn theo thời gian.</a:t>
            </a:r>
            <a:endParaRPr lang="en-US" sz="1800" dirty="0"/>
          </a:p>
        </p:txBody>
      </p:sp>
      <p:sp>
        <p:nvSpPr>
          <p:cNvPr id="50" name="Shape 48"/>
          <p:cNvSpPr/>
          <p:nvPr/>
        </p:nvSpPr>
        <p:spPr>
          <a:xfrm>
            <a:off x="9334501" y="8602431"/>
            <a:ext cx="7810501" cy="1910126"/>
          </a:xfrm>
          <a:prstGeom prst="roundRect">
            <a:avLst>
              <a:gd name="adj" fmla="val 5984"/>
            </a:avLst>
          </a:prstGeom>
          <a:solidFill>
            <a:srgbClr val="FFFFFF"/>
          </a:solidFill>
          <a:ln/>
        </p:spPr>
      </p:sp>
      <p:sp>
        <p:nvSpPr>
          <p:cNvPr id="51" name="Shape 49"/>
          <p:cNvSpPr/>
          <p:nvPr/>
        </p:nvSpPr>
        <p:spPr>
          <a:xfrm>
            <a:off x="9334501" y="10501974"/>
            <a:ext cx="7810501" cy="10583"/>
          </a:xfrm>
          <a:prstGeom prst="rect">
            <a:avLst/>
          </a:prstGeom>
          <a:solidFill>
            <a:srgbClr val="E2E7E5"/>
          </a:solidFill>
          <a:ln/>
        </p:spPr>
      </p:sp>
      <p:sp>
        <p:nvSpPr>
          <p:cNvPr id="52" name="Shape 50"/>
          <p:cNvSpPr/>
          <p:nvPr/>
        </p:nvSpPr>
        <p:spPr>
          <a:xfrm>
            <a:off x="9334501" y="8602431"/>
            <a:ext cx="7810501" cy="10583"/>
          </a:xfrm>
          <a:prstGeom prst="rect">
            <a:avLst/>
          </a:prstGeom>
          <a:solidFill>
            <a:srgbClr val="E2E7E5"/>
          </a:solidFill>
          <a:ln/>
        </p:spPr>
      </p:sp>
      <p:sp>
        <p:nvSpPr>
          <p:cNvPr id="53" name="Shape 51"/>
          <p:cNvSpPr/>
          <p:nvPr/>
        </p:nvSpPr>
        <p:spPr>
          <a:xfrm>
            <a:off x="9334501" y="8602431"/>
            <a:ext cx="52917" cy="1910126"/>
          </a:xfrm>
          <a:prstGeom prst="rect">
            <a:avLst/>
          </a:prstGeom>
          <a:solidFill>
            <a:srgbClr val="E5484D"/>
          </a:solidFill>
          <a:ln/>
        </p:spPr>
      </p:sp>
      <p:sp>
        <p:nvSpPr>
          <p:cNvPr id="54" name="Shape 52"/>
          <p:cNvSpPr/>
          <p:nvPr/>
        </p:nvSpPr>
        <p:spPr>
          <a:xfrm>
            <a:off x="17134418" y="8602431"/>
            <a:ext cx="10583" cy="1910126"/>
          </a:xfrm>
          <a:prstGeom prst="rect">
            <a:avLst/>
          </a:prstGeom>
          <a:solidFill>
            <a:srgbClr val="E2E7E5"/>
          </a:solidFill>
          <a:ln/>
        </p:spPr>
      </p:sp>
      <p:sp>
        <p:nvSpPr>
          <p:cNvPr id="55" name="Text 53"/>
          <p:cNvSpPr/>
          <p:nvPr/>
        </p:nvSpPr>
        <p:spPr>
          <a:xfrm>
            <a:off x="9634968" y="8822532"/>
            <a:ext cx="7469456"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9C1D21"/>
                </a:solidFill>
                <a:latin typeface="Courier New" pitchFamily="34" charset="0"/>
                <a:ea typeface="Courier New" pitchFamily="34" charset="-122"/>
                <a:cs typeface="Courier New" pitchFamily="34" charset="-120"/>
              </a:rPr>
              <a:t>PAIN · SPEED-TO-DEPLOY</a:t>
            </a:r>
            <a:endParaRPr lang="en-US" sz="1800" dirty="0"/>
          </a:p>
        </p:txBody>
      </p:sp>
      <p:sp>
        <p:nvSpPr>
          <p:cNvPr id="56" name="Text 54"/>
          <p:cNvSpPr/>
          <p:nvPr/>
        </p:nvSpPr>
        <p:spPr>
          <a:xfrm>
            <a:off x="9634968" y="9237597"/>
            <a:ext cx="7469456" cy="335260"/>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0F1311"/>
                </a:solidFill>
                <a:latin typeface="Arial" pitchFamily="34" charset="0"/>
                <a:ea typeface="Arial" pitchFamily="34" charset="-122"/>
                <a:cs typeface="Arial" pitchFamily="34" charset="-120"/>
              </a:rPr>
              <a:t>Bid chậm, mất deal cho competitor</a:t>
            </a:r>
            <a:endParaRPr lang="en-US" sz="1950" dirty="0"/>
          </a:p>
        </p:txBody>
      </p:sp>
      <p:sp>
        <p:nvSpPr>
          <p:cNvPr id="57" name="Text 55"/>
          <p:cNvSpPr/>
          <p:nvPr/>
        </p:nvSpPr>
        <p:spPr>
          <a:xfrm>
            <a:off x="9634968" y="9630007"/>
            <a:ext cx="7469456" cy="70055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Khách hỏi "Bank sync sẵn chưa?" — partner phải hứa "để team em phát triển" → mất deal.</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F8E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A · 04 · MASTER GAIN MAP</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CASSO trả lại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3 tầng giá trị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 không chỉ "module chạy được".</a:t>
            </a:r>
            <a:endParaRPr lang="en-US" sz="5400" dirty="0"/>
          </a:p>
        </p:txBody>
      </p:sp>
      <p:sp>
        <p:nvSpPr>
          <p:cNvPr id="4" name="Shape 2"/>
          <p:cNvSpPr/>
          <p:nvPr/>
        </p:nvSpPr>
        <p:spPr>
          <a:xfrm>
            <a:off x="1143000" y="3359712"/>
            <a:ext cx="5156234" cy="3532022"/>
          </a:xfrm>
          <a:prstGeom prst="roundRect">
            <a:avLst>
              <a:gd name="adj" fmla="val 5394"/>
            </a:avLst>
          </a:prstGeom>
          <a:solidFill>
            <a:srgbClr val="FFFFFF"/>
          </a:solidFill>
          <a:ln w="10583">
            <a:solidFill>
              <a:srgbClr val="E2E7E5"/>
            </a:solidFill>
            <a:prstDash val="solid"/>
          </a:ln>
        </p:spPr>
      </p:sp>
      <p:sp>
        <p:nvSpPr>
          <p:cNvPr id="5" name="Text 3"/>
          <p:cNvSpPr/>
          <p:nvPr/>
        </p:nvSpPr>
        <p:spPr>
          <a:xfrm>
            <a:off x="1534583" y="3713097"/>
            <a:ext cx="4504258"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TẦNG · 01</a:t>
            </a:r>
            <a:endParaRPr lang="en-US" sz="1800" dirty="0"/>
          </a:p>
        </p:txBody>
      </p:sp>
      <p:sp>
        <p:nvSpPr>
          <p:cNvPr id="6" name="Text 4"/>
          <p:cNvSpPr/>
          <p:nvPr/>
        </p:nvSpPr>
        <p:spPr>
          <a:xfrm>
            <a:off x="1534583" y="4204229"/>
            <a:ext cx="4504258"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Functional</a:t>
            </a:r>
            <a:endParaRPr lang="en-US" sz="2400" dirty="0"/>
          </a:p>
        </p:txBody>
      </p:sp>
      <p:sp>
        <p:nvSpPr>
          <p:cNvPr id="7" name="Text 5"/>
          <p:cNvSpPr/>
          <p:nvPr/>
        </p:nvSpPr>
        <p:spPr>
          <a:xfrm>
            <a:off x="1534583" y="4725955"/>
            <a:ext cx="4504258" cy="380901"/>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0F1311"/>
                </a:solidFill>
                <a:latin typeface="Arial" pitchFamily="34" charset="0"/>
                <a:ea typeface="Arial" pitchFamily="34" charset="-122"/>
                <a:cs typeface="Arial" pitchFamily="34" charset="-120"/>
              </a:rPr>
              <a:t>Module chạy được, sync đúng.</a:t>
            </a:r>
            <a:endParaRPr lang="en-US" sz="1800" dirty="0"/>
          </a:p>
        </p:txBody>
      </p:sp>
      <p:sp>
        <p:nvSpPr>
          <p:cNvPr id="8" name="Text 6"/>
          <p:cNvSpPr/>
          <p:nvPr/>
        </p:nvSpPr>
        <p:spPr>
          <a:xfrm>
            <a:off x="1374563" y="5240073"/>
            <a:ext cx="4609287" cy="1336377"/>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Bank sync real-time qua API.</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Phát hành hóa đơn đúng chuẩn TCT.</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Cài đặt &lt; 1 ngày, không cần custom.</a:t>
            </a:r>
            <a:endParaRPr lang="en-US" sz="1800" dirty="0"/>
          </a:p>
        </p:txBody>
      </p:sp>
      <p:sp>
        <p:nvSpPr>
          <p:cNvPr id="9" name="Shape 7"/>
          <p:cNvSpPr/>
          <p:nvPr/>
        </p:nvSpPr>
        <p:spPr>
          <a:xfrm>
            <a:off x="6565801" y="3359712"/>
            <a:ext cx="5156234" cy="4194473"/>
          </a:xfrm>
          <a:prstGeom prst="roundRect">
            <a:avLst>
              <a:gd name="adj" fmla="val 4542"/>
            </a:avLst>
          </a:prstGeom>
          <a:solidFill>
            <a:srgbClr val="FFFFFF"/>
          </a:solidFill>
          <a:ln w="10583">
            <a:solidFill>
              <a:srgbClr val="00B26A"/>
            </a:solidFill>
            <a:prstDash val="solid"/>
          </a:ln>
          <a:effectLst>
            <a:outerShdw sx="100000" sy="100000" kx="0" ky="0" algn="bl" rotWithShape="0" blurRad="38100" dist="19050" dir="5400000">
              <a:srgbClr val="0F1311">
                <a:alpha val="6000"/>
              </a:srgbClr>
            </a:outerShdw>
          </a:effectLst>
        </p:spPr>
      </p:sp>
      <p:sp>
        <p:nvSpPr>
          <p:cNvPr id="10" name="Text 8"/>
          <p:cNvSpPr/>
          <p:nvPr/>
        </p:nvSpPr>
        <p:spPr>
          <a:xfrm>
            <a:off x="6957385" y="3713097"/>
            <a:ext cx="4504258"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TẦNG · 02</a:t>
            </a:r>
            <a:endParaRPr lang="en-US" sz="1800" dirty="0"/>
          </a:p>
        </p:txBody>
      </p:sp>
      <p:sp>
        <p:nvSpPr>
          <p:cNvPr id="11" name="Text 9"/>
          <p:cNvSpPr/>
          <p:nvPr/>
        </p:nvSpPr>
        <p:spPr>
          <a:xfrm>
            <a:off x="6957385" y="4204229"/>
            <a:ext cx="4504258"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Operational</a:t>
            </a:r>
            <a:endParaRPr lang="en-US" sz="2400" dirty="0"/>
          </a:p>
        </p:txBody>
      </p:sp>
      <p:sp>
        <p:nvSpPr>
          <p:cNvPr id="12" name="Text 10"/>
          <p:cNvSpPr/>
          <p:nvPr/>
        </p:nvSpPr>
        <p:spPr>
          <a:xfrm>
            <a:off x="6957385" y="4725955"/>
            <a:ext cx="4504258" cy="380901"/>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0F1311"/>
                </a:solidFill>
                <a:latin typeface="Arial" pitchFamily="34" charset="0"/>
                <a:ea typeface="Arial" pitchFamily="34" charset="-122"/>
                <a:cs typeface="Arial" pitchFamily="34" charset="-120"/>
              </a:rPr>
              <a:t>Đỡ tốn người, đỡ rủi ro.</a:t>
            </a:r>
            <a:endParaRPr lang="en-US" sz="1800" dirty="0"/>
          </a:p>
        </p:txBody>
      </p:sp>
      <p:sp>
        <p:nvSpPr>
          <p:cNvPr id="13" name="Text 11"/>
          <p:cNvSpPr/>
          <p:nvPr/>
        </p:nvSpPr>
        <p:spPr>
          <a:xfrm>
            <a:off x="6797365" y="5240073"/>
            <a:ext cx="4609287" cy="1998828"/>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Đối soát tự động → tiết kiệm 3–5 ngày/tháng.</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Cảnh báo dòng tiền âm, giao dịch bất thường.</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Log audit-trail cho mọi giao dịch.</a:t>
            </a:r>
            <a:endParaRPr lang="en-US" sz="1800" dirty="0"/>
          </a:p>
        </p:txBody>
      </p:sp>
      <p:sp>
        <p:nvSpPr>
          <p:cNvPr id="14" name="Shape 12"/>
          <p:cNvSpPr/>
          <p:nvPr/>
        </p:nvSpPr>
        <p:spPr>
          <a:xfrm>
            <a:off x="11988602" y="3359712"/>
            <a:ext cx="5156399" cy="4194473"/>
          </a:xfrm>
          <a:prstGeom prst="roundRect">
            <a:avLst>
              <a:gd name="adj" fmla="val 4542"/>
            </a:avLst>
          </a:prstGeom>
          <a:solidFill>
            <a:srgbClr val="FFFFFF"/>
          </a:solidFill>
          <a:ln w="10583">
            <a:solidFill>
              <a:srgbClr val="E2E7E5"/>
            </a:solidFill>
            <a:prstDash val="solid"/>
          </a:ln>
        </p:spPr>
      </p:sp>
      <p:sp>
        <p:nvSpPr>
          <p:cNvPr id="15" name="Text 13"/>
          <p:cNvSpPr/>
          <p:nvPr/>
        </p:nvSpPr>
        <p:spPr>
          <a:xfrm>
            <a:off x="12380185" y="3713097"/>
            <a:ext cx="450442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TẦNG · 03</a:t>
            </a:r>
            <a:endParaRPr lang="en-US" sz="1800" dirty="0"/>
          </a:p>
        </p:txBody>
      </p:sp>
      <p:sp>
        <p:nvSpPr>
          <p:cNvPr id="16" name="Text 14"/>
          <p:cNvSpPr/>
          <p:nvPr/>
        </p:nvSpPr>
        <p:spPr>
          <a:xfrm>
            <a:off x="12380185" y="4204229"/>
            <a:ext cx="450442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Strategic</a:t>
            </a:r>
            <a:endParaRPr lang="en-US" sz="2400" dirty="0"/>
          </a:p>
        </p:txBody>
      </p:sp>
      <p:sp>
        <p:nvSpPr>
          <p:cNvPr id="17" name="Text 15"/>
          <p:cNvSpPr/>
          <p:nvPr/>
        </p:nvSpPr>
        <p:spPr>
          <a:xfrm>
            <a:off x="12380185" y="4725955"/>
            <a:ext cx="4504429" cy="380901"/>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0F1311"/>
                </a:solidFill>
                <a:latin typeface="Arial" pitchFamily="34" charset="0"/>
                <a:ea typeface="Arial" pitchFamily="34" charset="-122"/>
                <a:cs typeface="Arial" pitchFamily="34" charset="-120"/>
              </a:rPr>
              <a:t>Partner đi xa hơn, CFO yên tâm hơn.</a:t>
            </a:r>
            <a:endParaRPr lang="en-US" sz="1800" dirty="0"/>
          </a:p>
        </p:txBody>
      </p:sp>
      <p:sp>
        <p:nvSpPr>
          <p:cNvPr id="18" name="Text 16"/>
          <p:cNvSpPr/>
          <p:nvPr/>
        </p:nvSpPr>
        <p:spPr>
          <a:xfrm>
            <a:off x="12220165" y="5240073"/>
            <a:ext cx="4609452" cy="1998828"/>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Partner đóng được khách Enterprise lớn hơn.</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End-user pass audit thuế dễ dàng.</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Dữ liệu sạch → mở đường cho cash-flow AI.</a:t>
            </a:r>
            <a:endParaRPr lang="en-US" sz="1800" dirty="0"/>
          </a:p>
        </p:txBody>
      </p:sp>
      <p:sp>
        <p:nvSpPr>
          <p:cNvPr id="19" name="Text 17"/>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08 / 24</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1A12"/>
        </a:solidFill>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FFFFFF">
              <a:alpha val="4000"/>
            </a:srgbClr>
          </a:solidFill>
          <a:ln/>
        </p:spPr>
      </p:sp>
      <p:sp>
        <p:nvSpPr>
          <p:cNvPr id="3" name="Text 1"/>
          <p:cNvSpPr/>
          <p:nvPr/>
        </p:nvSpPr>
        <p:spPr>
          <a:xfrm>
            <a:off x="1143000" y="2691970"/>
            <a:ext cx="16482061" cy="464741"/>
          </a:xfrm>
          <a:prstGeom prst="rect">
            <a:avLst/>
          </a:prstGeom>
          <a:noFill/>
          <a:ln/>
        </p:spPr>
        <p:txBody>
          <a:bodyPr wrap="square" lIns="25400" tIns="25400" rIns="25400" bIns="25400" rtlCol="0" anchor="t">
            <a:normAutofit/>
          </a:bodyPr>
          <a:lstStyle/>
          <a:p>
            <a:pPr algn="l" indent="0" marL="0">
              <a:lnSpc>
                <a:spcPct val="140000"/>
              </a:lnSpc>
              <a:buNone/>
            </a:pPr>
            <a:r>
              <a:rPr lang="en-US" sz="2400" spc="432" kern="0" dirty="0">
                <a:solidFill>
                  <a:srgbClr val="66D59C"/>
                </a:solidFill>
                <a:latin typeface="Courier New" pitchFamily="34" charset="0"/>
                <a:ea typeface="Courier New" pitchFamily="34" charset="-122"/>
                <a:cs typeface="Courier New" pitchFamily="34" charset="-120"/>
              </a:rPr>
              <a:t>SECTION · B</a:t>
            </a:r>
            <a:endParaRPr lang="en-US" sz="2400" dirty="0"/>
          </a:p>
        </p:txBody>
      </p:sp>
      <p:sp>
        <p:nvSpPr>
          <p:cNvPr id="4" name="Text 2"/>
          <p:cNvSpPr/>
          <p:nvPr/>
        </p:nvSpPr>
        <p:spPr>
          <a:xfrm>
            <a:off x="1143000" y="3423378"/>
            <a:ext cx="14716126" cy="2788775"/>
          </a:xfrm>
          <a:prstGeom prst="rect">
            <a:avLst/>
          </a:prstGeom>
          <a:noFill/>
          <a:ln/>
        </p:spPr>
        <p:txBody>
          <a:bodyPr wrap="square" lIns="25400" tIns="25400" rIns="25400" bIns="25400" rtlCol="0" anchor="t">
            <a:normAutofit/>
          </a:bodyPr>
          <a:lstStyle/>
          <a:p>
            <a:pPr algn="l" indent="0" marL="0">
              <a:lnSpc>
                <a:spcPct val="95000"/>
              </a:lnSpc>
              <a:buNone/>
            </a:pPr>
            <a:r>
              <a:rPr lang="en-US" sz="11400" b="1" spc="-456" kern="0" dirty="0">
                <a:solidFill>
                  <a:srgbClr val="FFFFFF"/>
                </a:solidFill>
                <a:latin typeface="Arial" pitchFamily="34" charset="0"/>
                <a:ea typeface="Arial" pitchFamily="34" charset="-122"/>
                <a:cs typeface="Arial" pitchFamily="34" charset="-120"/>
              </a:rPr>
              <a:t>Customer </a:t>
            </a:r>
            <a:pPr algn="l" indent="0" marL="0">
              <a:lnSpc>
                <a:spcPct val="95000"/>
              </a:lnSpc>
              <a:buNone/>
            </a:pPr>
            <a:r>
              <a:rPr lang="en-US" sz="11400" b="1" spc="-456" kern="0" dirty="0">
                <a:solidFill>
                  <a:srgbClr val="66D59C"/>
                </a:solidFill>
                <a:latin typeface="Arial" pitchFamily="34" charset="0"/>
                <a:ea typeface="Arial" pitchFamily="34" charset="-122"/>
                <a:cs typeface="Arial" pitchFamily="34" charset="-120"/>
              </a:rPr>
              <a:t>Segmentation</a:t>
            </a:r>
            <a:pPr algn="l" indent="0" marL="0">
              <a:lnSpc>
                <a:spcPct val="95000"/>
              </a:lnSpc>
              <a:buNone/>
            </a:pPr>
            <a:r>
              <a:rPr lang="en-US" sz="11400" b="1" spc="-456" kern="0" dirty="0">
                <a:solidFill>
                  <a:srgbClr val="FFFFFF"/>
                </a:solidFill>
                <a:latin typeface="Arial" pitchFamily="34" charset="0"/>
                <a:ea typeface="Arial" pitchFamily="34" charset="-122"/>
                <a:cs typeface="Arial" pitchFamily="34" charset="-120"/>
              </a:rPr>
              <a:t>.</a:t>
            </a:r>
            <a:endParaRPr lang="en-US" sz="11400" dirty="0"/>
          </a:p>
        </p:txBody>
      </p:sp>
      <p:sp>
        <p:nvSpPr>
          <p:cNvPr id="5" name="Shape 3"/>
          <p:cNvSpPr/>
          <p:nvPr/>
        </p:nvSpPr>
        <p:spPr>
          <a:xfrm>
            <a:off x="1143000" y="6478819"/>
            <a:ext cx="914301" cy="38034"/>
          </a:xfrm>
          <a:prstGeom prst="rect">
            <a:avLst/>
          </a:prstGeom>
          <a:solidFill>
            <a:srgbClr val="00B26A"/>
          </a:solidFill>
          <a:ln/>
        </p:spPr>
      </p:sp>
      <p:sp>
        <p:nvSpPr>
          <p:cNvPr id="6" name="Text 4"/>
          <p:cNvSpPr/>
          <p:nvPr/>
        </p:nvSpPr>
        <p:spPr>
          <a:xfrm>
            <a:off x="1143000" y="6821620"/>
            <a:ext cx="11772900" cy="81134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FFFFFF">
                    <a:alpha val="65000"/>
                  </a:srgbClr>
                </a:solidFill>
                <a:latin typeface="Arial" pitchFamily="34" charset="0"/>
                <a:ea typeface="Arial" pitchFamily="34" charset="-122"/>
                <a:cs typeface="Arial" pitchFamily="34" charset="-120"/>
              </a:rPr>
              <a:t>Hai phân khúc, hai chiến lược bán riêng — vì hành vi mua, willingness-to-pay, và kênh tiếp cận khác nhau.</a:t>
            </a:r>
            <a:endParaRPr lang="en-US" sz="2100" dirty="0"/>
          </a:p>
        </p:txBody>
      </p:sp>
      <p:sp>
        <p:nvSpPr>
          <p:cNvPr id="7" name="Text 5"/>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FFFFFF">
                    <a:alpha val="40000"/>
                  </a:srgbClr>
                </a:solidFill>
                <a:latin typeface="Courier New" pitchFamily="34" charset="0"/>
                <a:ea typeface="Courier New" pitchFamily="34" charset="-122"/>
                <a:cs typeface="Courier New" pitchFamily="34" charset="-120"/>
              </a:rPr>
              <a:t>09 / 24</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B · 01 · IDENTIFY SEGMENTS</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Trong tập khách dùng Odoo,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2 phân khúc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đáng đánh nhất.</a:t>
            </a:r>
            <a:endParaRPr lang="en-US" sz="5400" dirty="0"/>
          </a:p>
        </p:txBody>
      </p:sp>
      <p:sp>
        <p:nvSpPr>
          <p:cNvPr id="4" name="Shape 2"/>
          <p:cNvSpPr/>
          <p:nvPr/>
        </p:nvSpPr>
        <p:spPr>
          <a:xfrm>
            <a:off x="1143000" y="3359712"/>
            <a:ext cx="7772466" cy="4539424"/>
          </a:xfrm>
          <a:prstGeom prst="roundRect">
            <a:avLst>
              <a:gd name="adj" fmla="val 4197"/>
            </a:avLst>
          </a:prstGeom>
          <a:solidFill>
            <a:srgbClr val="E6F8EF"/>
          </a:solidFill>
          <a:ln w="10583">
            <a:solidFill>
              <a:srgbClr val="99E3BD"/>
            </a:solidFill>
            <a:prstDash val="solid"/>
          </a:ln>
        </p:spPr>
      </p:sp>
      <p:sp>
        <p:nvSpPr>
          <p:cNvPr id="5" name="Text 3"/>
          <p:cNvSpPr/>
          <p:nvPr/>
        </p:nvSpPr>
        <p:spPr>
          <a:xfrm>
            <a:off x="1534583" y="3713097"/>
            <a:ext cx="719897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SEGMENT · 01</a:t>
            </a:r>
            <a:endParaRPr lang="en-US" sz="1800" dirty="0"/>
          </a:p>
        </p:txBody>
      </p:sp>
      <p:sp>
        <p:nvSpPr>
          <p:cNvPr id="6" name="Text 4"/>
          <p:cNvSpPr/>
          <p:nvPr/>
        </p:nvSpPr>
        <p:spPr>
          <a:xfrm>
            <a:off x="1534583" y="4204229"/>
            <a:ext cx="719897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Odoo Partners</a:t>
            </a:r>
            <a:endParaRPr lang="en-US" sz="2400" dirty="0"/>
          </a:p>
        </p:txBody>
      </p:sp>
      <p:sp>
        <p:nvSpPr>
          <p:cNvPr id="7" name="Text 5"/>
          <p:cNvSpPr/>
          <p:nvPr/>
        </p:nvSpPr>
        <p:spPr>
          <a:xfrm>
            <a:off x="1534583" y="4725955"/>
            <a:ext cx="7198979" cy="734285"/>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0F1311"/>
                </a:solidFill>
                <a:latin typeface="Arial" pitchFamily="34" charset="0"/>
                <a:ea typeface="Arial" pitchFamily="34" charset="-122"/>
                <a:cs typeface="Arial" pitchFamily="34" charset="-120"/>
              </a:rPr>
              <a:t>27 partners chính thức </a:t>
            </a:r>
            <a:pPr algn="l" indent="0" marL="0">
              <a:lnSpc>
                <a:spcPct val="150000"/>
              </a:lnSpc>
              <a:buNone/>
            </a:pPr>
            <a:r>
              <a:rPr lang="en-US" sz="1800" dirty="0">
                <a:solidFill>
                  <a:srgbClr val="0F1311"/>
                </a:solidFill>
                <a:latin typeface="Arial" pitchFamily="34" charset="0"/>
                <a:ea typeface="Arial" pitchFamily="34" charset="-122"/>
                <a:cs typeface="Arial" pitchFamily="34" charset="-120"/>
              </a:rPr>
              <a:t>tại Việt Nam (Oris, Viindoo, A1 Consulting…). Mỗi partner serve 10–100 khách hàng.</a:t>
            </a:r>
            <a:endParaRPr lang="en-US" sz="1800" dirty="0"/>
          </a:p>
        </p:txBody>
      </p:sp>
      <p:sp>
        <p:nvSpPr>
          <p:cNvPr id="8" name="Text 6"/>
          <p:cNvSpPr/>
          <p:nvPr/>
        </p:nvSpPr>
        <p:spPr>
          <a:xfrm>
            <a:off x="1374563" y="5593457"/>
            <a:ext cx="7225520" cy="1336377"/>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Pain rõ ràng: chi phí dev nội bộ.</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Ngân sách dev đã có sẵn — chuyển sang license.</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Quyết định B2B chuẩn, sale-cycle ngắn.</a:t>
            </a:r>
            <a:endParaRPr lang="en-US" sz="1800" dirty="0"/>
          </a:p>
        </p:txBody>
      </p:sp>
      <p:sp>
        <p:nvSpPr>
          <p:cNvPr id="9" name="Shape 7"/>
          <p:cNvSpPr/>
          <p:nvPr/>
        </p:nvSpPr>
        <p:spPr>
          <a:xfrm>
            <a:off x="1534583" y="7063053"/>
            <a:ext cx="6989300" cy="10583"/>
          </a:xfrm>
          <a:prstGeom prst="rect">
            <a:avLst/>
          </a:prstGeom>
          <a:solidFill>
            <a:srgbClr val="99E3BD"/>
          </a:solidFill>
          <a:ln/>
        </p:spPr>
      </p:sp>
      <p:sp>
        <p:nvSpPr>
          <p:cNvPr id="10" name="Text 8"/>
          <p:cNvSpPr/>
          <p:nvPr/>
        </p:nvSpPr>
        <p:spPr>
          <a:xfrm>
            <a:off x="1534583" y="7226036"/>
            <a:ext cx="7198979" cy="357816"/>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006B40"/>
                </a:solidFill>
                <a:latin typeface="Courier New" pitchFamily="34" charset="0"/>
                <a:ea typeface="Courier New" pitchFamily="34" charset="-122"/>
                <a:cs typeface="Courier New" pitchFamily="34" charset="-120"/>
              </a:rPr>
              <a:t>→ ĐÒN BẨY · LEVERAGE 10–100×</a:t>
            </a:r>
            <a:endParaRPr lang="en-US" sz="1800" dirty="0"/>
          </a:p>
        </p:txBody>
      </p:sp>
      <p:sp>
        <p:nvSpPr>
          <p:cNvPr id="11" name="Shape 9"/>
          <p:cNvSpPr/>
          <p:nvPr/>
        </p:nvSpPr>
        <p:spPr>
          <a:xfrm>
            <a:off x="9372534" y="3359712"/>
            <a:ext cx="7772466" cy="4539424"/>
          </a:xfrm>
          <a:prstGeom prst="roundRect">
            <a:avLst>
              <a:gd name="adj" fmla="val 4197"/>
            </a:avLst>
          </a:prstGeom>
          <a:solidFill>
            <a:srgbClr val="0F1311"/>
          </a:solidFill>
          <a:ln w="10583">
            <a:solidFill>
              <a:srgbClr val="1F2521"/>
            </a:solidFill>
            <a:prstDash val="solid"/>
          </a:ln>
        </p:spPr>
      </p:sp>
      <p:sp>
        <p:nvSpPr>
          <p:cNvPr id="12" name="Text 10"/>
          <p:cNvSpPr/>
          <p:nvPr/>
        </p:nvSpPr>
        <p:spPr>
          <a:xfrm>
            <a:off x="9764118" y="3713097"/>
            <a:ext cx="719897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66D59C"/>
                </a:solidFill>
                <a:latin typeface="Courier New" pitchFamily="34" charset="0"/>
                <a:ea typeface="Courier New" pitchFamily="34" charset="-122"/>
                <a:cs typeface="Courier New" pitchFamily="34" charset="-120"/>
              </a:rPr>
              <a:t>SEGMENT · 02</a:t>
            </a:r>
            <a:endParaRPr lang="en-US" sz="1800" dirty="0"/>
          </a:p>
        </p:txBody>
      </p:sp>
      <p:sp>
        <p:nvSpPr>
          <p:cNvPr id="13" name="Text 11"/>
          <p:cNvSpPr/>
          <p:nvPr/>
        </p:nvSpPr>
        <p:spPr>
          <a:xfrm>
            <a:off x="9764118" y="4204229"/>
            <a:ext cx="719897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FFFFFF"/>
                </a:solidFill>
                <a:latin typeface="Arial" pitchFamily="34" charset="0"/>
                <a:ea typeface="Arial" pitchFamily="34" charset="-122"/>
                <a:cs typeface="Arial" pitchFamily="34" charset="-120"/>
              </a:rPr>
              <a:t>Enterprise End-user</a:t>
            </a:r>
            <a:endParaRPr lang="en-US" sz="2400" dirty="0"/>
          </a:p>
        </p:txBody>
      </p:sp>
      <p:sp>
        <p:nvSpPr>
          <p:cNvPr id="14" name="Text 12"/>
          <p:cNvSpPr/>
          <p:nvPr/>
        </p:nvSpPr>
        <p:spPr>
          <a:xfrm>
            <a:off x="9764118" y="4725955"/>
            <a:ext cx="7198979" cy="734285"/>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alpha val="90000"/>
                  </a:srgbClr>
                </a:solidFill>
                <a:latin typeface="Arial" pitchFamily="34" charset="0"/>
                <a:ea typeface="Arial" pitchFamily="34" charset="-122"/>
                <a:cs typeface="Arial" pitchFamily="34" charset="-120"/>
              </a:rPr>
              <a:t>80–90% đã được triển khai qua partner </a:t>
            </a:r>
            <a:pPr algn="l" indent="0" marL="0">
              <a:lnSpc>
                <a:spcPct val="150000"/>
              </a:lnSpc>
              <a:buNone/>
            </a:pPr>
            <a:r>
              <a:rPr lang="en-US" sz="1800" dirty="0">
                <a:solidFill>
                  <a:srgbClr val="FFFFFF">
                    <a:alpha val="90000"/>
                  </a:srgbClr>
                </a:solidFill>
                <a:latin typeface="Arial" pitchFamily="34" charset="0"/>
                <a:ea typeface="Arial" pitchFamily="34" charset="-122"/>
                <a:cs typeface="Arial" pitchFamily="34" charset="-120"/>
              </a:rPr>
              <a:t>— họ có ngân sách lớn nhất, willingness-to-pay cao nhất.</a:t>
            </a:r>
            <a:endParaRPr lang="en-US" sz="1800" dirty="0"/>
          </a:p>
        </p:txBody>
      </p:sp>
      <p:sp>
        <p:nvSpPr>
          <p:cNvPr id="15" name="Text 13"/>
          <p:cNvSpPr/>
          <p:nvPr/>
        </p:nvSpPr>
        <p:spPr>
          <a:xfrm>
            <a:off x="9604098" y="5593457"/>
            <a:ext cx="7225520" cy="1336377"/>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FFFFFF">
                    <a:alpha val="85000"/>
                  </a:srgbClr>
                </a:solidFill>
                <a:latin typeface="Arial" pitchFamily="34" charset="0"/>
                <a:ea typeface="Arial" pitchFamily="34" charset="-122"/>
                <a:cs typeface="Arial" pitchFamily="34" charset="-120"/>
              </a:rPr>
              <a:t>Pain compliance + audit — đắt tiền &amp; cấp bách.</a:t>
            </a:r>
            <a:endParaRPr lang="en-US" sz="1800" dirty="0"/>
          </a:p>
          <a:p>
            <a:pPr algn="l" indent="0" marL="0">
              <a:lnSpc>
                <a:spcPct val="145000"/>
              </a:lnSpc>
              <a:buNone/>
            </a:pPr>
            <a:r>
              <a:rPr lang="en-US" sz="1800" dirty="0">
                <a:solidFill>
                  <a:srgbClr val="FFFFFF">
                    <a:alpha val="85000"/>
                  </a:srgbClr>
                </a:solidFill>
                <a:latin typeface="Arial" pitchFamily="34" charset="0"/>
                <a:ea typeface="Arial" pitchFamily="34" charset="-122"/>
                <a:cs typeface="Arial" pitchFamily="34" charset="-120"/>
              </a:rPr>
              <a:t>CFO/kế toán trưởng chủ động tìm giải pháp.</a:t>
            </a:r>
            <a:endParaRPr lang="en-US" sz="1800" dirty="0"/>
          </a:p>
          <a:p>
            <a:pPr algn="l" indent="0" marL="0">
              <a:lnSpc>
                <a:spcPct val="145000"/>
              </a:lnSpc>
              <a:buNone/>
            </a:pPr>
            <a:r>
              <a:rPr lang="en-US" sz="1800" dirty="0">
                <a:solidFill>
                  <a:srgbClr val="FFFFFF">
                    <a:alpha val="85000"/>
                  </a:srgbClr>
                </a:solidFill>
                <a:latin typeface="Arial" pitchFamily="34" charset="0"/>
                <a:ea typeface="Arial" pitchFamily="34" charset="-122"/>
                <a:cs typeface="Arial" pitchFamily="34" charset="-120"/>
              </a:rPr>
              <a:t>Sẵn sàng trả cho SLA, support, bảo mật.</a:t>
            </a:r>
            <a:endParaRPr lang="en-US" sz="1800" dirty="0"/>
          </a:p>
        </p:txBody>
      </p:sp>
      <p:sp>
        <p:nvSpPr>
          <p:cNvPr id="16" name="Shape 14"/>
          <p:cNvSpPr/>
          <p:nvPr/>
        </p:nvSpPr>
        <p:spPr>
          <a:xfrm>
            <a:off x="9764118" y="7063053"/>
            <a:ext cx="6989300" cy="10583"/>
          </a:xfrm>
          <a:prstGeom prst="rect">
            <a:avLst/>
          </a:prstGeom>
          <a:solidFill>
            <a:srgbClr val="FFFFFF">
              <a:alpha val="15000"/>
            </a:srgbClr>
          </a:solidFill>
          <a:ln/>
        </p:spPr>
      </p:sp>
      <p:sp>
        <p:nvSpPr>
          <p:cNvPr id="17" name="Text 15"/>
          <p:cNvSpPr/>
          <p:nvPr/>
        </p:nvSpPr>
        <p:spPr>
          <a:xfrm>
            <a:off x="9764118" y="7226036"/>
            <a:ext cx="7198979" cy="357816"/>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6D59C"/>
                </a:solidFill>
                <a:latin typeface="Courier New" pitchFamily="34" charset="0"/>
                <a:ea typeface="Courier New" pitchFamily="34" charset="-122"/>
                <a:cs typeface="Courier New" pitchFamily="34" charset="-120"/>
              </a:rPr>
              <a:t>→ SWEET SPOT · ARPU CAO NHẤT</a:t>
            </a:r>
            <a:endParaRPr lang="en-US" sz="1800" dirty="0"/>
          </a:p>
        </p:txBody>
      </p:sp>
      <p:sp>
        <p:nvSpPr>
          <p:cNvPr id="18" name="Text 16"/>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10 / 24</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B · 02 · WHY PARTNERS FIRST</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Partner là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đòn bẩy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lớn nhất — bán 1 partner = chạm 10–100 khách.</a:t>
            </a:r>
            <a:endParaRPr lang="en-US" sz="5400" dirty="0"/>
          </a:p>
        </p:txBody>
      </p:sp>
      <p:sp>
        <p:nvSpPr>
          <p:cNvPr id="4" name="Shape 2"/>
          <p:cNvSpPr/>
          <p:nvPr/>
        </p:nvSpPr>
        <p:spPr>
          <a:xfrm>
            <a:off x="1682915" y="6217212"/>
            <a:ext cx="1333500" cy="762000"/>
          </a:xfrm>
          <a:prstGeom prst="roundRect">
            <a:avLst>
              <a:gd name="adj" fmla="val 17500"/>
            </a:avLst>
          </a:prstGeom>
          <a:solidFill>
            <a:srgbClr val="E2E7E5"/>
          </a:solidFill>
          <a:ln/>
        </p:spPr>
      </p:sp>
      <p:sp>
        <p:nvSpPr>
          <p:cNvPr id="5" name="Text 3"/>
          <p:cNvSpPr/>
          <p:nvPr/>
        </p:nvSpPr>
        <p:spPr>
          <a:xfrm>
            <a:off x="1644815" y="6426762"/>
            <a:ext cx="1409700" cy="590550"/>
          </a:xfrm>
          <a:prstGeom prst="rect">
            <a:avLst/>
          </a:prstGeom>
          <a:noFill/>
          <a:ln/>
        </p:spPr>
        <p:txBody>
          <a:bodyPr wrap="square" lIns="25400" tIns="25400" rIns="25400" bIns="25400" rtlCol="0" anchor="t">
            <a:normAutofit/>
          </a:bodyPr>
          <a:lstStyle/>
          <a:p>
            <a:pPr algn="ctr" indent="0" marL="0">
              <a:lnSpc>
                <a:spcPct val="140000"/>
              </a:lnSpc>
              <a:buNone/>
            </a:pPr>
            <a:r>
              <a:rPr lang="en-US" sz="3300" b="1" spc="-66" kern="0" dirty="0">
                <a:solidFill>
                  <a:srgbClr val="323A36"/>
                </a:solidFill>
                <a:latin typeface="Arial" pitchFamily="34" charset="0"/>
                <a:ea typeface="Arial" pitchFamily="34" charset="-122"/>
                <a:cs typeface="Arial" pitchFamily="34" charset="-120"/>
              </a:rPr>
              <a:t>1×</a:t>
            </a:r>
            <a:endParaRPr lang="en-US" sz="3300" dirty="0"/>
          </a:p>
        </p:txBody>
      </p:sp>
      <p:sp>
        <p:nvSpPr>
          <p:cNvPr id="6" name="Text 4"/>
          <p:cNvSpPr/>
          <p:nvPr/>
        </p:nvSpPr>
        <p:spPr>
          <a:xfrm>
            <a:off x="1176834" y="7131514"/>
            <a:ext cx="2345829" cy="384870"/>
          </a:xfrm>
          <a:prstGeom prst="rect">
            <a:avLst/>
          </a:prstGeom>
          <a:noFill/>
          <a:ln/>
        </p:spPr>
        <p:txBody>
          <a:bodyPr wrap="square" lIns="25400" tIns="25400" rIns="25400" bIns="25400" rtlCol="0" anchor="t">
            <a:normAutofit/>
          </a:bodyPr>
          <a:lstStyle/>
          <a:p>
            <a:pPr algn="ctr" indent="0" marL="0">
              <a:lnSpc>
                <a:spcPct val="140000"/>
              </a:lnSpc>
              <a:buNone/>
            </a:pPr>
            <a:r>
              <a:rPr lang="en-US" sz="1950" b="1" spc="-10" kern="0" dirty="0">
                <a:solidFill>
                  <a:srgbClr val="0F1311"/>
                </a:solidFill>
                <a:latin typeface="Arial" pitchFamily="34" charset="0"/>
                <a:ea typeface="Arial" pitchFamily="34" charset="-122"/>
                <a:cs typeface="Arial" pitchFamily="34" charset="-120"/>
              </a:rPr>
              <a:t>End-user trực tiếp</a:t>
            </a:r>
            <a:endParaRPr lang="en-US" sz="1950" dirty="0"/>
          </a:p>
        </p:txBody>
      </p:sp>
      <p:sp>
        <p:nvSpPr>
          <p:cNvPr id="7" name="Text 5"/>
          <p:cNvSpPr/>
          <p:nvPr/>
        </p:nvSpPr>
        <p:spPr>
          <a:xfrm>
            <a:off x="1104900" y="7630584"/>
            <a:ext cx="2489696" cy="357915"/>
          </a:xfrm>
          <a:prstGeom prst="rect">
            <a:avLst/>
          </a:prstGeom>
          <a:noFill/>
          <a:ln/>
        </p:spPr>
        <p:txBody>
          <a:bodyPr wrap="square" lIns="25400" tIns="25400" rIns="25400" bIns="25400" rtlCol="0" anchor="t">
            <a:normAutofit/>
          </a:bodyPr>
          <a:lstStyle/>
          <a:p>
            <a:pPr algn="ctr"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1 SALE = 1 KHÁCH</a:t>
            </a:r>
            <a:endParaRPr lang="en-US" sz="1800" dirty="0"/>
          </a:p>
        </p:txBody>
      </p:sp>
      <p:sp>
        <p:nvSpPr>
          <p:cNvPr id="8" name="Shape 6"/>
          <p:cNvSpPr/>
          <p:nvPr/>
        </p:nvSpPr>
        <p:spPr>
          <a:xfrm>
            <a:off x="5044943" y="3740712"/>
            <a:ext cx="1333500" cy="3238500"/>
          </a:xfrm>
          <a:prstGeom prst="roundRect">
            <a:avLst>
              <a:gd name="adj" fmla="val 10000"/>
            </a:avLst>
          </a:prstGeom>
          <a:solidFill>
            <a:srgbClr val="33C77B"/>
          </a:solidFill>
          <a:ln/>
        </p:spPr>
      </p:sp>
      <p:sp>
        <p:nvSpPr>
          <p:cNvPr id="9" name="Text 7"/>
          <p:cNvSpPr/>
          <p:nvPr/>
        </p:nvSpPr>
        <p:spPr>
          <a:xfrm>
            <a:off x="5006843" y="3950262"/>
            <a:ext cx="1409700" cy="3067050"/>
          </a:xfrm>
          <a:prstGeom prst="rect">
            <a:avLst/>
          </a:prstGeom>
          <a:noFill/>
          <a:ln/>
        </p:spPr>
        <p:txBody>
          <a:bodyPr wrap="square" lIns="25400" tIns="25400" rIns="25400" bIns="25400" rtlCol="0" anchor="t">
            <a:normAutofit/>
          </a:bodyPr>
          <a:lstStyle/>
          <a:p>
            <a:pPr algn="ctr" indent="0" marL="0">
              <a:lnSpc>
                <a:spcPct val="140000"/>
              </a:lnSpc>
              <a:buNone/>
            </a:pPr>
            <a:r>
              <a:rPr lang="en-US" sz="3300" b="1" spc="-66" kern="0" dirty="0">
                <a:solidFill>
                  <a:srgbClr val="FFFFFF"/>
                </a:solidFill>
                <a:latin typeface="Arial" pitchFamily="34" charset="0"/>
                <a:ea typeface="Arial" pitchFamily="34" charset="-122"/>
                <a:cs typeface="Arial" pitchFamily="34" charset="-120"/>
              </a:rPr>
              <a:t>10–100×</a:t>
            </a:r>
            <a:endParaRPr lang="en-US" sz="3300" dirty="0"/>
          </a:p>
        </p:txBody>
      </p:sp>
      <p:sp>
        <p:nvSpPr>
          <p:cNvPr id="10" name="Text 8"/>
          <p:cNvSpPr/>
          <p:nvPr/>
        </p:nvSpPr>
        <p:spPr>
          <a:xfrm>
            <a:off x="4688020" y="7131514"/>
            <a:ext cx="2047511" cy="384870"/>
          </a:xfrm>
          <a:prstGeom prst="rect">
            <a:avLst/>
          </a:prstGeom>
          <a:noFill/>
          <a:ln/>
        </p:spPr>
        <p:txBody>
          <a:bodyPr wrap="square" lIns="25400" tIns="25400" rIns="25400" bIns="25400" rtlCol="0" anchor="t">
            <a:normAutofit/>
          </a:bodyPr>
          <a:lstStyle/>
          <a:p>
            <a:pPr algn="ctr" indent="0" marL="0">
              <a:lnSpc>
                <a:spcPct val="140000"/>
              </a:lnSpc>
              <a:buNone/>
            </a:pPr>
            <a:r>
              <a:rPr lang="en-US" sz="1950" b="1" spc="-10" kern="0" dirty="0">
                <a:solidFill>
                  <a:srgbClr val="0F1311"/>
                </a:solidFill>
                <a:latin typeface="Arial" pitchFamily="34" charset="0"/>
                <a:ea typeface="Arial" pitchFamily="34" charset="-122"/>
                <a:cs typeface="Arial" pitchFamily="34" charset="-120"/>
              </a:rPr>
              <a:t>Partner channel</a:t>
            </a:r>
            <a:endParaRPr lang="en-US" sz="1950" dirty="0"/>
          </a:p>
        </p:txBody>
      </p:sp>
      <p:sp>
        <p:nvSpPr>
          <p:cNvPr id="11" name="Text 9"/>
          <p:cNvSpPr/>
          <p:nvPr/>
        </p:nvSpPr>
        <p:spPr>
          <a:xfrm>
            <a:off x="4080483" y="7630584"/>
            <a:ext cx="3262585" cy="357915"/>
          </a:xfrm>
          <a:prstGeom prst="rect">
            <a:avLst/>
          </a:prstGeom>
          <a:noFill/>
          <a:ln/>
        </p:spPr>
        <p:txBody>
          <a:bodyPr wrap="square" lIns="25400" tIns="25400" rIns="25400" bIns="25400" rtlCol="0" anchor="t">
            <a:normAutofit/>
          </a:bodyPr>
          <a:lstStyle/>
          <a:p>
            <a:pPr algn="ctr"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1 SALE = 10–100 KHÁCH</a:t>
            </a:r>
            <a:endParaRPr lang="en-US" sz="1800" dirty="0"/>
          </a:p>
        </p:txBody>
      </p:sp>
      <p:sp>
        <p:nvSpPr>
          <p:cNvPr id="12" name="Text 10"/>
          <p:cNvSpPr/>
          <p:nvPr/>
        </p:nvSpPr>
        <p:spPr>
          <a:xfrm>
            <a:off x="9525001" y="3472491"/>
            <a:ext cx="7848601" cy="436133"/>
          </a:xfrm>
          <a:prstGeom prst="rect">
            <a:avLst/>
          </a:prstGeom>
          <a:noFill/>
          <a:ln/>
        </p:spPr>
        <p:txBody>
          <a:bodyPr wrap="square" lIns="25400" tIns="25400" rIns="25400" bIns="25400" rtlCol="0" anchor="t">
            <a:normAutofit/>
          </a:bodyPr>
          <a:lstStyle/>
          <a:p>
            <a:pPr algn="l" indent="0" marL="0">
              <a:lnSpc>
                <a:spcPct val="110000"/>
              </a:lnSpc>
              <a:buNone/>
            </a:pPr>
            <a:r>
              <a:rPr lang="en-US" sz="2850" b="1" spc="-57" kern="0" dirty="0">
                <a:solidFill>
                  <a:srgbClr val="0F1311"/>
                </a:solidFill>
                <a:latin typeface="Arial" pitchFamily="34" charset="0"/>
                <a:ea typeface="Arial" pitchFamily="34" charset="-122"/>
                <a:cs typeface="Arial" pitchFamily="34" charset="-120"/>
              </a:rPr>
              <a:t>Vì sao ưu tiên bán chéo cho Partner</a:t>
            </a:r>
            <a:endParaRPr lang="en-US" sz="2850" dirty="0"/>
          </a:p>
        </p:txBody>
      </p:sp>
      <p:sp>
        <p:nvSpPr>
          <p:cNvPr id="13" name="Text 11"/>
          <p:cNvSpPr/>
          <p:nvPr/>
        </p:nvSpPr>
        <p:spPr>
          <a:xfrm>
            <a:off x="9829801" y="4365625"/>
            <a:ext cx="7543801" cy="777610"/>
          </a:xfrm>
          <a:prstGeom prst="rect">
            <a:avLst/>
          </a:prstGeom>
          <a:noFill/>
          <a:ln/>
        </p:spPr>
        <p:txBody>
          <a:bodyPr wrap="square" lIns="25400" tIns="25400" rIns="25400" bIns="25400" rtlCol="0" anchor="t">
            <a:normAutofit/>
          </a:bodyPr>
          <a:lstStyle/>
          <a:p>
            <a:pPr algn="l" indent="0" marL="0">
              <a:lnSpc>
                <a:spcPct val="145000"/>
              </a:lnSpc>
              <a:buNone/>
            </a:pPr>
            <a:r>
              <a:rPr lang="en-US" sz="1950" b="1" dirty="0">
                <a:solidFill>
                  <a:srgbClr val="323A36"/>
                </a:solidFill>
                <a:latin typeface="Arial" pitchFamily="34" charset="0"/>
                <a:ea typeface="Arial" pitchFamily="34" charset="-122"/>
                <a:cs typeface="Arial" pitchFamily="34" charset="-120"/>
              </a:rPr>
              <a:t>27 partners chính thức </a:t>
            </a:r>
            <a:pPr algn="l" indent="0" marL="0">
              <a:lnSpc>
                <a:spcPct val="145000"/>
              </a:lnSpc>
              <a:buNone/>
            </a:pPr>
            <a:r>
              <a:rPr lang="en-US" sz="1950" dirty="0">
                <a:solidFill>
                  <a:srgbClr val="323A36"/>
                </a:solidFill>
                <a:latin typeface="Arial" pitchFamily="34" charset="0"/>
                <a:ea typeface="Arial" pitchFamily="34" charset="-122"/>
                <a:cs typeface="Arial" pitchFamily="34" charset="-120"/>
              </a:rPr>
              <a:t>ở Việt Nam đã có sẵn quan hệ với khách Enterprise dùng Odoo.</a:t>
            </a:r>
            <a:endParaRPr lang="en-US" sz="1950" dirty="0"/>
          </a:p>
        </p:txBody>
      </p:sp>
      <p:sp>
        <p:nvSpPr>
          <p:cNvPr id="14" name="Text 12"/>
          <p:cNvSpPr/>
          <p:nvPr/>
        </p:nvSpPr>
        <p:spPr>
          <a:xfrm>
            <a:off x="9829801" y="5276454"/>
            <a:ext cx="7543801" cy="777610"/>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23A36"/>
                </a:solidFill>
                <a:latin typeface="Arial" pitchFamily="34" charset="0"/>
                <a:ea typeface="Arial" pitchFamily="34" charset="-122"/>
                <a:cs typeface="Arial" pitchFamily="34" charset="-120"/>
              </a:rPr>
              <a:t>Mỗi partner serve </a:t>
            </a:r>
            <a:pPr algn="l" indent="0" marL="0">
              <a:lnSpc>
                <a:spcPct val="145000"/>
              </a:lnSpc>
              <a:buNone/>
            </a:pPr>
            <a:r>
              <a:rPr lang="en-US" sz="1950" b="1" dirty="0">
                <a:solidFill>
                  <a:srgbClr val="323A36"/>
                </a:solidFill>
                <a:latin typeface="Arial" pitchFamily="34" charset="0"/>
                <a:ea typeface="Arial" pitchFamily="34" charset="-122"/>
                <a:cs typeface="Arial" pitchFamily="34" charset="-120"/>
              </a:rPr>
              <a:t>10–100 khách hàng </a:t>
            </a:r>
            <a:pPr algn="l" indent="0" marL="0">
              <a:lnSpc>
                <a:spcPct val="145000"/>
              </a:lnSpc>
              <a:buNone/>
            </a:pPr>
            <a:r>
              <a:rPr lang="en-US" sz="1950" dirty="0">
                <a:solidFill>
                  <a:srgbClr val="323A36"/>
                </a:solidFill>
                <a:latin typeface="Arial" pitchFamily="34" charset="0"/>
                <a:ea typeface="Arial" pitchFamily="34" charset="-122"/>
                <a:cs typeface="Arial" pitchFamily="34" charset="-120"/>
              </a:rPr>
              <a:t>— bán 1 partner là cấp số nhân của bán end-user.</a:t>
            </a:r>
            <a:endParaRPr lang="en-US" sz="1950" dirty="0"/>
          </a:p>
        </p:txBody>
      </p:sp>
      <p:sp>
        <p:nvSpPr>
          <p:cNvPr id="15" name="Text 13"/>
          <p:cNvSpPr/>
          <p:nvPr/>
        </p:nvSpPr>
        <p:spPr>
          <a:xfrm>
            <a:off x="9829801" y="6187282"/>
            <a:ext cx="7543801" cy="777610"/>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23A36"/>
                </a:solidFill>
                <a:latin typeface="Arial" pitchFamily="34" charset="0"/>
                <a:ea typeface="Arial" pitchFamily="34" charset="-122"/>
                <a:cs typeface="Arial" pitchFamily="34" charset="-120"/>
              </a:rPr>
              <a:t>Partner có </a:t>
            </a:r>
            <a:pPr algn="l" indent="0" marL="0">
              <a:lnSpc>
                <a:spcPct val="145000"/>
              </a:lnSpc>
              <a:buNone/>
            </a:pPr>
            <a:r>
              <a:rPr lang="en-US" sz="1950" b="1" dirty="0">
                <a:solidFill>
                  <a:srgbClr val="323A36"/>
                </a:solidFill>
                <a:latin typeface="Arial" pitchFamily="34" charset="0"/>
                <a:ea typeface="Arial" pitchFamily="34" charset="-122"/>
                <a:cs typeface="Arial" pitchFamily="34" charset="-120"/>
              </a:rPr>
              <a:t>pain rõ ràng </a:t>
            </a:r>
            <a:pPr algn="l" indent="0" marL="0">
              <a:lnSpc>
                <a:spcPct val="145000"/>
              </a:lnSpc>
              <a:buNone/>
            </a:pPr>
            <a:r>
              <a:rPr lang="en-US" sz="1950" dirty="0">
                <a:solidFill>
                  <a:srgbClr val="323A36"/>
                </a:solidFill>
                <a:latin typeface="Arial" pitchFamily="34" charset="0"/>
                <a:ea typeface="Arial" pitchFamily="34" charset="-122"/>
                <a:cs typeface="Arial" pitchFamily="34" charset="-120"/>
              </a:rPr>
              <a:t>: tự custom Bank/Tax tốn 2–6 tháng dev cho mỗi project.</a:t>
            </a:r>
            <a:endParaRPr lang="en-US" sz="1950" dirty="0"/>
          </a:p>
        </p:txBody>
      </p:sp>
      <p:sp>
        <p:nvSpPr>
          <p:cNvPr id="16" name="Text 14"/>
          <p:cNvSpPr/>
          <p:nvPr/>
        </p:nvSpPr>
        <p:spPr>
          <a:xfrm>
            <a:off x="9829801" y="7098110"/>
            <a:ext cx="7543801" cy="777610"/>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23A36"/>
                </a:solidFill>
                <a:latin typeface="Arial" pitchFamily="34" charset="0"/>
                <a:ea typeface="Arial" pitchFamily="34" charset="-122"/>
                <a:cs typeface="Arial" pitchFamily="34" charset="-120"/>
              </a:rPr>
              <a:t>Partner có </a:t>
            </a:r>
            <a:pPr algn="l" indent="0" marL="0">
              <a:lnSpc>
                <a:spcPct val="145000"/>
              </a:lnSpc>
              <a:buNone/>
            </a:pPr>
            <a:r>
              <a:rPr lang="en-US" sz="1950" b="1" dirty="0">
                <a:solidFill>
                  <a:srgbClr val="323A36"/>
                </a:solidFill>
                <a:latin typeface="Arial" pitchFamily="34" charset="0"/>
                <a:ea typeface="Arial" pitchFamily="34" charset="-122"/>
                <a:cs typeface="Arial" pitchFamily="34" charset="-120"/>
              </a:rPr>
              <a:t>ngân sách dev nội bộ </a:t>
            </a:r>
            <a:pPr algn="l" indent="0" marL="0">
              <a:lnSpc>
                <a:spcPct val="145000"/>
              </a:lnSpc>
              <a:buNone/>
            </a:pPr>
            <a:r>
              <a:rPr lang="en-US" sz="1950" dirty="0">
                <a:solidFill>
                  <a:srgbClr val="323A36"/>
                </a:solidFill>
                <a:latin typeface="Arial" pitchFamily="34" charset="0"/>
                <a:ea typeface="Arial" pitchFamily="34" charset="-122"/>
                <a:cs typeface="Arial" pitchFamily="34" charset="-120"/>
              </a:rPr>
              <a:t>sẵn — chỉ cần convert sang license, không cần "tạo nhu cầu".</a:t>
            </a:r>
            <a:endParaRPr lang="en-US" sz="1950" dirty="0"/>
          </a:p>
        </p:txBody>
      </p:sp>
      <p:sp>
        <p:nvSpPr>
          <p:cNvPr id="17" name="Text 15"/>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11 / 24</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B · 03 · ENTERPRISE END-USER</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End-user Enterprise = nơi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willingness-to-pay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cao nhất.</a:t>
            </a:r>
            <a:endParaRPr lang="en-US" sz="5400" dirty="0"/>
          </a:p>
        </p:txBody>
      </p:sp>
      <p:sp>
        <p:nvSpPr>
          <p:cNvPr id="4" name="Text 2"/>
          <p:cNvSpPr/>
          <p:nvPr/>
        </p:nvSpPr>
        <p:spPr>
          <a:xfrm>
            <a:off x="1447800" y="3359712"/>
            <a:ext cx="7700840" cy="777610"/>
          </a:xfrm>
          <a:prstGeom prst="rect">
            <a:avLst/>
          </a:prstGeom>
          <a:noFill/>
          <a:ln/>
        </p:spPr>
        <p:txBody>
          <a:bodyPr wrap="square" lIns="25400" tIns="25400" rIns="25400" bIns="25400" rtlCol="0" anchor="t">
            <a:normAutofit/>
          </a:bodyPr>
          <a:lstStyle/>
          <a:p>
            <a:pPr algn="l" indent="0" marL="0">
              <a:lnSpc>
                <a:spcPct val="145000"/>
              </a:lnSpc>
              <a:buNone/>
            </a:pPr>
            <a:r>
              <a:rPr lang="en-US" sz="1950" b="1" dirty="0">
                <a:solidFill>
                  <a:srgbClr val="323A36"/>
                </a:solidFill>
                <a:latin typeface="Arial" pitchFamily="34" charset="0"/>
                <a:ea typeface="Arial" pitchFamily="34" charset="-122"/>
                <a:cs typeface="Arial" pitchFamily="34" charset="-120"/>
              </a:rPr>
              <a:t>80–90% đã được triển khai qua partner </a:t>
            </a:r>
            <a:pPr algn="l" indent="0" marL="0">
              <a:lnSpc>
                <a:spcPct val="145000"/>
              </a:lnSpc>
              <a:buNone/>
            </a:pPr>
            <a:r>
              <a:rPr lang="en-US" sz="1950" dirty="0">
                <a:solidFill>
                  <a:srgbClr val="323A36"/>
                </a:solidFill>
                <a:latin typeface="Arial" pitchFamily="34" charset="0"/>
                <a:ea typeface="Arial" pitchFamily="34" charset="-122"/>
                <a:cs typeface="Arial" pitchFamily="34" charset="-120"/>
              </a:rPr>
              <a:t>→ đã có ngân sách Odoo, mindset "tự động hoá".</a:t>
            </a:r>
            <a:endParaRPr lang="en-US" sz="1950" dirty="0"/>
          </a:p>
        </p:txBody>
      </p:sp>
      <p:sp>
        <p:nvSpPr>
          <p:cNvPr id="5" name="Text 3"/>
          <p:cNvSpPr/>
          <p:nvPr/>
        </p:nvSpPr>
        <p:spPr>
          <a:xfrm>
            <a:off x="1447800" y="4270540"/>
            <a:ext cx="7700840" cy="777610"/>
          </a:xfrm>
          <a:prstGeom prst="rect">
            <a:avLst/>
          </a:prstGeom>
          <a:noFill/>
          <a:ln/>
        </p:spPr>
        <p:txBody>
          <a:bodyPr wrap="square" lIns="25400" tIns="25400" rIns="25400" bIns="25400" rtlCol="0" anchor="t">
            <a:normAutofit/>
          </a:bodyPr>
          <a:lstStyle/>
          <a:p>
            <a:pPr algn="l" indent="0" marL="0">
              <a:lnSpc>
                <a:spcPct val="145000"/>
              </a:lnSpc>
              <a:buNone/>
            </a:pPr>
            <a:r>
              <a:rPr lang="en-US" sz="1950" b="1" dirty="0">
                <a:solidFill>
                  <a:srgbClr val="323A36"/>
                </a:solidFill>
                <a:latin typeface="Arial" pitchFamily="34" charset="0"/>
                <a:ea typeface="Arial" pitchFamily="34" charset="-122"/>
                <a:cs typeface="Arial" pitchFamily="34" charset="-120"/>
              </a:rPr>
              <a:t>Pain compliance + audit </a:t>
            </a:r>
            <a:pPr algn="l" indent="0" marL="0">
              <a:lnSpc>
                <a:spcPct val="145000"/>
              </a:lnSpc>
              <a:buNone/>
            </a:pPr>
            <a:r>
              <a:rPr lang="en-US" sz="1950" dirty="0">
                <a:solidFill>
                  <a:srgbClr val="323A36"/>
                </a:solidFill>
                <a:latin typeface="Arial" pitchFamily="34" charset="0"/>
                <a:ea typeface="Arial" pitchFamily="34" charset="-122"/>
                <a:cs typeface="Arial" pitchFamily="34" charset="-120"/>
              </a:rPr>
              <a:t>là pain đắt tiền — sai sót có thể truy thu, phạt, mất uy tín.</a:t>
            </a:r>
            <a:endParaRPr lang="en-US" sz="1950" dirty="0"/>
          </a:p>
        </p:txBody>
      </p:sp>
      <p:sp>
        <p:nvSpPr>
          <p:cNvPr id="6" name="Text 4"/>
          <p:cNvSpPr/>
          <p:nvPr/>
        </p:nvSpPr>
        <p:spPr>
          <a:xfrm>
            <a:off x="1447800" y="5181369"/>
            <a:ext cx="7700840" cy="777610"/>
          </a:xfrm>
          <a:prstGeom prst="rect">
            <a:avLst/>
          </a:prstGeom>
          <a:noFill/>
          <a:ln/>
        </p:spPr>
        <p:txBody>
          <a:bodyPr wrap="square" lIns="25400" tIns="25400" rIns="25400" bIns="25400" rtlCol="0" anchor="t">
            <a:normAutofit/>
          </a:bodyPr>
          <a:lstStyle/>
          <a:p>
            <a:pPr algn="l" indent="0" marL="0">
              <a:lnSpc>
                <a:spcPct val="145000"/>
              </a:lnSpc>
              <a:buNone/>
            </a:pPr>
            <a:r>
              <a:rPr lang="en-US" sz="1950" b="1" dirty="0">
                <a:solidFill>
                  <a:srgbClr val="323A36"/>
                </a:solidFill>
                <a:latin typeface="Arial" pitchFamily="34" charset="0"/>
                <a:ea typeface="Arial" pitchFamily="34" charset="-122"/>
                <a:cs typeface="Arial" pitchFamily="34" charset="-120"/>
              </a:rPr>
              <a:t>CFO/kế toán trưởng </a:t>
            </a:r>
            <a:pPr algn="l" indent="0" marL="0">
              <a:lnSpc>
                <a:spcPct val="145000"/>
              </a:lnSpc>
              <a:buNone/>
            </a:pPr>
            <a:r>
              <a:rPr lang="en-US" sz="1950" dirty="0">
                <a:solidFill>
                  <a:srgbClr val="323A36"/>
                </a:solidFill>
                <a:latin typeface="Arial" pitchFamily="34" charset="0"/>
                <a:ea typeface="Arial" pitchFamily="34" charset="-122"/>
                <a:cs typeface="Arial" pitchFamily="34" charset="-120"/>
              </a:rPr>
              <a:t>là người trực tiếp chịu — họ chủ động tìm giải pháp, không đợi partner đẩy.</a:t>
            </a:r>
            <a:endParaRPr lang="en-US" sz="1950" dirty="0"/>
          </a:p>
        </p:txBody>
      </p:sp>
      <p:sp>
        <p:nvSpPr>
          <p:cNvPr id="7" name="Text 5"/>
          <p:cNvSpPr/>
          <p:nvPr/>
        </p:nvSpPr>
        <p:spPr>
          <a:xfrm>
            <a:off x="1447800" y="6092197"/>
            <a:ext cx="7700840" cy="777610"/>
          </a:xfrm>
          <a:prstGeom prst="rect">
            <a:avLst/>
          </a:prstGeom>
          <a:noFill/>
          <a:ln/>
        </p:spPr>
        <p:txBody>
          <a:bodyPr wrap="square" lIns="25400" tIns="25400" rIns="25400" bIns="25400" rtlCol="0" anchor="t">
            <a:normAutofit/>
          </a:bodyPr>
          <a:lstStyle/>
          <a:p>
            <a:pPr algn="l" indent="0" marL="0">
              <a:lnSpc>
                <a:spcPct val="145000"/>
              </a:lnSpc>
              <a:buNone/>
            </a:pPr>
            <a:r>
              <a:rPr lang="en-US" sz="1950" b="1" dirty="0">
                <a:solidFill>
                  <a:srgbClr val="323A36"/>
                </a:solidFill>
                <a:latin typeface="Arial" pitchFamily="34" charset="0"/>
                <a:ea typeface="Arial" pitchFamily="34" charset="-122"/>
                <a:cs typeface="Arial" pitchFamily="34" charset="-120"/>
              </a:rPr>
              <a:t>Willingness-to-pay cao </a:t>
            </a:r>
            <a:pPr algn="l" indent="0" marL="0">
              <a:lnSpc>
                <a:spcPct val="145000"/>
              </a:lnSpc>
              <a:buNone/>
            </a:pPr>
            <a:r>
              <a:rPr lang="en-US" sz="1950" dirty="0">
                <a:solidFill>
                  <a:srgbClr val="323A36"/>
                </a:solidFill>
                <a:latin typeface="Arial" pitchFamily="34" charset="0"/>
                <a:ea typeface="Arial" pitchFamily="34" charset="-122"/>
                <a:cs typeface="Arial" pitchFamily="34" charset="-120"/>
              </a:rPr>
              <a:t>cho SLA, dedicated support, bảo mật audit-grade.</a:t>
            </a:r>
            <a:endParaRPr lang="en-US" sz="1950" dirty="0"/>
          </a:p>
        </p:txBody>
      </p:sp>
      <p:sp>
        <p:nvSpPr>
          <p:cNvPr id="8" name="Shape 6"/>
          <p:cNvSpPr/>
          <p:nvPr/>
        </p:nvSpPr>
        <p:spPr>
          <a:xfrm>
            <a:off x="9372534" y="3359712"/>
            <a:ext cx="7772466" cy="2361406"/>
          </a:xfrm>
          <a:prstGeom prst="roundRect">
            <a:avLst>
              <a:gd name="adj" fmla="val 8067"/>
            </a:avLst>
          </a:prstGeom>
          <a:solidFill>
            <a:srgbClr val="E6F8EF"/>
          </a:solidFill>
          <a:ln w="10583">
            <a:solidFill>
              <a:srgbClr val="CCF1DE"/>
            </a:solidFill>
            <a:prstDash val="solid"/>
          </a:ln>
        </p:spPr>
      </p:sp>
      <p:sp>
        <p:nvSpPr>
          <p:cNvPr id="9" name="Text 7"/>
          <p:cNvSpPr/>
          <p:nvPr/>
        </p:nvSpPr>
        <p:spPr>
          <a:xfrm>
            <a:off x="9764118" y="3713097"/>
            <a:ext cx="719897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BUYING BEHAVIOR</a:t>
            </a:r>
            <a:endParaRPr lang="en-US" sz="1800" dirty="0"/>
          </a:p>
        </p:txBody>
      </p:sp>
      <p:sp>
        <p:nvSpPr>
          <p:cNvPr id="10" name="Text 8"/>
          <p:cNvSpPr/>
          <p:nvPr/>
        </p:nvSpPr>
        <p:spPr>
          <a:xfrm>
            <a:off x="9764118" y="4204229"/>
            <a:ext cx="7198979" cy="344686"/>
          </a:xfrm>
          <a:prstGeom prst="rect">
            <a:avLst/>
          </a:prstGeom>
          <a:noFill/>
          <a:ln/>
        </p:spPr>
        <p:txBody>
          <a:bodyPr wrap="square" lIns="25400" tIns="25400" rIns="25400" bIns="25400" rtlCol="0" anchor="t">
            <a:normAutofit/>
          </a:bodyPr>
          <a:lstStyle/>
          <a:p>
            <a:pPr algn="l" indent="0" marL="0">
              <a:lnSpc>
                <a:spcPct val="115000"/>
              </a:lnSpc>
              <a:buNone/>
            </a:pPr>
            <a:r>
              <a:rPr lang="en-US" sz="2100" b="1" spc="-21" kern="0" dirty="0">
                <a:solidFill>
                  <a:srgbClr val="0F1311"/>
                </a:solidFill>
                <a:latin typeface="Arial" pitchFamily="34" charset="0"/>
                <a:ea typeface="Arial" pitchFamily="34" charset="-122"/>
                <a:cs typeface="Arial" pitchFamily="34" charset="-120"/>
              </a:rPr>
              <a:t>Top-down · Compliance-driven</a:t>
            </a:r>
            <a:endParaRPr lang="en-US" sz="2100" dirty="0"/>
          </a:p>
        </p:txBody>
      </p:sp>
      <p:sp>
        <p:nvSpPr>
          <p:cNvPr id="11" name="Text 9"/>
          <p:cNvSpPr/>
          <p:nvPr/>
        </p:nvSpPr>
        <p:spPr>
          <a:xfrm>
            <a:off x="9764118" y="4682133"/>
            <a:ext cx="7198979" cy="723702"/>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23A36"/>
                </a:solidFill>
                <a:latin typeface="Arial" pitchFamily="34" charset="0"/>
                <a:ea typeface="Arial" pitchFamily="34" charset="-122"/>
                <a:cs typeface="Arial" pitchFamily="34" charset="-120"/>
              </a:rPr>
              <a:t>CFO tìm giải pháp tự động hoá → ép kế toán trưởng → kế toán trưởng yêu cầu partner Odoo "phải có Bank + Tax automation".</a:t>
            </a:r>
            <a:endParaRPr lang="en-US" sz="1800" dirty="0"/>
          </a:p>
        </p:txBody>
      </p:sp>
      <p:sp>
        <p:nvSpPr>
          <p:cNvPr id="12" name="Shape 10"/>
          <p:cNvSpPr/>
          <p:nvPr/>
        </p:nvSpPr>
        <p:spPr>
          <a:xfrm>
            <a:off x="9372534" y="5949653"/>
            <a:ext cx="7772466" cy="2361406"/>
          </a:xfrm>
          <a:prstGeom prst="roundRect">
            <a:avLst>
              <a:gd name="adj" fmla="val 8067"/>
            </a:avLst>
          </a:prstGeom>
          <a:solidFill>
            <a:srgbClr val="E6F8EF"/>
          </a:solidFill>
          <a:ln w="10583">
            <a:solidFill>
              <a:srgbClr val="CCF1DE"/>
            </a:solidFill>
            <a:prstDash val="solid"/>
          </a:ln>
        </p:spPr>
      </p:sp>
      <p:sp>
        <p:nvSpPr>
          <p:cNvPr id="13" name="Text 11"/>
          <p:cNvSpPr/>
          <p:nvPr/>
        </p:nvSpPr>
        <p:spPr>
          <a:xfrm>
            <a:off x="9764118" y="6303037"/>
            <a:ext cx="719897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TRIGGER TO BUY</a:t>
            </a:r>
            <a:endParaRPr lang="en-US" sz="1800" dirty="0"/>
          </a:p>
        </p:txBody>
      </p:sp>
      <p:sp>
        <p:nvSpPr>
          <p:cNvPr id="14" name="Text 12"/>
          <p:cNvSpPr/>
          <p:nvPr/>
        </p:nvSpPr>
        <p:spPr>
          <a:xfrm>
            <a:off x="9764118" y="6794170"/>
            <a:ext cx="7198979" cy="344686"/>
          </a:xfrm>
          <a:prstGeom prst="rect">
            <a:avLst/>
          </a:prstGeom>
          <a:noFill/>
          <a:ln/>
        </p:spPr>
        <p:txBody>
          <a:bodyPr wrap="square" lIns="25400" tIns="25400" rIns="25400" bIns="25400" rtlCol="0" anchor="t">
            <a:normAutofit/>
          </a:bodyPr>
          <a:lstStyle/>
          <a:p>
            <a:pPr algn="l" indent="0" marL="0">
              <a:lnSpc>
                <a:spcPct val="115000"/>
              </a:lnSpc>
              <a:buNone/>
            </a:pPr>
            <a:r>
              <a:rPr lang="en-US" sz="2100" b="1" spc="-21" kern="0" dirty="0">
                <a:solidFill>
                  <a:srgbClr val="0F1311"/>
                </a:solidFill>
                <a:latin typeface="Arial" pitchFamily="34" charset="0"/>
                <a:ea typeface="Arial" pitchFamily="34" charset="-122"/>
                <a:cs typeface="Arial" pitchFamily="34" charset="-120"/>
              </a:rPr>
              <a:t>Audit &amp; quyết toán quý / năm</a:t>
            </a:r>
            <a:endParaRPr lang="en-US" sz="2100" dirty="0"/>
          </a:p>
        </p:txBody>
      </p:sp>
      <p:sp>
        <p:nvSpPr>
          <p:cNvPr id="15" name="Text 13"/>
          <p:cNvSpPr/>
          <p:nvPr/>
        </p:nvSpPr>
        <p:spPr>
          <a:xfrm>
            <a:off x="9764118" y="7272073"/>
            <a:ext cx="7198979" cy="723702"/>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23A36"/>
                </a:solidFill>
                <a:latin typeface="Arial" pitchFamily="34" charset="0"/>
                <a:ea typeface="Arial" pitchFamily="34" charset="-122"/>
                <a:cs typeface="Arial" pitchFamily="34" charset="-120"/>
              </a:rPr>
              <a:t>Quy luật rõ: ngân sách bật mở mạnh nhất 30–60 ngày trước kỳ quyết toán hoặc sau khi vừa pass / fail audit.</a:t>
            </a:r>
            <a:endParaRPr lang="en-US" sz="1800" dirty="0"/>
          </a:p>
        </p:txBody>
      </p:sp>
      <p:sp>
        <p:nvSpPr>
          <p:cNvPr id="16" name="Text 14"/>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12 / 24</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B · 04 · GO-TO-MARKET FLYWHEEL</a:t>
            </a:r>
            <a:endParaRPr lang="en-US" sz="1800" dirty="0"/>
          </a:p>
        </p:txBody>
      </p:sp>
      <p:sp>
        <p:nvSpPr>
          <p:cNvPr id="3" name="Text 1"/>
          <p:cNvSpPr/>
          <p:nvPr/>
        </p:nvSpPr>
        <p:spPr>
          <a:xfrm>
            <a:off x="1143000" y="1386417"/>
            <a:ext cx="14716126" cy="2198092"/>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Chiến lược song hành: CASSO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build awareness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 partner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buộc phải dùng</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a:t>
            </a:r>
            <a:endParaRPr lang="en-US" sz="5400" dirty="0"/>
          </a:p>
        </p:txBody>
      </p:sp>
      <p:sp>
        <p:nvSpPr>
          <p:cNvPr id="4" name="Shape 2"/>
          <p:cNvSpPr/>
          <p:nvPr/>
        </p:nvSpPr>
        <p:spPr>
          <a:xfrm>
            <a:off x="1143000" y="4079710"/>
            <a:ext cx="16002001" cy="1213280"/>
          </a:xfrm>
          <a:prstGeom prst="roundRect">
            <a:avLst>
              <a:gd name="adj" fmla="val 10991"/>
            </a:avLst>
          </a:prstGeom>
          <a:solidFill>
            <a:srgbClr val="FFFFFF"/>
          </a:solidFill>
          <a:ln w="10583">
            <a:solidFill>
              <a:srgbClr val="E2E7E5"/>
            </a:solidFill>
            <a:prstDash val="solid"/>
          </a:ln>
        </p:spPr>
      </p:sp>
      <p:sp>
        <p:nvSpPr>
          <p:cNvPr id="5" name="Text 3"/>
          <p:cNvSpPr/>
          <p:nvPr/>
        </p:nvSpPr>
        <p:spPr>
          <a:xfrm>
            <a:off x="1420151" y="4419534"/>
            <a:ext cx="838200" cy="571566"/>
          </a:xfrm>
          <a:prstGeom prst="rect">
            <a:avLst/>
          </a:prstGeom>
          <a:noFill/>
          <a:ln/>
        </p:spPr>
        <p:txBody>
          <a:bodyPr wrap="square" lIns="25400" tIns="25400" rIns="25400" bIns="25400" rtlCol="0" anchor="t">
            <a:normAutofit/>
          </a:bodyPr>
          <a:lstStyle/>
          <a:p>
            <a:pPr algn="l" indent="0" marL="0">
              <a:lnSpc>
                <a:spcPct val="100000"/>
              </a:lnSpc>
              <a:buNone/>
            </a:pPr>
            <a:r>
              <a:rPr lang="en-US" sz="4200" b="1" spc="-126" kern="0" dirty="0">
                <a:solidFill>
                  <a:srgbClr val="00B26A"/>
                </a:solidFill>
                <a:latin typeface="Arial" pitchFamily="34" charset="0"/>
                <a:ea typeface="Arial" pitchFamily="34" charset="-122"/>
                <a:cs typeface="Arial" pitchFamily="34" charset="-120"/>
              </a:rPr>
              <a:t>1</a:t>
            </a:r>
            <a:endParaRPr lang="en-US" sz="4200" dirty="0"/>
          </a:p>
        </p:txBody>
      </p:sp>
      <p:sp>
        <p:nvSpPr>
          <p:cNvPr id="6" name="Text 4"/>
          <p:cNvSpPr/>
          <p:nvPr/>
        </p:nvSpPr>
        <p:spPr>
          <a:xfrm>
            <a:off x="2448719" y="4318827"/>
            <a:ext cx="14851704" cy="384870"/>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0F1311"/>
                </a:solidFill>
                <a:latin typeface="Arial" pitchFamily="34" charset="0"/>
                <a:ea typeface="Arial" pitchFamily="34" charset="-122"/>
                <a:cs typeface="Arial" pitchFamily="34" charset="-120"/>
              </a:rPr>
              <a:t>CASSO build awareness với CFO / kế toán trưởng</a:t>
            </a:r>
            <a:endParaRPr lang="en-US" sz="1950" dirty="0"/>
          </a:p>
        </p:txBody>
      </p:sp>
      <p:sp>
        <p:nvSpPr>
          <p:cNvPr id="7" name="Text 5"/>
          <p:cNvSpPr/>
          <p:nvPr/>
        </p:nvSpPr>
        <p:spPr>
          <a:xfrm>
            <a:off x="2448719" y="4722647"/>
            <a:ext cx="14851704" cy="369325"/>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Content, case study, sự kiện CFO Talk — không bán license trực tiếp cho end-user, mà tạo nhận biết về pain và giải pháp.</a:t>
            </a:r>
            <a:endParaRPr lang="en-US" sz="1800" dirty="0"/>
          </a:p>
        </p:txBody>
      </p:sp>
      <p:sp>
        <p:nvSpPr>
          <p:cNvPr id="8" name="Shape 6"/>
          <p:cNvSpPr/>
          <p:nvPr/>
        </p:nvSpPr>
        <p:spPr>
          <a:xfrm>
            <a:off x="1143000" y="5521523"/>
            <a:ext cx="16002001" cy="1213280"/>
          </a:xfrm>
          <a:prstGeom prst="roundRect">
            <a:avLst>
              <a:gd name="adj" fmla="val 10991"/>
            </a:avLst>
          </a:prstGeom>
          <a:solidFill>
            <a:srgbClr val="FFFFFF"/>
          </a:solidFill>
          <a:ln w="10583">
            <a:solidFill>
              <a:srgbClr val="E2E7E5"/>
            </a:solidFill>
            <a:prstDash val="solid"/>
          </a:ln>
        </p:spPr>
      </p:sp>
      <p:sp>
        <p:nvSpPr>
          <p:cNvPr id="9" name="Text 7"/>
          <p:cNvSpPr/>
          <p:nvPr/>
        </p:nvSpPr>
        <p:spPr>
          <a:xfrm>
            <a:off x="1420151" y="5861348"/>
            <a:ext cx="838200" cy="571566"/>
          </a:xfrm>
          <a:prstGeom prst="rect">
            <a:avLst/>
          </a:prstGeom>
          <a:noFill/>
          <a:ln/>
        </p:spPr>
        <p:txBody>
          <a:bodyPr wrap="square" lIns="25400" tIns="25400" rIns="25400" bIns="25400" rtlCol="0" anchor="t">
            <a:normAutofit/>
          </a:bodyPr>
          <a:lstStyle/>
          <a:p>
            <a:pPr algn="l" indent="0" marL="0">
              <a:lnSpc>
                <a:spcPct val="100000"/>
              </a:lnSpc>
              <a:buNone/>
            </a:pPr>
            <a:r>
              <a:rPr lang="en-US" sz="4200" b="1" spc="-126" kern="0" dirty="0">
                <a:solidFill>
                  <a:srgbClr val="00B26A"/>
                </a:solidFill>
                <a:latin typeface="Arial" pitchFamily="34" charset="0"/>
                <a:ea typeface="Arial" pitchFamily="34" charset="-122"/>
                <a:cs typeface="Arial" pitchFamily="34" charset="-120"/>
              </a:rPr>
              <a:t>2</a:t>
            </a:r>
            <a:endParaRPr lang="en-US" sz="4200" dirty="0"/>
          </a:p>
        </p:txBody>
      </p:sp>
      <p:sp>
        <p:nvSpPr>
          <p:cNvPr id="10" name="Text 8"/>
          <p:cNvSpPr/>
          <p:nvPr/>
        </p:nvSpPr>
        <p:spPr>
          <a:xfrm>
            <a:off x="2448719" y="5760641"/>
            <a:ext cx="14851704" cy="384870"/>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0F1311"/>
                </a:solidFill>
                <a:latin typeface="Arial" pitchFamily="34" charset="0"/>
                <a:ea typeface="Arial" pitchFamily="34" charset="-122"/>
                <a:cs typeface="Arial" pitchFamily="34" charset="-120"/>
              </a:rPr>
              <a:t>CFO / kế toán trưởng kéo demand về phía partner</a:t>
            </a:r>
            <a:endParaRPr lang="en-US" sz="1950" dirty="0"/>
          </a:p>
        </p:txBody>
      </p:sp>
      <p:sp>
        <p:nvSpPr>
          <p:cNvPr id="11" name="Text 9"/>
          <p:cNvSpPr/>
          <p:nvPr/>
        </p:nvSpPr>
        <p:spPr>
          <a:xfrm>
            <a:off x="2448719" y="6164462"/>
            <a:ext cx="14851704" cy="369325"/>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"Bên em đang triển khai Odoo cho công ty mình — phải có module CASSO Bank + Tax, không thì khỏi ký hợp đồng."</a:t>
            </a:r>
            <a:endParaRPr lang="en-US" sz="1800" dirty="0"/>
          </a:p>
        </p:txBody>
      </p:sp>
      <p:sp>
        <p:nvSpPr>
          <p:cNvPr id="12" name="Shape 10"/>
          <p:cNvSpPr/>
          <p:nvPr/>
        </p:nvSpPr>
        <p:spPr>
          <a:xfrm>
            <a:off x="1143000" y="6963338"/>
            <a:ext cx="16002001" cy="1213280"/>
          </a:xfrm>
          <a:prstGeom prst="roundRect">
            <a:avLst>
              <a:gd name="adj" fmla="val 10991"/>
            </a:avLst>
          </a:prstGeom>
          <a:solidFill>
            <a:srgbClr val="FFFFFF"/>
          </a:solidFill>
          <a:ln w="10583">
            <a:solidFill>
              <a:srgbClr val="E2E7E5"/>
            </a:solidFill>
            <a:prstDash val="solid"/>
          </a:ln>
        </p:spPr>
      </p:sp>
      <p:sp>
        <p:nvSpPr>
          <p:cNvPr id="13" name="Text 11"/>
          <p:cNvSpPr/>
          <p:nvPr/>
        </p:nvSpPr>
        <p:spPr>
          <a:xfrm>
            <a:off x="1420151" y="7303162"/>
            <a:ext cx="838200" cy="571566"/>
          </a:xfrm>
          <a:prstGeom prst="rect">
            <a:avLst/>
          </a:prstGeom>
          <a:noFill/>
          <a:ln/>
        </p:spPr>
        <p:txBody>
          <a:bodyPr wrap="square" lIns="25400" tIns="25400" rIns="25400" bIns="25400" rtlCol="0" anchor="t">
            <a:normAutofit/>
          </a:bodyPr>
          <a:lstStyle/>
          <a:p>
            <a:pPr algn="l" indent="0" marL="0">
              <a:lnSpc>
                <a:spcPct val="100000"/>
              </a:lnSpc>
              <a:buNone/>
            </a:pPr>
            <a:r>
              <a:rPr lang="en-US" sz="4200" b="1" spc="-126" kern="0" dirty="0">
                <a:solidFill>
                  <a:srgbClr val="00B26A"/>
                </a:solidFill>
                <a:latin typeface="Arial" pitchFamily="34" charset="0"/>
                <a:ea typeface="Arial" pitchFamily="34" charset="-122"/>
                <a:cs typeface="Arial" pitchFamily="34" charset="-120"/>
              </a:rPr>
              <a:t>3</a:t>
            </a:r>
            <a:endParaRPr lang="en-US" sz="4200" dirty="0"/>
          </a:p>
        </p:txBody>
      </p:sp>
      <p:sp>
        <p:nvSpPr>
          <p:cNvPr id="14" name="Text 12"/>
          <p:cNvSpPr/>
          <p:nvPr/>
        </p:nvSpPr>
        <p:spPr>
          <a:xfrm>
            <a:off x="2448719" y="7202455"/>
            <a:ext cx="14851704" cy="384870"/>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0F1311"/>
                </a:solidFill>
                <a:latin typeface="Arial" pitchFamily="34" charset="0"/>
                <a:ea typeface="Arial" pitchFamily="34" charset="-122"/>
                <a:cs typeface="Arial" pitchFamily="34" charset="-120"/>
              </a:rPr>
              <a:t>Partner buộc phải dùng CASSO — dù muốn hay không</a:t>
            </a:r>
            <a:endParaRPr lang="en-US" sz="1950" dirty="0"/>
          </a:p>
        </p:txBody>
      </p:sp>
      <p:sp>
        <p:nvSpPr>
          <p:cNvPr id="15" name="Text 13"/>
          <p:cNvSpPr/>
          <p:nvPr/>
        </p:nvSpPr>
        <p:spPr>
          <a:xfrm>
            <a:off x="2448719" y="7606275"/>
            <a:ext cx="14851704" cy="369325"/>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Partner mua license CASSO để đáp ứng yêu cầu khách. Mỗi partner deploy = nhiều end-user activate → flywheel quay tiếp.</a:t>
            </a:r>
            <a:endParaRPr lang="en-US" sz="1800" dirty="0"/>
          </a:p>
        </p:txBody>
      </p:sp>
      <p:sp>
        <p:nvSpPr>
          <p:cNvPr id="16" name="Text 14"/>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13 / 24</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1A12"/>
        </a:solidFill>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FFFFFF">
              <a:alpha val="4000"/>
            </a:srgbClr>
          </a:solidFill>
          <a:ln/>
        </p:spPr>
      </p:sp>
      <p:sp>
        <p:nvSpPr>
          <p:cNvPr id="3" name="Text 1"/>
          <p:cNvSpPr/>
          <p:nvPr/>
        </p:nvSpPr>
        <p:spPr>
          <a:xfrm>
            <a:off x="1143000" y="2691970"/>
            <a:ext cx="16482061" cy="464741"/>
          </a:xfrm>
          <a:prstGeom prst="rect">
            <a:avLst/>
          </a:prstGeom>
          <a:noFill/>
          <a:ln/>
        </p:spPr>
        <p:txBody>
          <a:bodyPr wrap="square" lIns="25400" tIns="25400" rIns="25400" bIns="25400" rtlCol="0" anchor="t">
            <a:normAutofit/>
          </a:bodyPr>
          <a:lstStyle/>
          <a:p>
            <a:pPr algn="l" indent="0" marL="0">
              <a:lnSpc>
                <a:spcPct val="140000"/>
              </a:lnSpc>
              <a:buNone/>
            </a:pPr>
            <a:r>
              <a:rPr lang="en-US" sz="2400" spc="432" kern="0" dirty="0">
                <a:solidFill>
                  <a:srgbClr val="66D59C"/>
                </a:solidFill>
                <a:latin typeface="Courier New" pitchFamily="34" charset="0"/>
                <a:ea typeface="Courier New" pitchFamily="34" charset="-122"/>
                <a:cs typeface="Courier New" pitchFamily="34" charset="-120"/>
              </a:rPr>
              <a:t>SECTION · C</a:t>
            </a:r>
            <a:endParaRPr lang="en-US" sz="2400" dirty="0"/>
          </a:p>
        </p:txBody>
      </p:sp>
      <p:sp>
        <p:nvSpPr>
          <p:cNvPr id="4" name="Text 2"/>
          <p:cNvSpPr/>
          <p:nvPr/>
        </p:nvSpPr>
        <p:spPr>
          <a:xfrm>
            <a:off x="1143000" y="3423378"/>
            <a:ext cx="14716126" cy="2788775"/>
          </a:xfrm>
          <a:prstGeom prst="rect">
            <a:avLst/>
          </a:prstGeom>
          <a:noFill/>
          <a:ln/>
        </p:spPr>
        <p:txBody>
          <a:bodyPr wrap="square" lIns="25400" tIns="25400" rIns="25400" bIns="25400" rtlCol="0" anchor="t">
            <a:normAutofit/>
          </a:bodyPr>
          <a:lstStyle/>
          <a:p>
            <a:pPr algn="l" indent="0" marL="0">
              <a:lnSpc>
                <a:spcPct val="95000"/>
              </a:lnSpc>
              <a:buNone/>
            </a:pPr>
            <a:r>
              <a:rPr lang="en-US" sz="11400" b="1" spc="-456" kern="0" dirty="0">
                <a:solidFill>
                  <a:srgbClr val="FFFFFF"/>
                </a:solidFill>
                <a:latin typeface="Arial" pitchFamily="34" charset="0"/>
                <a:ea typeface="Arial" pitchFamily="34" charset="-122"/>
                <a:cs typeface="Arial" pitchFamily="34" charset="-120"/>
              </a:rPr>
              <a:t>Packaging &amp; </a:t>
            </a:r>
            <a:pPr algn="l" indent="0" marL="0">
              <a:lnSpc>
                <a:spcPct val="95000"/>
              </a:lnSpc>
              <a:buNone/>
            </a:pPr>
            <a:r>
              <a:rPr lang="en-US" sz="11400" b="1" spc="-456" kern="0" dirty="0">
                <a:solidFill>
                  <a:srgbClr val="66D59C"/>
                </a:solidFill>
                <a:latin typeface="Arial" pitchFamily="34" charset="0"/>
                <a:ea typeface="Arial" pitchFamily="34" charset="-122"/>
                <a:cs typeface="Arial" pitchFamily="34" charset="-120"/>
              </a:rPr>
              <a:t>Pricing</a:t>
            </a:r>
            <a:pPr algn="l" indent="0" marL="0">
              <a:lnSpc>
                <a:spcPct val="95000"/>
              </a:lnSpc>
              <a:buNone/>
            </a:pPr>
            <a:r>
              <a:rPr lang="en-US" sz="11400" b="1" spc="-456" kern="0" dirty="0">
                <a:solidFill>
                  <a:srgbClr val="FFFFFF"/>
                </a:solidFill>
                <a:latin typeface="Arial" pitchFamily="34" charset="0"/>
                <a:ea typeface="Arial" pitchFamily="34" charset="-122"/>
                <a:cs typeface="Arial" pitchFamily="34" charset="-120"/>
              </a:rPr>
              <a:t>.</a:t>
            </a:r>
            <a:endParaRPr lang="en-US" sz="11400" dirty="0"/>
          </a:p>
        </p:txBody>
      </p:sp>
      <p:sp>
        <p:nvSpPr>
          <p:cNvPr id="5" name="Shape 3"/>
          <p:cNvSpPr/>
          <p:nvPr/>
        </p:nvSpPr>
        <p:spPr>
          <a:xfrm>
            <a:off x="1143000" y="6478819"/>
            <a:ext cx="914301" cy="38034"/>
          </a:xfrm>
          <a:prstGeom prst="rect">
            <a:avLst/>
          </a:prstGeom>
          <a:solidFill>
            <a:srgbClr val="00B26A"/>
          </a:solidFill>
          <a:ln/>
        </p:spPr>
      </p:sp>
      <p:sp>
        <p:nvSpPr>
          <p:cNvPr id="6" name="Text 4"/>
          <p:cNvSpPr/>
          <p:nvPr/>
        </p:nvSpPr>
        <p:spPr>
          <a:xfrm>
            <a:off x="1143000" y="6821620"/>
            <a:ext cx="11772900" cy="81134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FFFFFF">
                    <a:alpha val="65000"/>
                  </a:srgbClr>
                </a:solidFill>
                <a:latin typeface="Arial" pitchFamily="34" charset="0"/>
                <a:ea typeface="Arial" pitchFamily="34" charset="-122"/>
                <a:cs typeface="Arial" pitchFamily="34" charset="-120"/>
              </a:rPr>
              <a:t>Cách đóng gói module để bán và 2 bộ tier cho 2 phân khúc — tên + value, con số sẽ chốt sau khi validate.</a:t>
            </a:r>
            <a:endParaRPr lang="en-US" sz="2100" dirty="0"/>
          </a:p>
        </p:txBody>
      </p:sp>
      <p:sp>
        <p:nvSpPr>
          <p:cNvPr id="7" name="Text 5"/>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FFFFFF">
                    <a:alpha val="40000"/>
                  </a:srgbClr>
                </a:solidFill>
                <a:latin typeface="Courier New" pitchFamily="34" charset="0"/>
                <a:ea typeface="Courier New" pitchFamily="34" charset="-122"/>
                <a:cs typeface="Courier New" pitchFamily="34" charset="-120"/>
              </a:rPr>
              <a:t>14 / 24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C · 01 · COMPETITIVE BENCHMARK</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MISA AMIS vs CASSO —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khác lane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 không head-to-head.</a:t>
            </a:r>
            <a:endParaRPr lang="en-US" sz="5400" dirty="0"/>
          </a:p>
        </p:txBody>
      </p:sp>
      <p:sp>
        <p:nvSpPr>
          <p:cNvPr id="4" name="Shape 2"/>
          <p:cNvSpPr/>
          <p:nvPr/>
        </p:nvSpPr>
        <p:spPr>
          <a:xfrm>
            <a:off x="1143000" y="3359712"/>
            <a:ext cx="16002001" cy="6041595"/>
          </a:xfrm>
          <a:prstGeom prst="roundRect">
            <a:avLst>
              <a:gd name="adj" fmla="val 2838"/>
            </a:avLst>
          </a:prstGeom>
          <a:solidFill>
            <a:srgbClr val="FFFFFF"/>
          </a:solidFill>
          <a:ln w="10583">
            <a:solidFill>
              <a:srgbClr val="E2E7E5"/>
            </a:solidFill>
            <a:prstDash val="solid"/>
          </a:ln>
        </p:spPr>
      </p:sp>
      <p:sp>
        <p:nvSpPr>
          <p:cNvPr id="5" name="Shape 3"/>
          <p:cNvSpPr/>
          <p:nvPr/>
        </p:nvSpPr>
        <p:spPr>
          <a:xfrm>
            <a:off x="1153583" y="3370296"/>
            <a:ext cx="3048000" cy="814421"/>
          </a:xfrm>
          <a:prstGeom prst="rect">
            <a:avLst/>
          </a:prstGeom>
          <a:solidFill>
            <a:srgbClr val="F7F9F8"/>
          </a:solidFill>
          <a:ln/>
        </p:spPr>
      </p:sp>
      <p:sp>
        <p:nvSpPr>
          <p:cNvPr id="6" name="Shape 4"/>
          <p:cNvSpPr/>
          <p:nvPr/>
        </p:nvSpPr>
        <p:spPr>
          <a:xfrm>
            <a:off x="1153583" y="4174133"/>
            <a:ext cx="3048000" cy="10583"/>
          </a:xfrm>
          <a:prstGeom prst="rect">
            <a:avLst/>
          </a:prstGeom>
          <a:solidFill>
            <a:srgbClr val="E2E7E5"/>
          </a:solidFill>
          <a:ln/>
        </p:spPr>
      </p:sp>
      <p:sp>
        <p:nvSpPr>
          <p:cNvPr id="7" name="Shape 5"/>
          <p:cNvSpPr/>
          <p:nvPr/>
        </p:nvSpPr>
        <p:spPr>
          <a:xfrm>
            <a:off x="4191000" y="3370296"/>
            <a:ext cx="10583" cy="814421"/>
          </a:xfrm>
          <a:prstGeom prst="rect">
            <a:avLst/>
          </a:prstGeom>
          <a:solidFill>
            <a:srgbClr val="E2E7E5"/>
          </a:solidFill>
          <a:ln/>
        </p:spPr>
      </p:sp>
      <p:sp>
        <p:nvSpPr>
          <p:cNvPr id="8" name="Shape 6"/>
          <p:cNvSpPr/>
          <p:nvPr/>
        </p:nvSpPr>
        <p:spPr>
          <a:xfrm>
            <a:off x="4201584" y="3370296"/>
            <a:ext cx="6466417" cy="814421"/>
          </a:xfrm>
          <a:prstGeom prst="rect">
            <a:avLst/>
          </a:prstGeom>
          <a:solidFill>
            <a:srgbClr val="EFF2F1"/>
          </a:solidFill>
          <a:ln/>
        </p:spPr>
      </p:sp>
      <p:sp>
        <p:nvSpPr>
          <p:cNvPr id="9" name="Shape 7"/>
          <p:cNvSpPr/>
          <p:nvPr/>
        </p:nvSpPr>
        <p:spPr>
          <a:xfrm>
            <a:off x="4201584" y="4174133"/>
            <a:ext cx="6466417" cy="10583"/>
          </a:xfrm>
          <a:prstGeom prst="rect">
            <a:avLst/>
          </a:prstGeom>
          <a:solidFill>
            <a:srgbClr val="E2E7E5"/>
          </a:solidFill>
          <a:ln/>
        </p:spPr>
      </p:sp>
      <p:sp>
        <p:nvSpPr>
          <p:cNvPr id="10" name="Shape 8"/>
          <p:cNvSpPr/>
          <p:nvPr/>
        </p:nvSpPr>
        <p:spPr>
          <a:xfrm>
            <a:off x="10657417" y="3370296"/>
            <a:ext cx="10583" cy="814421"/>
          </a:xfrm>
          <a:prstGeom prst="rect">
            <a:avLst/>
          </a:prstGeom>
          <a:solidFill>
            <a:srgbClr val="E2E7E5"/>
          </a:solidFill>
          <a:ln/>
        </p:spPr>
      </p:sp>
      <p:sp>
        <p:nvSpPr>
          <p:cNvPr id="11" name="Text 9"/>
          <p:cNvSpPr/>
          <p:nvPr/>
        </p:nvSpPr>
        <p:spPr>
          <a:xfrm>
            <a:off x="4468284" y="3598896"/>
            <a:ext cx="6116426" cy="384737"/>
          </a:xfrm>
          <a:prstGeom prst="rect">
            <a:avLst/>
          </a:prstGeom>
          <a:noFill/>
          <a:ln/>
        </p:spPr>
        <p:txBody>
          <a:bodyPr wrap="square" lIns="25400" tIns="25400" rIns="25400" bIns="25400" rtlCol="0" anchor="ctr">
            <a:normAutofit/>
          </a:bodyPr>
          <a:lstStyle/>
          <a:p>
            <a:pPr algn="l" indent="0" marL="0">
              <a:lnSpc>
                <a:spcPct val="140000"/>
              </a:lnSpc>
              <a:buNone/>
            </a:pPr>
            <a:r>
              <a:rPr lang="en-US" sz="1950" b="1" spc="-19" kern="0" dirty="0">
                <a:solidFill>
                  <a:srgbClr val="323A36"/>
                </a:solidFill>
                <a:latin typeface="Arial" pitchFamily="34" charset="0"/>
                <a:ea typeface="Arial" pitchFamily="34" charset="-122"/>
                <a:cs typeface="Arial" pitchFamily="34" charset="-120"/>
              </a:rPr>
              <a:t>MISA AMIS</a:t>
            </a:r>
            <a:endParaRPr lang="en-US" sz="1950" dirty="0"/>
          </a:p>
        </p:txBody>
      </p:sp>
      <p:sp>
        <p:nvSpPr>
          <p:cNvPr id="12" name="Shape 10"/>
          <p:cNvSpPr/>
          <p:nvPr/>
        </p:nvSpPr>
        <p:spPr>
          <a:xfrm>
            <a:off x="10668000" y="3370296"/>
            <a:ext cx="6466417" cy="814421"/>
          </a:xfrm>
          <a:prstGeom prst="rect">
            <a:avLst/>
          </a:prstGeom>
          <a:solidFill>
            <a:srgbClr val="E6F8EF"/>
          </a:solidFill>
          <a:ln/>
        </p:spPr>
      </p:sp>
      <p:sp>
        <p:nvSpPr>
          <p:cNvPr id="13" name="Shape 11"/>
          <p:cNvSpPr/>
          <p:nvPr/>
        </p:nvSpPr>
        <p:spPr>
          <a:xfrm>
            <a:off x="10668000" y="4174133"/>
            <a:ext cx="6466417" cy="10583"/>
          </a:xfrm>
          <a:prstGeom prst="rect">
            <a:avLst/>
          </a:prstGeom>
          <a:solidFill>
            <a:srgbClr val="E2E7E5"/>
          </a:solidFill>
          <a:ln/>
        </p:spPr>
      </p:sp>
      <p:sp>
        <p:nvSpPr>
          <p:cNvPr id="14" name="Text 12"/>
          <p:cNvSpPr/>
          <p:nvPr/>
        </p:nvSpPr>
        <p:spPr>
          <a:xfrm>
            <a:off x="10934700" y="3598896"/>
            <a:ext cx="6127009" cy="384737"/>
          </a:xfrm>
          <a:prstGeom prst="rect">
            <a:avLst/>
          </a:prstGeom>
          <a:noFill/>
          <a:ln/>
        </p:spPr>
        <p:txBody>
          <a:bodyPr wrap="square" lIns="25400" tIns="25400" rIns="25400" bIns="25400" rtlCol="0" anchor="ctr">
            <a:normAutofit/>
          </a:bodyPr>
          <a:lstStyle/>
          <a:p>
            <a:pPr algn="l" indent="0" marL="0">
              <a:lnSpc>
                <a:spcPct val="140000"/>
              </a:lnSpc>
              <a:buNone/>
            </a:pPr>
            <a:r>
              <a:rPr lang="en-US" sz="1950" b="1" spc="-19" kern="0" dirty="0">
                <a:solidFill>
                  <a:srgbClr val="00482A"/>
                </a:solidFill>
                <a:latin typeface="Arial" pitchFamily="34" charset="0"/>
                <a:ea typeface="Arial" pitchFamily="34" charset="-122"/>
                <a:cs typeface="Arial" pitchFamily="34" charset="-120"/>
              </a:rPr>
              <a:t>CASSO · Odoo by Cas</a:t>
            </a:r>
            <a:endParaRPr lang="en-US" sz="1950" dirty="0"/>
          </a:p>
        </p:txBody>
      </p:sp>
      <p:sp>
        <p:nvSpPr>
          <p:cNvPr id="15" name="Shape 13"/>
          <p:cNvSpPr/>
          <p:nvPr/>
        </p:nvSpPr>
        <p:spPr>
          <a:xfrm>
            <a:off x="1153583" y="4184716"/>
            <a:ext cx="3048000" cy="1107281"/>
          </a:xfrm>
          <a:prstGeom prst="rect">
            <a:avLst/>
          </a:prstGeom>
          <a:solidFill>
            <a:srgbClr val="F7F9F8"/>
          </a:solidFill>
          <a:ln/>
        </p:spPr>
      </p:sp>
      <p:sp>
        <p:nvSpPr>
          <p:cNvPr id="16" name="Shape 14"/>
          <p:cNvSpPr/>
          <p:nvPr/>
        </p:nvSpPr>
        <p:spPr>
          <a:xfrm>
            <a:off x="1153583" y="5281414"/>
            <a:ext cx="3048000" cy="10583"/>
          </a:xfrm>
          <a:prstGeom prst="rect">
            <a:avLst/>
          </a:prstGeom>
          <a:solidFill>
            <a:srgbClr val="E2E7E5"/>
          </a:solidFill>
          <a:ln/>
        </p:spPr>
      </p:sp>
      <p:sp>
        <p:nvSpPr>
          <p:cNvPr id="17" name="Shape 15"/>
          <p:cNvSpPr/>
          <p:nvPr/>
        </p:nvSpPr>
        <p:spPr>
          <a:xfrm>
            <a:off x="4191000" y="4184716"/>
            <a:ext cx="10583" cy="1107281"/>
          </a:xfrm>
          <a:prstGeom prst="rect">
            <a:avLst/>
          </a:prstGeom>
          <a:solidFill>
            <a:srgbClr val="E2E7E5"/>
          </a:solidFill>
          <a:ln/>
        </p:spPr>
      </p:sp>
      <p:sp>
        <p:nvSpPr>
          <p:cNvPr id="18" name="Text 16"/>
          <p:cNvSpPr/>
          <p:nvPr/>
        </p:nvSpPr>
        <p:spPr>
          <a:xfrm>
            <a:off x="1420283" y="4413316"/>
            <a:ext cx="2595457"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VỊ TRÍ SẢN PHẨM</a:t>
            </a:r>
            <a:endParaRPr lang="en-US" sz="1800" dirty="0"/>
          </a:p>
        </p:txBody>
      </p:sp>
      <p:sp>
        <p:nvSpPr>
          <p:cNvPr id="19" name="Shape 17"/>
          <p:cNvSpPr/>
          <p:nvPr/>
        </p:nvSpPr>
        <p:spPr>
          <a:xfrm>
            <a:off x="4201584" y="5281414"/>
            <a:ext cx="6466417" cy="10583"/>
          </a:xfrm>
          <a:prstGeom prst="rect">
            <a:avLst/>
          </a:prstGeom>
          <a:solidFill>
            <a:srgbClr val="E2E7E5"/>
          </a:solidFill>
          <a:ln/>
        </p:spPr>
      </p:sp>
      <p:sp>
        <p:nvSpPr>
          <p:cNvPr id="20" name="Shape 18"/>
          <p:cNvSpPr/>
          <p:nvPr/>
        </p:nvSpPr>
        <p:spPr>
          <a:xfrm>
            <a:off x="10657417" y="4184716"/>
            <a:ext cx="10583" cy="1107281"/>
          </a:xfrm>
          <a:prstGeom prst="rect">
            <a:avLst/>
          </a:prstGeom>
          <a:solidFill>
            <a:srgbClr val="E2E7E5"/>
          </a:solidFill>
          <a:ln/>
        </p:spPr>
      </p:sp>
      <p:sp>
        <p:nvSpPr>
          <p:cNvPr id="21" name="Text 19"/>
          <p:cNvSpPr/>
          <p:nvPr/>
        </p:nvSpPr>
        <p:spPr>
          <a:xfrm>
            <a:off x="4468284" y="4413316"/>
            <a:ext cx="6116426"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Phần mềm kế toán đứng riêng, có ERP-lite cho SMB.</a:t>
            </a:r>
            <a:endParaRPr lang="en-US" sz="1800" dirty="0"/>
          </a:p>
        </p:txBody>
      </p:sp>
      <p:sp>
        <p:nvSpPr>
          <p:cNvPr id="22" name="Shape 20"/>
          <p:cNvSpPr/>
          <p:nvPr/>
        </p:nvSpPr>
        <p:spPr>
          <a:xfrm>
            <a:off x="10668000" y="4184716"/>
            <a:ext cx="6466417" cy="1107281"/>
          </a:xfrm>
          <a:prstGeom prst="rect">
            <a:avLst/>
          </a:prstGeom>
          <a:solidFill>
            <a:srgbClr val="00B26A">
              <a:alpha val="4000"/>
            </a:srgbClr>
          </a:solidFill>
          <a:ln/>
        </p:spPr>
      </p:sp>
      <p:sp>
        <p:nvSpPr>
          <p:cNvPr id="23" name="Shape 21"/>
          <p:cNvSpPr/>
          <p:nvPr/>
        </p:nvSpPr>
        <p:spPr>
          <a:xfrm>
            <a:off x="10668000" y="5281414"/>
            <a:ext cx="6466417" cy="10583"/>
          </a:xfrm>
          <a:prstGeom prst="rect">
            <a:avLst/>
          </a:prstGeom>
          <a:solidFill>
            <a:srgbClr val="E2E7E5"/>
          </a:solidFill>
          <a:ln/>
        </p:spPr>
      </p:sp>
      <p:sp>
        <p:nvSpPr>
          <p:cNvPr id="24" name="Text 22"/>
          <p:cNvSpPr/>
          <p:nvPr/>
        </p:nvSpPr>
        <p:spPr>
          <a:xfrm>
            <a:off x="10934700" y="4413316"/>
            <a:ext cx="6127009"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Layer kết nối Odoo ↔ Ngân hàng ↔ Thuế. Không thay thế ERP.</a:t>
            </a:r>
            <a:endParaRPr lang="en-US" sz="1800" dirty="0"/>
          </a:p>
        </p:txBody>
      </p:sp>
      <p:sp>
        <p:nvSpPr>
          <p:cNvPr id="25" name="Shape 23"/>
          <p:cNvSpPr/>
          <p:nvPr/>
        </p:nvSpPr>
        <p:spPr>
          <a:xfrm>
            <a:off x="1153583" y="5291998"/>
            <a:ext cx="3048000" cy="787466"/>
          </a:xfrm>
          <a:prstGeom prst="rect">
            <a:avLst/>
          </a:prstGeom>
          <a:solidFill>
            <a:srgbClr val="F7F9F8"/>
          </a:solidFill>
          <a:ln/>
        </p:spPr>
      </p:sp>
      <p:sp>
        <p:nvSpPr>
          <p:cNvPr id="26" name="Shape 24"/>
          <p:cNvSpPr/>
          <p:nvPr/>
        </p:nvSpPr>
        <p:spPr>
          <a:xfrm>
            <a:off x="1153583" y="6068881"/>
            <a:ext cx="3048000" cy="10583"/>
          </a:xfrm>
          <a:prstGeom prst="rect">
            <a:avLst/>
          </a:prstGeom>
          <a:solidFill>
            <a:srgbClr val="E2E7E5"/>
          </a:solidFill>
          <a:ln/>
        </p:spPr>
      </p:sp>
      <p:sp>
        <p:nvSpPr>
          <p:cNvPr id="27" name="Shape 25"/>
          <p:cNvSpPr/>
          <p:nvPr/>
        </p:nvSpPr>
        <p:spPr>
          <a:xfrm>
            <a:off x="4191000" y="5291998"/>
            <a:ext cx="10583" cy="787466"/>
          </a:xfrm>
          <a:prstGeom prst="rect">
            <a:avLst/>
          </a:prstGeom>
          <a:solidFill>
            <a:srgbClr val="E2E7E5"/>
          </a:solidFill>
          <a:ln/>
        </p:spPr>
      </p:sp>
      <p:sp>
        <p:nvSpPr>
          <p:cNvPr id="28" name="Text 26"/>
          <p:cNvSpPr/>
          <p:nvPr/>
        </p:nvSpPr>
        <p:spPr>
          <a:xfrm>
            <a:off x="1420283" y="5520598"/>
            <a:ext cx="2595457" cy="357783"/>
          </a:xfrm>
          <a:prstGeom prst="rect">
            <a:avLst/>
          </a:prstGeom>
          <a:noFill/>
          <a:ln/>
        </p:spPr>
        <p:txBody>
          <a:bodyPr wrap="square" lIns="25400" tIns="25400" rIns="25400" bIns="25400" rtlCol="0" anchor="ctr">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KHÁCH MỤC TIÊU</a:t>
            </a:r>
            <a:endParaRPr lang="en-US" sz="1800" dirty="0"/>
          </a:p>
        </p:txBody>
      </p:sp>
      <p:sp>
        <p:nvSpPr>
          <p:cNvPr id="29" name="Shape 27"/>
          <p:cNvSpPr/>
          <p:nvPr/>
        </p:nvSpPr>
        <p:spPr>
          <a:xfrm>
            <a:off x="4201584" y="6068881"/>
            <a:ext cx="6466417" cy="10583"/>
          </a:xfrm>
          <a:prstGeom prst="rect">
            <a:avLst/>
          </a:prstGeom>
          <a:solidFill>
            <a:srgbClr val="E2E7E5"/>
          </a:solidFill>
          <a:ln/>
        </p:spPr>
      </p:sp>
      <p:sp>
        <p:nvSpPr>
          <p:cNvPr id="30" name="Shape 28"/>
          <p:cNvSpPr/>
          <p:nvPr/>
        </p:nvSpPr>
        <p:spPr>
          <a:xfrm>
            <a:off x="10657417" y="5291998"/>
            <a:ext cx="10583" cy="787466"/>
          </a:xfrm>
          <a:prstGeom prst="rect">
            <a:avLst/>
          </a:prstGeom>
          <a:solidFill>
            <a:srgbClr val="E2E7E5"/>
          </a:solidFill>
          <a:ln/>
        </p:spPr>
      </p:sp>
      <p:sp>
        <p:nvSpPr>
          <p:cNvPr id="31" name="Text 29"/>
          <p:cNvSpPr/>
          <p:nvPr/>
        </p:nvSpPr>
        <p:spPr>
          <a:xfrm>
            <a:off x="4468284" y="5520598"/>
            <a:ext cx="6116426" cy="357783"/>
          </a:xfrm>
          <a:prstGeom prst="rect">
            <a:avLst/>
          </a:prstGeom>
          <a:noFill/>
          <a:ln/>
        </p:spPr>
        <p:txBody>
          <a:bodyPr wrap="square" lIns="25400" tIns="25400" rIns="25400" bIns="25400" rtlCol="0" anchor="ctr">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SMB Việt, doanh nghiệp vừa và nhỏ chưa có ERP.</a:t>
            </a:r>
            <a:endParaRPr lang="en-US" sz="1800" dirty="0"/>
          </a:p>
        </p:txBody>
      </p:sp>
      <p:sp>
        <p:nvSpPr>
          <p:cNvPr id="32" name="Shape 30"/>
          <p:cNvSpPr/>
          <p:nvPr/>
        </p:nvSpPr>
        <p:spPr>
          <a:xfrm>
            <a:off x="10668000" y="5291998"/>
            <a:ext cx="6466417" cy="787466"/>
          </a:xfrm>
          <a:prstGeom prst="rect">
            <a:avLst/>
          </a:prstGeom>
          <a:solidFill>
            <a:srgbClr val="00B26A">
              <a:alpha val="4000"/>
            </a:srgbClr>
          </a:solidFill>
          <a:ln/>
        </p:spPr>
      </p:sp>
      <p:sp>
        <p:nvSpPr>
          <p:cNvPr id="33" name="Shape 31"/>
          <p:cNvSpPr/>
          <p:nvPr/>
        </p:nvSpPr>
        <p:spPr>
          <a:xfrm>
            <a:off x="10668000" y="6068881"/>
            <a:ext cx="6466417" cy="10583"/>
          </a:xfrm>
          <a:prstGeom prst="rect">
            <a:avLst/>
          </a:prstGeom>
          <a:solidFill>
            <a:srgbClr val="E2E7E5"/>
          </a:solidFill>
          <a:ln/>
        </p:spPr>
      </p:sp>
      <p:sp>
        <p:nvSpPr>
          <p:cNvPr id="34" name="Text 32"/>
          <p:cNvSpPr/>
          <p:nvPr/>
        </p:nvSpPr>
        <p:spPr>
          <a:xfrm>
            <a:off x="10934700" y="5520598"/>
            <a:ext cx="6127009" cy="357783"/>
          </a:xfrm>
          <a:prstGeom prst="rect">
            <a:avLst/>
          </a:prstGeom>
          <a:noFill/>
          <a:ln/>
        </p:spPr>
        <p:txBody>
          <a:bodyPr wrap="square" lIns="25400" tIns="25400" rIns="25400" bIns="25400" rtlCol="0" anchor="ctr">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Enterprise đã dùng Odoo + 27 Odoo Partner triển khai.</a:t>
            </a:r>
            <a:endParaRPr lang="en-US" sz="1800" dirty="0"/>
          </a:p>
        </p:txBody>
      </p:sp>
      <p:sp>
        <p:nvSpPr>
          <p:cNvPr id="35" name="Shape 33"/>
          <p:cNvSpPr/>
          <p:nvPr/>
        </p:nvSpPr>
        <p:spPr>
          <a:xfrm>
            <a:off x="1153583" y="6079464"/>
            <a:ext cx="3048000" cy="1107281"/>
          </a:xfrm>
          <a:prstGeom prst="rect">
            <a:avLst/>
          </a:prstGeom>
          <a:solidFill>
            <a:srgbClr val="F7F9F8"/>
          </a:solidFill>
          <a:ln/>
        </p:spPr>
      </p:sp>
      <p:sp>
        <p:nvSpPr>
          <p:cNvPr id="36" name="Shape 34"/>
          <p:cNvSpPr/>
          <p:nvPr/>
        </p:nvSpPr>
        <p:spPr>
          <a:xfrm>
            <a:off x="1153583" y="7176162"/>
            <a:ext cx="3048000" cy="10583"/>
          </a:xfrm>
          <a:prstGeom prst="rect">
            <a:avLst/>
          </a:prstGeom>
          <a:solidFill>
            <a:srgbClr val="E2E7E5"/>
          </a:solidFill>
          <a:ln/>
        </p:spPr>
      </p:sp>
      <p:sp>
        <p:nvSpPr>
          <p:cNvPr id="37" name="Shape 35"/>
          <p:cNvSpPr/>
          <p:nvPr/>
        </p:nvSpPr>
        <p:spPr>
          <a:xfrm>
            <a:off x="4191000" y="6079464"/>
            <a:ext cx="10583" cy="1107281"/>
          </a:xfrm>
          <a:prstGeom prst="rect">
            <a:avLst/>
          </a:prstGeom>
          <a:solidFill>
            <a:srgbClr val="E2E7E5"/>
          </a:solidFill>
          <a:ln/>
        </p:spPr>
      </p:sp>
      <p:sp>
        <p:nvSpPr>
          <p:cNvPr id="38" name="Text 36"/>
          <p:cNvSpPr/>
          <p:nvPr/>
        </p:nvSpPr>
        <p:spPr>
          <a:xfrm>
            <a:off x="1420283" y="6308064"/>
            <a:ext cx="2595457"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TÍCH HỢP NGÂN HÀNG</a:t>
            </a:r>
            <a:endParaRPr lang="en-US" sz="1800" dirty="0"/>
          </a:p>
        </p:txBody>
      </p:sp>
      <p:sp>
        <p:nvSpPr>
          <p:cNvPr id="39" name="Shape 37"/>
          <p:cNvSpPr/>
          <p:nvPr/>
        </p:nvSpPr>
        <p:spPr>
          <a:xfrm>
            <a:off x="4201584" y="7176162"/>
            <a:ext cx="6466417" cy="10583"/>
          </a:xfrm>
          <a:prstGeom prst="rect">
            <a:avLst/>
          </a:prstGeom>
          <a:solidFill>
            <a:srgbClr val="E2E7E5"/>
          </a:solidFill>
          <a:ln/>
        </p:spPr>
      </p:sp>
      <p:sp>
        <p:nvSpPr>
          <p:cNvPr id="40" name="Shape 38"/>
          <p:cNvSpPr/>
          <p:nvPr/>
        </p:nvSpPr>
        <p:spPr>
          <a:xfrm>
            <a:off x="10657417" y="6079464"/>
            <a:ext cx="10583" cy="1107281"/>
          </a:xfrm>
          <a:prstGeom prst="rect">
            <a:avLst/>
          </a:prstGeom>
          <a:solidFill>
            <a:srgbClr val="E2E7E5"/>
          </a:solidFill>
          <a:ln/>
        </p:spPr>
      </p:sp>
      <p:sp>
        <p:nvSpPr>
          <p:cNvPr id="41" name="Text 39"/>
          <p:cNvSpPr/>
          <p:nvPr/>
        </p:nvSpPr>
        <p:spPr>
          <a:xfrm>
            <a:off x="4468284" y="6308064"/>
            <a:ext cx="6116426"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Hỗ trợ ngân hàng phổ biến, trong môi trường MISA.</a:t>
            </a:r>
            <a:endParaRPr lang="en-US" sz="1800" dirty="0"/>
          </a:p>
        </p:txBody>
      </p:sp>
      <p:sp>
        <p:nvSpPr>
          <p:cNvPr id="42" name="Shape 40"/>
          <p:cNvSpPr/>
          <p:nvPr/>
        </p:nvSpPr>
        <p:spPr>
          <a:xfrm>
            <a:off x="10668000" y="6079464"/>
            <a:ext cx="6466417" cy="1107281"/>
          </a:xfrm>
          <a:prstGeom prst="rect">
            <a:avLst/>
          </a:prstGeom>
          <a:solidFill>
            <a:srgbClr val="00B26A">
              <a:alpha val="4000"/>
            </a:srgbClr>
          </a:solidFill>
          <a:ln/>
        </p:spPr>
      </p:sp>
      <p:sp>
        <p:nvSpPr>
          <p:cNvPr id="43" name="Shape 41"/>
          <p:cNvSpPr/>
          <p:nvPr/>
        </p:nvSpPr>
        <p:spPr>
          <a:xfrm>
            <a:off x="10668000" y="7176162"/>
            <a:ext cx="6466417" cy="10583"/>
          </a:xfrm>
          <a:prstGeom prst="rect">
            <a:avLst/>
          </a:prstGeom>
          <a:solidFill>
            <a:srgbClr val="E2E7E5"/>
          </a:solidFill>
          <a:ln/>
        </p:spPr>
      </p:sp>
      <p:sp>
        <p:nvSpPr>
          <p:cNvPr id="44" name="Text 42"/>
          <p:cNvSpPr/>
          <p:nvPr/>
        </p:nvSpPr>
        <p:spPr>
          <a:xfrm>
            <a:off x="10934700" y="6308064"/>
            <a:ext cx="6127009"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Native trong Odoo qua API ecosystem có sẵn của CASSO.</a:t>
            </a:r>
            <a:endParaRPr lang="en-US" sz="1800" dirty="0"/>
          </a:p>
        </p:txBody>
      </p:sp>
      <p:sp>
        <p:nvSpPr>
          <p:cNvPr id="45" name="Shape 43"/>
          <p:cNvSpPr/>
          <p:nvPr/>
        </p:nvSpPr>
        <p:spPr>
          <a:xfrm>
            <a:off x="1153583" y="7186745"/>
            <a:ext cx="3048000" cy="1107281"/>
          </a:xfrm>
          <a:prstGeom prst="rect">
            <a:avLst/>
          </a:prstGeom>
          <a:solidFill>
            <a:srgbClr val="F7F9F8"/>
          </a:solidFill>
          <a:ln/>
        </p:spPr>
      </p:sp>
      <p:sp>
        <p:nvSpPr>
          <p:cNvPr id="46" name="Shape 44"/>
          <p:cNvSpPr/>
          <p:nvPr/>
        </p:nvSpPr>
        <p:spPr>
          <a:xfrm>
            <a:off x="1153583" y="8283443"/>
            <a:ext cx="3048000" cy="10583"/>
          </a:xfrm>
          <a:prstGeom prst="rect">
            <a:avLst/>
          </a:prstGeom>
          <a:solidFill>
            <a:srgbClr val="E2E7E5"/>
          </a:solidFill>
          <a:ln/>
        </p:spPr>
      </p:sp>
      <p:sp>
        <p:nvSpPr>
          <p:cNvPr id="47" name="Shape 45"/>
          <p:cNvSpPr/>
          <p:nvPr/>
        </p:nvSpPr>
        <p:spPr>
          <a:xfrm>
            <a:off x="4191000" y="7186745"/>
            <a:ext cx="10583" cy="1107281"/>
          </a:xfrm>
          <a:prstGeom prst="rect">
            <a:avLst/>
          </a:prstGeom>
          <a:solidFill>
            <a:srgbClr val="E2E7E5"/>
          </a:solidFill>
          <a:ln/>
        </p:spPr>
      </p:sp>
      <p:sp>
        <p:nvSpPr>
          <p:cNvPr id="48" name="Text 46"/>
          <p:cNvSpPr/>
          <p:nvPr/>
        </p:nvSpPr>
        <p:spPr>
          <a:xfrm>
            <a:off x="1420283" y="7415345"/>
            <a:ext cx="2595457"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MỞ RỘNG &amp; CUSTOMIZE</a:t>
            </a:r>
            <a:endParaRPr lang="en-US" sz="1800" dirty="0"/>
          </a:p>
        </p:txBody>
      </p:sp>
      <p:sp>
        <p:nvSpPr>
          <p:cNvPr id="49" name="Shape 47"/>
          <p:cNvSpPr/>
          <p:nvPr/>
        </p:nvSpPr>
        <p:spPr>
          <a:xfrm>
            <a:off x="4201584" y="8283443"/>
            <a:ext cx="6466417" cy="10583"/>
          </a:xfrm>
          <a:prstGeom prst="rect">
            <a:avLst/>
          </a:prstGeom>
          <a:solidFill>
            <a:srgbClr val="E2E7E5"/>
          </a:solidFill>
          <a:ln/>
        </p:spPr>
      </p:sp>
      <p:sp>
        <p:nvSpPr>
          <p:cNvPr id="50" name="Shape 48"/>
          <p:cNvSpPr/>
          <p:nvPr/>
        </p:nvSpPr>
        <p:spPr>
          <a:xfrm>
            <a:off x="10657417" y="7186745"/>
            <a:ext cx="10583" cy="1107281"/>
          </a:xfrm>
          <a:prstGeom prst="rect">
            <a:avLst/>
          </a:prstGeom>
          <a:solidFill>
            <a:srgbClr val="E2E7E5"/>
          </a:solidFill>
          <a:ln/>
        </p:spPr>
      </p:sp>
      <p:sp>
        <p:nvSpPr>
          <p:cNvPr id="51" name="Text 49"/>
          <p:cNvSpPr/>
          <p:nvPr/>
        </p:nvSpPr>
        <p:spPr>
          <a:xfrm>
            <a:off x="4468284" y="7415345"/>
            <a:ext cx="6116426"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Closed-box; muốn custom phải qua MISA hoặc partner MISA.</a:t>
            </a:r>
            <a:endParaRPr lang="en-US" sz="1800" dirty="0"/>
          </a:p>
        </p:txBody>
      </p:sp>
      <p:sp>
        <p:nvSpPr>
          <p:cNvPr id="52" name="Shape 50"/>
          <p:cNvSpPr/>
          <p:nvPr/>
        </p:nvSpPr>
        <p:spPr>
          <a:xfrm>
            <a:off x="10668000" y="7186745"/>
            <a:ext cx="6466417" cy="1107281"/>
          </a:xfrm>
          <a:prstGeom prst="rect">
            <a:avLst/>
          </a:prstGeom>
          <a:solidFill>
            <a:srgbClr val="00B26A">
              <a:alpha val="4000"/>
            </a:srgbClr>
          </a:solidFill>
          <a:ln/>
        </p:spPr>
      </p:sp>
      <p:sp>
        <p:nvSpPr>
          <p:cNvPr id="53" name="Shape 51"/>
          <p:cNvSpPr/>
          <p:nvPr/>
        </p:nvSpPr>
        <p:spPr>
          <a:xfrm>
            <a:off x="10668000" y="8283443"/>
            <a:ext cx="6466417" cy="10583"/>
          </a:xfrm>
          <a:prstGeom prst="rect">
            <a:avLst/>
          </a:prstGeom>
          <a:solidFill>
            <a:srgbClr val="E2E7E5"/>
          </a:solidFill>
          <a:ln/>
        </p:spPr>
      </p:sp>
      <p:sp>
        <p:nvSpPr>
          <p:cNvPr id="54" name="Text 52"/>
          <p:cNvSpPr/>
          <p:nvPr/>
        </p:nvSpPr>
        <p:spPr>
          <a:xfrm>
            <a:off x="10934700" y="7415345"/>
            <a:ext cx="6127009"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Mở qua Odoo ecosystem — partner tự extend được.</a:t>
            </a:r>
            <a:endParaRPr lang="en-US" sz="1800" dirty="0"/>
          </a:p>
        </p:txBody>
      </p:sp>
      <p:sp>
        <p:nvSpPr>
          <p:cNvPr id="55" name="Shape 53"/>
          <p:cNvSpPr/>
          <p:nvPr/>
        </p:nvSpPr>
        <p:spPr>
          <a:xfrm>
            <a:off x="1153583" y="8294026"/>
            <a:ext cx="3048000" cy="1096698"/>
          </a:xfrm>
          <a:prstGeom prst="rect">
            <a:avLst/>
          </a:prstGeom>
          <a:solidFill>
            <a:srgbClr val="F7F9F8"/>
          </a:solidFill>
          <a:ln/>
        </p:spPr>
      </p:sp>
      <p:sp>
        <p:nvSpPr>
          <p:cNvPr id="56" name="Shape 54"/>
          <p:cNvSpPr/>
          <p:nvPr/>
        </p:nvSpPr>
        <p:spPr>
          <a:xfrm>
            <a:off x="4191000" y="8294026"/>
            <a:ext cx="10583" cy="1096698"/>
          </a:xfrm>
          <a:prstGeom prst="rect">
            <a:avLst/>
          </a:prstGeom>
          <a:solidFill>
            <a:srgbClr val="E2E7E5"/>
          </a:solidFill>
          <a:ln/>
        </p:spPr>
      </p:sp>
      <p:sp>
        <p:nvSpPr>
          <p:cNvPr id="57" name="Text 55"/>
          <p:cNvSpPr/>
          <p:nvPr/>
        </p:nvSpPr>
        <p:spPr>
          <a:xfrm>
            <a:off x="1420283" y="8522626"/>
            <a:ext cx="2595457"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VAI TRÒ TRONG AUDIT THUẾ</a:t>
            </a:r>
            <a:endParaRPr lang="en-US" sz="1800" dirty="0"/>
          </a:p>
        </p:txBody>
      </p:sp>
      <p:sp>
        <p:nvSpPr>
          <p:cNvPr id="58" name="Shape 56"/>
          <p:cNvSpPr/>
          <p:nvPr/>
        </p:nvSpPr>
        <p:spPr>
          <a:xfrm>
            <a:off x="10657417" y="8294026"/>
            <a:ext cx="10583" cy="1096698"/>
          </a:xfrm>
          <a:prstGeom prst="rect">
            <a:avLst/>
          </a:prstGeom>
          <a:solidFill>
            <a:srgbClr val="E2E7E5"/>
          </a:solidFill>
          <a:ln/>
        </p:spPr>
      </p:sp>
      <p:sp>
        <p:nvSpPr>
          <p:cNvPr id="59" name="Text 57"/>
          <p:cNvSpPr/>
          <p:nvPr/>
        </p:nvSpPr>
        <p:spPr>
          <a:xfrm>
            <a:off x="4468284" y="8522626"/>
            <a:ext cx="6116426"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Tự xử lý kế toán + thuế trong product riêng.</a:t>
            </a:r>
            <a:endParaRPr lang="en-US" sz="1800" dirty="0"/>
          </a:p>
        </p:txBody>
      </p:sp>
      <p:sp>
        <p:nvSpPr>
          <p:cNvPr id="60" name="Shape 58"/>
          <p:cNvSpPr/>
          <p:nvPr/>
        </p:nvSpPr>
        <p:spPr>
          <a:xfrm>
            <a:off x="10668000" y="8294026"/>
            <a:ext cx="6466417" cy="1096698"/>
          </a:xfrm>
          <a:prstGeom prst="rect">
            <a:avLst/>
          </a:prstGeom>
          <a:solidFill>
            <a:srgbClr val="00B26A">
              <a:alpha val="4000"/>
            </a:srgbClr>
          </a:solidFill>
          <a:ln/>
        </p:spPr>
      </p:sp>
      <p:sp>
        <p:nvSpPr>
          <p:cNvPr id="61" name="Text 59"/>
          <p:cNvSpPr/>
          <p:nvPr/>
        </p:nvSpPr>
        <p:spPr>
          <a:xfrm>
            <a:off x="10934700" y="8522626"/>
            <a:ext cx="6127009" cy="677598"/>
          </a:xfrm>
          <a:prstGeom prst="rect">
            <a:avLst/>
          </a:prstGeom>
          <a:noFill/>
          <a:ln/>
        </p:spPr>
        <p:txBody>
          <a:bodyPr wrap="square" lIns="25400" tIns="25400" rIns="25400" bIns="25400" rtlCol="0" anchor="ctr">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Mang dữ liệu sạch về Odoo để Odoo làm báo cáo + audit-trail.</a:t>
            </a:r>
            <a:endParaRPr lang="en-US" sz="1800" dirty="0"/>
          </a:p>
        </p:txBody>
      </p:sp>
      <p:sp>
        <p:nvSpPr>
          <p:cNvPr id="62" name="Text 60"/>
          <p:cNvSpPr/>
          <p:nvPr/>
        </p:nvSpPr>
        <p:spPr>
          <a:xfrm>
            <a:off x="1143000" y="9591808"/>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B7771"/>
                </a:solidFill>
                <a:latin typeface="Arial" pitchFamily="34" charset="0"/>
                <a:ea typeface="Arial" pitchFamily="34" charset="-122"/>
                <a:cs typeface="Arial" pitchFamily="34" charset="-120"/>
              </a:rPr>
              <a:t>MISA giữ chân SMB. CASSO bổ trợ Enterprise đã đầu tư Odoo — hai sản phẩm, hai chân dung khách.</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6F8E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C · 02 · COMPETITIVE BENCHMARKING</a:t>
            </a:r>
            <a:endParaRPr lang="en-US" sz="1800" dirty="0"/>
          </a:p>
        </p:txBody>
      </p:sp>
      <p:sp>
        <p:nvSpPr>
          <p:cNvPr id="3" name="Text 1"/>
          <p:cNvSpPr/>
          <p:nvPr/>
        </p:nvSpPr>
        <p:spPr>
          <a:xfrm>
            <a:off x="1143000" y="1386417"/>
            <a:ext cx="14716126" cy="1038225"/>
          </a:xfrm>
          <a:prstGeom prst="rect">
            <a:avLst/>
          </a:prstGeom>
          <a:noFill/>
          <a:ln/>
        </p:spPr>
        <p:txBody>
          <a:bodyPr wrap="square" lIns="25400" tIns="25400" rIns="25400" bIns="25400" rtlCol="0" anchor="t">
            <a:normAutofit/>
          </a:bodyPr>
          <a:lstStyle/>
          <a:p>
            <a:pPr algn="l" indent="0" marL="0">
              <a:lnSpc>
                <a:spcPct val="105000"/>
              </a:lnSpc>
              <a:buNone/>
            </a:pPr>
            <a:r>
              <a:rPr lang="en-US" sz="3750" b="1" spc="-94" kern="0" dirty="0">
                <a:solidFill>
                  <a:srgbClr val="0F1311"/>
                </a:solidFill>
                <a:latin typeface="Arial" pitchFamily="34" charset="0"/>
                <a:ea typeface="Arial" pitchFamily="34" charset="-122"/>
                <a:cs typeface="Arial" pitchFamily="34" charset="-120"/>
              </a:rPr>
              <a:t>Không có đối thủ nào đồng thời có </a:t>
            </a:r>
            <a:pPr algn="l" indent="0" marL="0">
              <a:lnSpc>
                <a:spcPct val="105000"/>
              </a:lnSpc>
              <a:buNone/>
            </a:pPr>
            <a:r>
              <a:rPr lang="en-US" sz="3750" b="1" spc="-94" kern="0" dirty="0">
                <a:solidFill>
                  <a:srgbClr val="006B40"/>
                </a:solidFill>
                <a:latin typeface="Arial" pitchFamily="34" charset="0"/>
                <a:ea typeface="Arial" pitchFamily="34" charset="-122"/>
                <a:cs typeface="Arial" pitchFamily="34" charset="-120"/>
              </a:rPr>
              <a:t>Bank Sync + GDT Pull </a:t>
            </a:r>
            <a:pPr algn="l" indent="0" marL="0">
              <a:lnSpc>
                <a:spcPct val="105000"/>
              </a:lnSpc>
              <a:buNone/>
            </a:pPr>
            <a:r>
              <a:rPr lang="en-US" sz="3750" b="1" spc="-94" kern="0" dirty="0">
                <a:solidFill>
                  <a:srgbClr val="0F1311"/>
                </a:solidFill>
                <a:latin typeface="Arial" pitchFamily="34" charset="0"/>
                <a:ea typeface="Arial" pitchFamily="34" charset="-122"/>
                <a:cs typeface="Arial" pitchFamily="34" charset="-120"/>
              </a:rPr>
              <a:t>trong cùng 1 gói </a:t>
            </a:r>
            <a:pPr algn="l" indent="0" marL="0">
              <a:lnSpc>
                <a:spcPct val="105000"/>
              </a:lnSpc>
              <a:buNone/>
            </a:pPr>
            <a:r>
              <a:rPr lang="en-US" sz="3750" b="1" spc="-94" kern="0" dirty="0">
                <a:solidFill>
                  <a:srgbClr val="006B40"/>
                </a:solidFill>
                <a:latin typeface="Arial" pitchFamily="34" charset="0"/>
                <a:ea typeface="Arial" pitchFamily="34" charset="-122"/>
                <a:cs typeface="Arial" pitchFamily="34" charset="-120"/>
              </a:rPr>
              <a:t>Odoo-native</a:t>
            </a:r>
            <a:pPr algn="l" indent="0" marL="0">
              <a:lnSpc>
                <a:spcPct val="105000"/>
              </a:lnSpc>
              <a:buNone/>
            </a:pPr>
            <a:r>
              <a:rPr lang="en-US" sz="3750" b="1" spc="-94" kern="0" dirty="0">
                <a:solidFill>
                  <a:srgbClr val="0F1311"/>
                </a:solidFill>
                <a:latin typeface="Arial" pitchFamily="34" charset="0"/>
                <a:ea typeface="Arial" pitchFamily="34" charset="-122"/>
                <a:cs typeface="Arial" pitchFamily="34" charset="-120"/>
              </a:rPr>
              <a:t>.</a:t>
            </a:r>
            <a:endParaRPr lang="en-US" sz="3750" dirty="0"/>
          </a:p>
        </p:txBody>
      </p:sp>
      <p:sp>
        <p:nvSpPr>
          <p:cNvPr id="4" name="Shape 2"/>
          <p:cNvSpPr/>
          <p:nvPr/>
        </p:nvSpPr>
        <p:spPr>
          <a:xfrm>
            <a:off x="1143000" y="2538843"/>
            <a:ext cx="16002001" cy="6120971"/>
          </a:xfrm>
          <a:prstGeom prst="roundRect">
            <a:avLst>
              <a:gd name="adj" fmla="val 2490"/>
            </a:avLst>
          </a:prstGeom>
          <a:solidFill>
            <a:srgbClr val="FFFFFF"/>
          </a:solidFill>
          <a:ln w="10583">
            <a:solidFill>
              <a:srgbClr val="E2E7E5"/>
            </a:solidFill>
            <a:prstDash val="solid"/>
          </a:ln>
        </p:spPr>
      </p:sp>
      <p:sp>
        <p:nvSpPr>
          <p:cNvPr id="5" name="Shape 3"/>
          <p:cNvSpPr/>
          <p:nvPr/>
        </p:nvSpPr>
        <p:spPr>
          <a:xfrm>
            <a:off x="1153583" y="2549426"/>
            <a:ext cx="2762250" cy="710076"/>
          </a:xfrm>
          <a:prstGeom prst="rect">
            <a:avLst/>
          </a:prstGeom>
          <a:solidFill>
            <a:srgbClr val="F7F9F8"/>
          </a:solidFill>
          <a:ln/>
        </p:spPr>
      </p:sp>
      <p:sp>
        <p:nvSpPr>
          <p:cNvPr id="6" name="Shape 4"/>
          <p:cNvSpPr/>
          <p:nvPr/>
        </p:nvSpPr>
        <p:spPr>
          <a:xfrm>
            <a:off x="1153583" y="3248918"/>
            <a:ext cx="2762250" cy="10583"/>
          </a:xfrm>
          <a:prstGeom prst="rect">
            <a:avLst/>
          </a:prstGeom>
          <a:solidFill>
            <a:srgbClr val="E2E7E5"/>
          </a:solidFill>
          <a:ln/>
        </p:spPr>
      </p:sp>
      <p:sp>
        <p:nvSpPr>
          <p:cNvPr id="7" name="Shape 5"/>
          <p:cNvSpPr/>
          <p:nvPr/>
        </p:nvSpPr>
        <p:spPr>
          <a:xfrm>
            <a:off x="3905250" y="2549426"/>
            <a:ext cx="10583" cy="710076"/>
          </a:xfrm>
          <a:prstGeom prst="rect">
            <a:avLst/>
          </a:prstGeom>
          <a:solidFill>
            <a:srgbClr val="E2E7E5"/>
          </a:solidFill>
          <a:ln/>
        </p:spPr>
      </p:sp>
      <p:sp>
        <p:nvSpPr>
          <p:cNvPr id="8" name="Text 6"/>
          <p:cNvSpPr/>
          <p:nvPr/>
        </p:nvSpPr>
        <p:spPr>
          <a:xfrm>
            <a:off x="1305983" y="2673251"/>
            <a:ext cx="2529734" cy="489942"/>
          </a:xfrm>
          <a:prstGeom prst="rect">
            <a:avLst/>
          </a:prstGeom>
          <a:noFill/>
          <a:ln/>
        </p:spPr>
        <p:txBody>
          <a:bodyPr wrap="square" lIns="25400" tIns="25400" rIns="25400" bIns="25400" rtlCol="0" anchor="ctr">
            <a:normAutofit/>
          </a:bodyPr>
          <a:lstStyle/>
          <a:p>
            <a:pPr algn="l" indent="0" marL="0">
              <a:lnSpc>
                <a:spcPct val="125000"/>
              </a:lnSpc>
              <a:buNone/>
            </a:pPr>
            <a:r>
              <a:rPr lang="en-US" sz="1425" b="1" spc="100" kern="0" dirty="0">
                <a:solidFill>
                  <a:srgbClr val="6B7771"/>
                </a:solidFill>
                <a:latin typeface="Courier New" pitchFamily="34" charset="0"/>
                <a:ea typeface="Courier New" pitchFamily="34" charset="-122"/>
                <a:cs typeface="Courier New" pitchFamily="34" charset="-120"/>
              </a:rPr>
              <a:t>SẢN PHẨM</a:t>
            </a:r>
            <a:endParaRPr lang="en-US" sz="1425" dirty="0"/>
          </a:p>
        </p:txBody>
      </p:sp>
      <p:sp>
        <p:nvSpPr>
          <p:cNvPr id="9" name="Shape 7"/>
          <p:cNvSpPr/>
          <p:nvPr/>
        </p:nvSpPr>
        <p:spPr>
          <a:xfrm>
            <a:off x="3915834" y="2549426"/>
            <a:ext cx="1047750" cy="710076"/>
          </a:xfrm>
          <a:prstGeom prst="rect">
            <a:avLst/>
          </a:prstGeom>
          <a:solidFill>
            <a:srgbClr val="F7F9F8"/>
          </a:solidFill>
          <a:ln/>
        </p:spPr>
      </p:sp>
      <p:sp>
        <p:nvSpPr>
          <p:cNvPr id="10" name="Shape 8"/>
          <p:cNvSpPr/>
          <p:nvPr/>
        </p:nvSpPr>
        <p:spPr>
          <a:xfrm>
            <a:off x="3915834" y="3248918"/>
            <a:ext cx="1047750" cy="10583"/>
          </a:xfrm>
          <a:prstGeom prst="rect">
            <a:avLst/>
          </a:prstGeom>
          <a:solidFill>
            <a:srgbClr val="E2E7E5"/>
          </a:solidFill>
          <a:ln/>
        </p:spPr>
      </p:sp>
      <p:sp>
        <p:nvSpPr>
          <p:cNvPr id="11" name="Shape 9"/>
          <p:cNvSpPr/>
          <p:nvPr/>
        </p:nvSpPr>
        <p:spPr>
          <a:xfrm>
            <a:off x="4953000" y="2549426"/>
            <a:ext cx="10583" cy="710076"/>
          </a:xfrm>
          <a:prstGeom prst="rect">
            <a:avLst/>
          </a:prstGeom>
          <a:solidFill>
            <a:srgbClr val="E2E7E5"/>
          </a:solidFill>
          <a:ln/>
        </p:spPr>
      </p:sp>
      <p:sp>
        <p:nvSpPr>
          <p:cNvPr id="12" name="Text 10"/>
          <p:cNvSpPr/>
          <p:nvPr/>
        </p:nvSpPr>
        <p:spPr>
          <a:xfrm>
            <a:off x="4030134" y="2673251"/>
            <a:ext cx="808567" cy="489942"/>
          </a:xfrm>
          <a:prstGeom prst="rect">
            <a:avLst/>
          </a:prstGeom>
          <a:noFill/>
          <a:ln/>
        </p:spPr>
        <p:txBody>
          <a:bodyPr wrap="square" lIns="25400" tIns="25400" rIns="25400" bIns="25400" rtlCol="0" anchor="ctr">
            <a:normAutofit/>
          </a:bodyPr>
          <a:lstStyle/>
          <a:p>
            <a:pPr algn="ctr" indent="0" marL="0">
              <a:lnSpc>
                <a:spcPct val="125000"/>
              </a:lnSpc>
              <a:buNone/>
            </a:pPr>
            <a:r>
              <a:rPr lang="en-US" sz="1425" b="1" spc="100" kern="0" dirty="0">
                <a:solidFill>
                  <a:srgbClr val="6B7771"/>
                </a:solidFill>
                <a:highlight>
                  <a:srgbClr val="F7F9F8"/>
                </a:highlight>
                <a:latin typeface="Courier New" pitchFamily="34" charset="0"/>
                <a:ea typeface="Courier New" pitchFamily="34" charset="-122"/>
                <a:cs typeface="Courier New" pitchFamily="34" charset="-120"/>
              </a:rPr>
              <a:t>BANK SYNC</a:t>
            </a:r>
            <a:endParaRPr lang="en-US" sz="1425" dirty="0"/>
          </a:p>
        </p:txBody>
      </p:sp>
      <p:sp>
        <p:nvSpPr>
          <p:cNvPr id="13" name="Shape 11"/>
          <p:cNvSpPr/>
          <p:nvPr/>
        </p:nvSpPr>
        <p:spPr>
          <a:xfrm>
            <a:off x="4963584" y="2549426"/>
            <a:ext cx="1047750" cy="710076"/>
          </a:xfrm>
          <a:prstGeom prst="rect">
            <a:avLst/>
          </a:prstGeom>
          <a:solidFill>
            <a:srgbClr val="F7F9F8"/>
          </a:solidFill>
          <a:ln/>
        </p:spPr>
      </p:sp>
      <p:sp>
        <p:nvSpPr>
          <p:cNvPr id="14" name="Shape 12"/>
          <p:cNvSpPr/>
          <p:nvPr/>
        </p:nvSpPr>
        <p:spPr>
          <a:xfrm>
            <a:off x="4963584" y="3248918"/>
            <a:ext cx="1047750" cy="10583"/>
          </a:xfrm>
          <a:prstGeom prst="rect">
            <a:avLst/>
          </a:prstGeom>
          <a:solidFill>
            <a:srgbClr val="E2E7E5"/>
          </a:solidFill>
          <a:ln/>
        </p:spPr>
      </p:sp>
      <p:sp>
        <p:nvSpPr>
          <p:cNvPr id="15" name="Shape 13"/>
          <p:cNvSpPr/>
          <p:nvPr/>
        </p:nvSpPr>
        <p:spPr>
          <a:xfrm>
            <a:off x="6000750" y="2549426"/>
            <a:ext cx="10583" cy="710076"/>
          </a:xfrm>
          <a:prstGeom prst="rect">
            <a:avLst/>
          </a:prstGeom>
          <a:solidFill>
            <a:srgbClr val="E2E7E5"/>
          </a:solidFill>
          <a:ln/>
        </p:spPr>
      </p:sp>
      <p:sp>
        <p:nvSpPr>
          <p:cNvPr id="16" name="Text 14"/>
          <p:cNvSpPr/>
          <p:nvPr/>
        </p:nvSpPr>
        <p:spPr>
          <a:xfrm>
            <a:off x="5077884" y="2673251"/>
            <a:ext cx="808567" cy="489942"/>
          </a:xfrm>
          <a:prstGeom prst="rect">
            <a:avLst/>
          </a:prstGeom>
          <a:noFill/>
          <a:ln/>
        </p:spPr>
        <p:txBody>
          <a:bodyPr wrap="square" lIns="25400" tIns="25400" rIns="25400" bIns="25400" rtlCol="0" anchor="ctr">
            <a:normAutofit/>
          </a:bodyPr>
          <a:lstStyle/>
          <a:p>
            <a:pPr algn="ctr" indent="0" marL="0">
              <a:lnSpc>
                <a:spcPct val="125000"/>
              </a:lnSpc>
              <a:buNone/>
            </a:pPr>
            <a:r>
              <a:rPr lang="en-US" sz="1425" b="1" spc="100" kern="0" dirty="0">
                <a:solidFill>
                  <a:srgbClr val="6B7771"/>
                </a:solidFill>
                <a:highlight>
                  <a:srgbClr val="F7F9F8"/>
                </a:highlight>
                <a:latin typeface="Courier New" pitchFamily="34" charset="0"/>
                <a:ea typeface="Courier New" pitchFamily="34" charset="-122"/>
                <a:cs typeface="Courier New" pitchFamily="34" charset="-120"/>
              </a:rPr>
              <a:t>GDT PULL</a:t>
            </a:r>
            <a:endParaRPr lang="en-US" sz="1425" dirty="0"/>
          </a:p>
        </p:txBody>
      </p:sp>
      <p:sp>
        <p:nvSpPr>
          <p:cNvPr id="17" name="Shape 15"/>
          <p:cNvSpPr/>
          <p:nvPr/>
        </p:nvSpPr>
        <p:spPr>
          <a:xfrm>
            <a:off x="6011334" y="2549426"/>
            <a:ext cx="1164001" cy="710076"/>
          </a:xfrm>
          <a:prstGeom prst="rect">
            <a:avLst/>
          </a:prstGeom>
          <a:solidFill>
            <a:srgbClr val="F7F9F8"/>
          </a:solidFill>
          <a:ln/>
        </p:spPr>
      </p:sp>
      <p:sp>
        <p:nvSpPr>
          <p:cNvPr id="18" name="Shape 16"/>
          <p:cNvSpPr/>
          <p:nvPr/>
        </p:nvSpPr>
        <p:spPr>
          <a:xfrm>
            <a:off x="6011334" y="3248918"/>
            <a:ext cx="1164001" cy="10583"/>
          </a:xfrm>
          <a:prstGeom prst="rect">
            <a:avLst/>
          </a:prstGeom>
          <a:solidFill>
            <a:srgbClr val="E2E7E5"/>
          </a:solidFill>
          <a:ln/>
        </p:spPr>
      </p:sp>
      <p:sp>
        <p:nvSpPr>
          <p:cNvPr id="19" name="Shape 17"/>
          <p:cNvSpPr/>
          <p:nvPr/>
        </p:nvSpPr>
        <p:spPr>
          <a:xfrm>
            <a:off x="7164752" y="2549426"/>
            <a:ext cx="10583" cy="710076"/>
          </a:xfrm>
          <a:prstGeom prst="rect">
            <a:avLst/>
          </a:prstGeom>
          <a:solidFill>
            <a:srgbClr val="E2E7E5"/>
          </a:solidFill>
          <a:ln/>
        </p:spPr>
      </p:sp>
      <p:sp>
        <p:nvSpPr>
          <p:cNvPr id="20" name="Text 18"/>
          <p:cNvSpPr/>
          <p:nvPr/>
        </p:nvSpPr>
        <p:spPr>
          <a:xfrm>
            <a:off x="6125634" y="2673251"/>
            <a:ext cx="924818" cy="489942"/>
          </a:xfrm>
          <a:prstGeom prst="rect">
            <a:avLst/>
          </a:prstGeom>
          <a:noFill/>
          <a:ln/>
        </p:spPr>
        <p:txBody>
          <a:bodyPr wrap="square" lIns="25400" tIns="25400" rIns="25400" bIns="25400" rtlCol="0" anchor="ctr">
            <a:normAutofit/>
          </a:bodyPr>
          <a:lstStyle/>
          <a:p>
            <a:pPr algn="ctr" indent="0" marL="0">
              <a:lnSpc>
                <a:spcPct val="125000"/>
              </a:lnSpc>
              <a:buNone/>
            </a:pPr>
            <a:r>
              <a:rPr lang="en-US" sz="1425" b="1" spc="100" kern="0" dirty="0">
                <a:solidFill>
                  <a:srgbClr val="6B7771"/>
                </a:solidFill>
                <a:highlight>
                  <a:srgbClr val="F7F9F8"/>
                </a:highlight>
                <a:latin typeface="Courier New" pitchFamily="34" charset="0"/>
                <a:ea typeface="Courier New" pitchFamily="34" charset="-122"/>
                <a:cs typeface="Courier New" pitchFamily="34" charset="-120"/>
              </a:rPr>
              <a:t>PAYMENT INIT</a:t>
            </a:r>
            <a:endParaRPr lang="en-US" sz="1425" dirty="0"/>
          </a:p>
        </p:txBody>
      </p:sp>
      <p:sp>
        <p:nvSpPr>
          <p:cNvPr id="21" name="Shape 19"/>
          <p:cNvSpPr/>
          <p:nvPr/>
        </p:nvSpPr>
        <p:spPr>
          <a:xfrm>
            <a:off x="7175335" y="2549426"/>
            <a:ext cx="1164001" cy="710076"/>
          </a:xfrm>
          <a:prstGeom prst="rect">
            <a:avLst/>
          </a:prstGeom>
          <a:solidFill>
            <a:srgbClr val="F7F9F8"/>
          </a:solidFill>
          <a:ln/>
        </p:spPr>
      </p:sp>
      <p:sp>
        <p:nvSpPr>
          <p:cNvPr id="22" name="Shape 20"/>
          <p:cNvSpPr/>
          <p:nvPr/>
        </p:nvSpPr>
        <p:spPr>
          <a:xfrm>
            <a:off x="7175335" y="3248918"/>
            <a:ext cx="1164001" cy="10583"/>
          </a:xfrm>
          <a:prstGeom prst="rect">
            <a:avLst/>
          </a:prstGeom>
          <a:solidFill>
            <a:srgbClr val="E2E7E5"/>
          </a:solidFill>
          <a:ln/>
        </p:spPr>
      </p:sp>
      <p:sp>
        <p:nvSpPr>
          <p:cNvPr id="23" name="Shape 21"/>
          <p:cNvSpPr/>
          <p:nvPr/>
        </p:nvSpPr>
        <p:spPr>
          <a:xfrm>
            <a:off x="8328753" y="2549426"/>
            <a:ext cx="10583" cy="710076"/>
          </a:xfrm>
          <a:prstGeom prst="rect">
            <a:avLst/>
          </a:prstGeom>
          <a:solidFill>
            <a:srgbClr val="E2E7E5"/>
          </a:solidFill>
          <a:ln/>
        </p:spPr>
      </p:sp>
      <p:sp>
        <p:nvSpPr>
          <p:cNvPr id="24" name="Text 22"/>
          <p:cNvSpPr/>
          <p:nvPr/>
        </p:nvSpPr>
        <p:spPr>
          <a:xfrm>
            <a:off x="7289635" y="2673251"/>
            <a:ext cx="924818" cy="489942"/>
          </a:xfrm>
          <a:prstGeom prst="rect">
            <a:avLst/>
          </a:prstGeom>
          <a:noFill/>
          <a:ln/>
        </p:spPr>
        <p:txBody>
          <a:bodyPr wrap="square" lIns="25400" tIns="25400" rIns="25400" bIns="25400" rtlCol="0" anchor="ctr">
            <a:normAutofit/>
          </a:bodyPr>
          <a:lstStyle/>
          <a:p>
            <a:pPr algn="ctr" indent="0" marL="0">
              <a:lnSpc>
                <a:spcPct val="125000"/>
              </a:lnSpc>
              <a:buNone/>
            </a:pPr>
            <a:r>
              <a:rPr lang="en-US" sz="1425" b="1" spc="100" kern="0" dirty="0">
                <a:solidFill>
                  <a:srgbClr val="6B7771"/>
                </a:solidFill>
                <a:highlight>
                  <a:srgbClr val="F7F9F8"/>
                </a:highlight>
                <a:latin typeface="Courier New" pitchFamily="34" charset="0"/>
                <a:ea typeface="Courier New" pitchFamily="34" charset="-122"/>
                <a:cs typeface="Courier New" pitchFamily="34" charset="-120"/>
              </a:rPr>
              <a:t>E- INVOICE</a:t>
            </a:r>
            <a:endParaRPr lang="en-US" sz="1425" dirty="0"/>
          </a:p>
        </p:txBody>
      </p:sp>
      <p:sp>
        <p:nvSpPr>
          <p:cNvPr id="25" name="Shape 23"/>
          <p:cNvSpPr/>
          <p:nvPr/>
        </p:nvSpPr>
        <p:spPr>
          <a:xfrm>
            <a:off x="8339336" y="2549426"/>
            <a:ext cx="1047750" cy="710076"/>
          </a:xfrm>
          <a:prstGeom prst="rect">
            <a:avLst/>
          </a:prstGeom>
          <a:solidFill>
            <a:srgbClr val="F7F9F8"/>
          </a:solidFill>
          <a:ln/>
        </p:spPr>
      </p:sp>
      <p:sp>
        <p:nvSpPr>
          <p:cNvPr id="26" name="Shape 24"/>
          <p:cNvSpPr/>
          <p:nvPr/>
        </p:nvSpPr>
        <p:spPr>
          <a:xfrm>
            <a:off x="8339336" y="3248918"/>
            <a:ext cx="1047750" cy="10583"/>
          </a:xfrm>
          <a:prstGeom prst="rect">
            <a:avLst/>
          </a:prstGeom>
          <a:solidFill>
            <a:srgbClr val="E2E7E5"/>
          </a:solidFill>
          <a:ln/>
        </p:spPr>
      </p:sp>
      <p:sp>
        <p:nvSpPr>
          <p:cNvPr id="27" name="Shape 25"/>
          <p:cNvSpPr/>
          <p:nvPr/>
        </p:nvSpPr>
        <p:spPr>
          <a:xfrm>
            <a:off x="9376503" y="2549426"/>
            <a:ext cx="10583" cy="710076"/>
          </a:xfrm>
          <a:prstGeom prst="rect">
            <a:avLst/>
          </a:prstGeom>
          <a:solidFill>
            <a:srgbClr val="E2E7E5"/>
          </a:solidFill>
          <a:ln/>
        </p:spPr>
      </p:sp>
      <p:sp>
        <p:nvSpPr>
          <p:cNvPr id="28" name="Text 26"/>
          <p:cNvSpPr/>
          <p:nvPr/>
        </p:nvSpPr>
        <p:spPr>
          <a:xfrm>
            <a:off x="8453636" y="2673251"/>
            <a:ext cx="808567" cy="489942"/>
          </a:xfrm>
          <a:prstGeom prst="rect">
            <a:avLst/>
          </a:prstGeom>
          <a:noFill/>
          <a:ln/>
        </p:spPr>
        <p:txBody>
          <a:bodyPr wrap="square" lIns="25400" tIns="25400" rIns="25400" bIns="25400" rtlCol="0" anchor="ctr">
            <a:normAutofit/>
          </a:bodyPr>
          <a:lstStyle/>
          <a:p>
            <a:pPr algn="ctr" indent="0" marL="0">
              <a:lnSpc>
                <a:spcPct val="125000"/>
              </a:lnSpc>
              <a:buNone/>
            </a:pPr>
            <a:r>
              <a:rPr lang="en-US" sz="1425" b="1" spc="100" kern="0" dirty="0">
                <a:solidFill>
                  <a:srgbClr val="6B7771"/>
                </a:solidFill>
                <a:highlight>
                  <a:srgbClr val="F7F9F8"/>
                </a:highlight>
                <a:latin typeface="Courier New" pitchFamily="34" charset="0"/>
                <a:ea typeface="Courier New" pitchFamily="34" charset="-122"/>
                <a:cs typeface="Courier New" pitchFamily="34" charset="-120"/>
              </a:rPr>
              <a:t>ODOO NATIVE</a:t>
            </a:r>
            <a:endParaRPr lang="en-US" sz="1425" dirty="0"/>
          </a:p>
        </p:txBody>
      </p:sp>
      <p:sp>
        <p:nvSpPr>
          <p:cNvPr id="29" name="Shape 27"/>
          <p:cNvSpPr/>
          <p:nvPr/>
        </p:nvSpPr>
        <p:spPr>
          <a:xfrm>
            <a:off x="9387086" y="2549426"/>
            <a:ext cx="6337763" cy="710076"/>
          </a:xfrm>
          <a:prstGeom prst="rect">
            <a:avLst/>
          </a:prstGeom>
          <a:solidFill>
            <a:srgbClr val="F7F9F8"/>
          </a:solidFill>
          <a:ln/>
        </p:spPr>
      </p:sp>
      <p:sp>
        <p:nvSpPr>
          <p:cNvPr id="30" name="Shape 28"/>
          <p:cNvSpPr/>
          <p:nvPr/>
        </p:nvSpPr>
        <p:spPr>
          <a:xfrm>
            <a:off x="9387086" y="3248918"/>
            <a:ext cx="6337763" cy="10583"/>
          </a:xfrm>
          <a:prstGeom prst="rect">
            <a:avLst/>
          </a:prstGeom>
          <a:solidFill>
            <a:srgbClr val="E2E7E5"/>
          </a:solidFill>
          <a:ln/>
        </p:spPr>
      </p:sp>
      <p:sp>
        <p:nvSpPr>
          <p:cNvPr id="31" name="Shape 29"/>
          <p:cNvSpPr/>
          <p:nvPr/>
        </p:nvSpPr>
        <p:spPr>
          <a:xfrm>
            <a:off x="15714266" y="2549426"/>
            <a:ext cx="10583" cy="710076"/>
          </a:xfrm>
          <a:prstGeom prst="rect">
            <a:avLst/>
          </a:prstGeom>
          <a:solidFill>
            <a:srgbClr val="E2E7E5"/>
          </a:solidFill>
          <a:ln/>
        </p:spPr>
      </p:sp>
      <p:sp>
        <p:nvSpPr>
          <p:cNvPr id="32" name="Text 30"/>
          <p:cNvSpPr/>
          <p:nvPr/>
        </p:nvSpPr>
        <p:spPr>
          <a:xfrm>
            <a:off x="9349353" y="2673251"/>
            <a:ext cx="6212513" cy="489942"/>
          </a:xfrm>
          <a:prstGeom prst="rect">
            <a:avLst/>
          </a:prstGeom>
          <a:noFill/>
          <a:ln/>
        </p:spPr>
        <p:txBody>
          <a:bodyPr wrap="square" lIns="25400" tIns="25400" rIns="25400" bIns="25400" rtlCol="0" anchor="ctr">
            <a:normAutofit/>
          </a:bodyPr>
          <a:lstStyle/>
          <a:p>
            <a:pPr algn="r" indent="0" marL="0">
              <a:lnSpc>
                <a:spcPct val="125000"/>
              </a:lnSpc>
              <a:buNone/>
            </a:pPr>
            <a:r>
              <a:rPr lang="en-US" sz="1425" b="1" spc="100" kern="0" dirty="0">
                <a:solidFill>
                  <a:srgbClr val="6B7771"/>
                </a:solidFill>
                <a:latin typeface="Courier New" pitchFamily="34" charset="0"/>
                <a:ea typeface="Courier New" pitchFamily="34" charset="-122"/>
                <a:cs typeface="Courier New" pitchFamily="34" charset="-120"/>
              </a:rPr>
              <a:t>GIÁ / NĂM (VND)</a:t>
            </a:r>
            <a:endParaRPr lang="en-US" sz="1425" dirty="0"/>
          </a:p>
        </p:txBody>
      </p:sp>
      <p:sp>
        <p:nvSpPr>
          <p:cNvPr id="33" name="Shape 31"/>
          <p:cNvSpPr/>
          <p:nvPr/>
        </p:nvSpPr>
        <p:spPr>
          <a:xfrm>
            <a:off x="15724849" y="2549426"/>
            <a:ext cx="1409568" cy="710076"/>
          </a:xfrm>
          <a:prstGeom prst="rect">
            <a:avLst/>
          </a:prstGeom>
          <a:solidFill>
            <a:srgbClr val="F7F9F8"/>
          </a:solidFill>
          <a:ln/>
        </p:spPr>
      </p:sp>
      <p:sp>
        <p:nvSpPr>
          <p:cNvPr id="34" name="Shape 32"/>
          <p:cNvSpPr/>
          <p:nvPr/>
        </p:nvSpPr>
        <p:spPr>
          <a:xfrm>
            <a:off x="15724849" y="3248918"/>
            <a:ext cx="1409568" cy="10583"/>
          </a:xfrm>
          <a:prstGeom prst="rect">
            <a:avLst/>
          </a:prstGeom>
          <a:solidFill>
            <a:srgbClr val="E2E7E5"/>
          </a:solidFill>
          <a:ln/>
        </p:spPr>
      </p:sp>
      <p:sp>
        <p:nvSpPr>
          <p:cNvPr id="35" name="Text 33"/>
          <p:cNvSpPr/>
          <p:nvPr/>
        </p:nvSpPr>
        <p:spPr>
          <a:xfrm>
            <a:off x="15801049" y="2673251"/>
            <a:ext cx="1180968" cy="489942"/>
          </a:xfrm>
          <a:prstGeom prst="rect">
            <a:avLst/>
          </a:prstGeom>
          <a:noFill/>
          <a:ln/>
        </p:spPr>
        <p:txBody>
          <a:bodyPr wrap="square" lIns="25400" tIns="25400" rIns="25400" bIns="25400" rtlCol="0" anchor="ctr">
            <a:normAutofit/>
          </a:bodyPr>
          <a:lstStyle/>
          <a:p>
            <a:pPr algn="r" indent="0" marL="0">
              <a:lnSpc>
                <a:spcPct val="125000"/>
              </a:lnSpc>
              <a:buNone/>
            </a:pPr>
            <a:r>
              <a:rPr lang="en-US" sz="1425" b="1" spc="100" kern="0" dirty="0">
                <a:solidFill>
                  <a:srgbClr val="6B7771"/>
                </a:solidFill>
                <a:latin typeface="Courier New" pitchFamily="34" charset="0"/>
                <a:ea typeface="Courier New" pitchFamily="34" charset="-122"/>
                <a:cs typeface="Courier New" pitchFamily="34" charset="-120"/>
              </a:rPr>
              <a:t>TB / SK</a:t>
            </a:r>
            <a:endParaRPr lang="en-US" sz="1425" dirty="0"/>
          </a:p>
        </p:txBody>
      </p:sp>
      <p:sp>
        <p:nvSpPr>
          <p:cNvPr id="36" name="Shape 34"/>
          <p:cNvSpPr/>
          <p:nvPr/>
        </p:nvSpPr>
        <p:spPr>
          <a:xfrm>
            <a:off x="1153583" y="3966931"/>
            <a:ext cx="2762250" cy="10583"/>
          </a:xfrm>
          <a:prstGeom prst="rect">
            <a:avLst/>
          </a:prstGeom>
          <a:solidFill>
            <a:srgbClr val="E2E7E5"/>
          </a:solidFill>
          <a:ln/>
        </p:spPr>
      </p:sp>
      <p:sp>
        <p:nvSpPr>
          <p:cNvPr id="37" name="Shape 35"/>
          <p:cNvSpPr/>
          <p:nvPr/>
        </p:nvSpPr>
        <p:spPr>
          <a:xfrm>
            <a:off x="3905250" y="3259501"/>
            <a:ext cx="10583" cy="718013"/>
          </a:xfrm>
          <a:prstGeom prst="rect">
            <a:avLst/>
          </a:prstGeom>
          <a:solidFill>
            <a:srgbClr val="E2E7E5"/>
          </a:solidFill>
          <a:ln/>
        </p:spPr>
      </p:sp>
      <p:sp>
        <p:nvSpPr>
          <p:cNvPr id="38" name="Text 36"/>
          <p:cNvSpPr/>
          <p:nvPr/>
        </p:nvSpPr>
        <p:spPr>
          <a:xfrm>
            <a:off x="1305884" y="3354751"/>
            <a:ext cx="2523265" cy="308140"/>
          </a:xfrm>
          <a:prstGeom prst="rect">
            <a:avLst/>
          </a:prstGeom>
          <a:noFill/>
          <a:ln/>
        </p:spPr>
        <p:txBody>
          <a:bodyPr wrap="square" lIns="25400" tIns="25400" rIns="25400" bIns="25400" rtlCol="0" anchor="t">
            <a:normAutofit/>
          </a:bodyPr>
          <a:lstStyle/>
          <a:p>
            <a:pPr algn="l" indent="0" marL="0">
              <a:lnSpc>
                <a:spcPct val="135000"/>
              </a:lnSpc>
              <a:buNone/>
            </a:pPr>
            <a:r>
              <a:rPr lang="en-US" sz="1575" b="1" spc="-16" kern="0" dirty="0">
                <a:solidFill>
                  <a:srgbClr val="0F1311"/>
                </a:solidFill>
                <a:latin typeface="Arial" pitchFamily="34" charset="0"/>
                <a:ea typeface="Arial" pitchFamily="34" charset="-122"/>
                <a:cs typeface="Arial" pitchFamily="34" charset="-120"/>
              </a:rPr>
              <a:t>MISA JetPay BankHub</a:t>
            </a:r>
            <a:endParaRPr lang="en-US" sz="1575" dirty="0"/>
          </a:p>
        </p:txBody>
      </p:sp>
      <p:sp>
        <p:nvSpPr>
          <p:cNvPr id="39" name="Text 37"/>
          <p:cNvSpPr/>
          <p:nvPr/>
        </p:nvSpPr>
        <p:spPr>
          <a:xfrm>
            <a:off x="1305884" y="3653235"/>
            <a:ext cx="2523265" cy="256547"/>
          </a:xfrm>
          <a:prstGeom prst="rect">
            <a:avLst/>
          </a:prstGeom>
          <a:noFill/>
          <a:ln/>
        </p:spPr>
        <p:txBody>
          <a:bodyPr wrap="square" lIns="25400" tIns="25400" rIns="25400" bIns="25400" rtlCol="0" anchor="t">
            <a:normAutofit/>
          </a:bodyPr>
          <a:lstStyle/>
          <a:p>
            <a:pPr algn="l" indent="0" marL="0">
              <a:lnSpc>
                <a:spcPct val="135000"/>
              </a:lnSpc>
              <a:buNone/>
            </a:pPr>
            <a:r>
              <a:rPr lang="en-US" sz="1275" spc="77" kern="0" dirty="0">
                <a:solidFill>
                  <a:srgbClr val="6B7771"/>
                </a:solidFill>
                <a:latin typeface="Courier New" pitchFamily="34" charset="0"/>
                <a:ea typeface="Courier New" pitchFamily="34" charset="-122"/>
                <a:cs typeface="Courier New" pitchFamily="34" charset="-120"/>
              </a:rPr>
              <a:t>ĐỐI THỦ TRỰC TIẾP M1</a:t>
            </a:r>
            <a:endParaRPr lang="en-US" sz="1275" dirty="0"/>
          </a:p>
        </p:txBody>
      </p:sp>
      <p:sp>
        <p:nvSpPr>
          <p:cNvPr id="40" name="Shape 38"/>
          <p:cNvSpPr/>
          <p:nvPr/>
        </p:nvSpPr>
        <p:spPr>
          <a:xfrm>
            <a:off x="3915834" y="3259501"/>
            <a:ext cx="1047750" cy="718013"/>
          </a:xfrm>
          <a:prstGeom prst="rect">
            <a:avLst/>
          </a:prstGeom>
          <a:solidFill>
            <a:srgbClr val="E6F8EF"/>
          </a:solidFill>
          <a:ln/>
        </p:spPr>
      </p:sp>
      <p:sp>
        <p:nvSpPr>
          <p:cNvPr id="41" name="Shape 39"/>
          <p:cNvSpPr/>
          <p:nvPr/>
        </p:nvSpPr>
        <p:spPr>
          <a:xfrm>
            <a:off x="3915834" y="3966931"/>
            <a:ext cx="1047750" cy="10583"/>
          </a:xfrm>
          <a:prstGeom prst="rect">
            <a:avLst/>
          </a:prstGeom>
          <a:solidFill>
            <a:srgbClr val="E2E7E5"/>
          </a:solidFill>
          <a:ln/>
        </p:spPr>
      </p:sp>
      <p:sp>
        <p:nvSpPr>
          <p:cNvPr id="42" name="Shape 40"/>
          <p:cNvSpPr/>
          <p:nvPr/>
        </p:nvSpPr>
        <p:spPr>
          <a:xfrm>
            <a:off x="4953000" y="3259501"/>
            <a:ext cx="10583" cy="718013"/>
          </a:xfrm>
          <a:prstGeom prst="rect">
            <a:avLst/>
          </a:prstGeom>
          <a:solidFill>
            <a:srgbClr val="E2E7E5"/>
          </a:solidFill>
          <a:ln/>
        </p:spPr>
      </p:sp>
      <p:sp>
        <p:nvSpPr>
          <p:cNvPr id="43" name="Text 41"/>
          <p:cNvSpPr/>
          <p:nvPr/>
        </p:nvSpPr>
        <p:spPr>
          <a:xfrm>
            <a:off x="4030134" y="3354751"/>
            <a:ext cx="808567" cy="555030"/>
          </a:xfrm>
          <a:prstGeom prst="rect">
            <a:avLst/>
          </a:prstGeom>
          <a:noFill/>
          <a:ln/>
        </p:spPr>
        <p:txBody>
          <a:bodyPr wrap="square" lIns="25400" tIns="25400" rIns="25400" bIns="25400" rtlCol="0" anchor="ctr">
            <a:normAutofit/>
          </a:bodyPr>
          <a:lstStyle/>
          <a:p>
            <a:pPr algn="ctr" indent="0" marL="0">
              <a:lnSpc>
                <a:spcPct val="135000"/>
              </a:lnSpc>
              <a:buNone/>
            </a:pPr>
            <a:r>
              <a:rPr lang="en-US" sz="1575" b="1" dirty="0">
                <a:solidFill>
                  <a:srgbClr val="006B40"/>
                </a:solidFill>
                <a:latin typeface="Arial" pitchFamily="34" charset="0"/>
                <a:ea typeface="Arial" pitchFamily="34" charset="-122"/>
                <a:cs typeface="Arial" pitchFamily="34" charset="-120"/>
              </a:rPr>
              <a:t>✓</a:t>
            </a:r>
            <a:endParaRPr lang="en-US" sz="1575" dirty="0"/>
          </a:p>
        </p:txBody>
      </p:sp>
      <p:sp>
        <p:nvSpPr>
          <p:cNvPr id="44" name="Shape 42"/>
          <p:cNvSpPr/>
          <p:nvPr/>
        </p:nvSpPr>
        <p:spPr>
          <a:xfrm>
            <a:off x="4963584" y="3966931"/>
            <a:ext cx="1047750" cy="10583"/>
          </a:xfrm>
          <a:prstGeom prst="rect">
            <a:avLst/>
          </a:prstGeom>
          <a:solidFill>
            <a:srgbClr val="E2E7E5"/>
          </a:solidFill>
          <a:ln/>
        </p:spPr>
      </p:sp>
      <p:sp>
        <p:nvSpPr>
          <p:cNvPr id="45" name="Shape 43"/>
          <p:cNvSpPr/>
          <p:nvPr/>
        </p:nvSpPr>
        <p:spPr>
          <a:xfrm>
            <a:off x="6000750" y="3259501"/>
            <a:ext cx="10583" cy="718013"/>
          </a:xfrm>
          <a:prstGeom prst="rect">
            <a:avLst/>
          </a:prstGeom>
          <a:solidFill>
            <a:srgbClr val="E2E7E5"/>
          </a:solidFill>
          <a:ln/>
        </p:spPr>
      </p:sp>
      <p:sp>
        <p:nvSpPr>
          <p:cNvPr id="46" name="Text 44"/>
          <p:cNvSpPr/>
          <p:nvPr/>
        </p:nvSpPr>
        <p:spPr>
          <a:xfrm>
            <a:off x="5077884" y="3354751"/>
            <a:ext cx="808567" cy="555030"/>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47" name="Shape 45"/>
          <p:cNvSpPr/>
          <p:nvPr/>
        </p:nvSpPr>
        <p:spPr>
          <a:xfrm>
            <a:off x="6011334" y="3259501"/>
            <a:ext cx="1164001" cy="718013"/>
          </a:xfrm>
          <a:prstGeom prst="rect">
            <a:avLst/>
          </a:prstGeom>
          <a:solidFill>
            <a:srgbClr val="E6F8EF"/>
          </a:solidFill>
          <a:ln/>
        </p:spPr>
      </p:sp>
      <p:sp>
        <p:nvSpPr>
          <p:cNvPr id="48" name="Shape 46"/>
          <p:cNvSpPr/>
          <p:nvPr/>
        </p:nvSpPr>
        <p:spPr>
          <a:xfrm>
            <a:off x="6011334" y="3966931"/>
            <a:ext cx="1164001" cy="10583"/>
          </a:xfrm>
          <a:prstGeom prst="rect">
            <a:avLst/>
          </a:prstGeom>
          <a:solidFill>
            <a:srgbClr val="E2E7E5"/>
          </a:solidFill>
          <a:ln/>
        </p:spPr>
      </p:sp>
      <p:sp>
        <p:nvSpPr>
          <p:cNvPr id="49" name="Shape 47"/>
          <p:cNvSpPr/>
          <p:nvPr/>
        </p:nvSpPr>
        <p:spPr>
          <a:xfrm>
            <a:off x="7164752" y="3259501"/>
            <a:ext cx="10583" cy="718013"/>
          </a:xfrm>
          <a:prstGeom prst="rect">
            <a:avLst/>
          </a:prstGeom>
          <a:solidFill>
            <a:srgbClr val="E2E7E5"/>
          </a:solidFill>
          <a:ln/>
        </p:spPr>
      </p:sp>
      <p:sp>
        <p:nvSpPr>
          <p:cNvPr id="50" name="Text 48"/>
          <p:cNvSpPr/>
          <p:nvPr/>
        </p:nvSpPr>
        <p:spPr>
          <a:xfrm>
            <a:off x="6125634" y="3354751"/>
            <a:ext cx="924818" cy="555030"/>
          </a:xfrm>
          <a:prstGeom prst="rect">
            <a:avLst/>
          </a:prstGeom>
          <a:noFill/>
          <a:ln/>
        </p:spPr>
        <p:txBody>
          <a:bodyPr wrap="square" lIns="25400" tIns="25400" rIns="25400" bIns="25400" rtlCol="0" anchor="ctr">
            <a:normAutofit/>
          </a:bodyPr>
          <a:lstStyle/>
          <a:p>
            <a:pPr algn="ctr" indent="0" marL="0">
              <a:lnSpc>
                <a:spcPct val="135000"/>
              </a:lnSpc>
              <a:buNone/>
            </a:pPr>
            <a:r>
              <a:rPr lang="en-US" sz="1575" b="1" dirty="0">
                <a:solidFill>
                  <a:srgbClr val="006B40"/>
                </a:solidFill>
                <a:latin typeface="Arial" pitchFamily="34" charset="0"/>
                <a:ea typeface="Arial" pitchFamily="34" charset="-122"/>
                <a:cs typeface="Arial" pitchFamily="34" charset="-120"/>
              </a:rPr>
              <a:t>✓</a:t>
            </a:r>
            <a:endParaRPr lang="en-US" sz="1575" dirty="0"/>
          </a:p>
        </p:txBody>
      </p:sp>
      <p:sp>
        <p:nvSpPr>
          <p:cNvPr id="51" name="Shape 49"/>
          <p:cNvSpPr/>
          <p:nvPr/>
        </p:nvSpPr>
        <p:spPr>
          <a:xfrm>
            <a:off x="7175335" y="3966931"/>
            <a:ext cx="1164001" cy="10583"/>
          </a:xfrm>
          <a:prstGeom prst="rect">
            <a:avLst/>
          </a:prstGeom>
          <a:solidFill>
            <a:srgbClr val="E2E7E5"/>
          </a:solidFill>
          <a:ln/>
        </p:spPr>
      </p:sp>
      <p:sp>
        <p:nvSpPr>
          <p:cNvPr id="52" name="Shape 50"/>
          <p:cNvSpPr/>
          <p:nvPr/>
        </p:nvSpPr>
        <p:spPr>
          <a:xfrm>
            <a:off x="8328753" y="3259501"/>
            <a:ext cx="10583" cy="718013"/>
          </a:xfrm>
          <a:prstGeom prst="rect">
            <a:avLst/>
          </a:prstGeom>
          <a:solidFill>
            <a:srgbClr val="E2E7E5"/>
          </a:solidFill>
          <a:ln/>
        </p:spPr>
      </p:sp>
      <p:sp>
        <p:nvSpPr>
          <p:cNvPr id="53" name="Text 51"/>
          <p:cNvSpPr/>
          <p:nvPr/>
        </p:nvSpPr>
        <p:spPr>
          <a:xfrm>
            <a:off x="7289635" y="3354751"/>
            <a:ext cx="924818" cy="555030"/>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54" name="Shape 52"/>
          <p:cNvSpPr/>
          <p:nvPr/>
        </p:nvSpPr>
        <p:spPr>
          <a:xfrm>
            <a:off x="8339336" y="3966931"/>
            <a:ext cx="1047750" cy="10583"/>
          </a:xfrm>
          <a:prstGeom prst="rect">
            <a:avLst/>
          </a:prstGeom>
          <a:solidFill>
            <a:srgbClr val="E2E7E5"/>
          </a:solidFill>
          <a:ln/>
        </p:spPr>
      </p:sp>
      <p:sp>
        <p:nvSpPr>
          <p:cNvPr id="55" name="Shape 53"/>
          <p:cNvSpPr/>
          <p:nvPr/>
        </p:nvSpPr>
        <p:spPr>
          <a:xfrm>
            <a:off x="9376503" y="3259501"/>
            <a:ext cx="10583" cy="718013"/>
          </a:xfrm>
          <a:prstGeom prst="rect">
            <a:avLst/>
          </a:prstGeom>
          <a:solidFill>
            <a:srgbClr val="E2E7E5"/>
          </a:solidFill>
          <a:ln/>
        </p:spPr>
      </p:sp>
      <p:sp>
        <p:nvSpPr>
          <p:cNvPr id="56" name="Text 54"/>
          <p:cNvSpPr/>
          <p:nvPr/>
        </p:nvSpPr>
        <p:spPr>
          <a:xfrm>
            <a:off x="8453636" y="3354751"/>
            <a:ext cx="808567" cy="555030"/>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57" name="Shape 55"/>
          <p:cNvSpPr/>
          <p:nvPr/>
        </p:nvSpPr>
        <p:spPr>
          <a:xfrm>
            <a:off x="9387086" y="3966931"/>
            <a:ext cx="6337763" cy="10583"/>
          </a:xfrm>
          <a:prstGeom prst="rect">
            <a:avLst/>
          </a:prstGeom>
          <a:solidFill>
            <a:srgbClr val="E2E7E5"/>
          </a:solidFill>
          <a:ln/>
        </p:spPr>
      </p:sp>
      <p:sp>
        <p:nvSpPr>
          <p:cNvPr id="58" name="Shape 56"/>
          <p:cNvSpPr/>
          <p:nvPr/>
        </p:nvSpPr>
        <p:spPr>
          <a:xfrm>
            <a:off x="15714266" y="3259501"/>
            <a:ext cx="10583" cy="718013"/>
          </a:xfrm>
          <a:prstGeom prst="rect">
            <a:avLst/>
          </a:prstGeom>
          <a:solidFill>
            <a:srgbClr val="E2E7E5"/>
          </a:solidFill>
          <a:ln/>
        </p:spPr>
      </p:sp>
      <p:sp>
        <p:nvSpPr>
          <p:cNvPr id="59" name="Text 57"/>
          <p:cNvSpPr/>
          <p:nvPr/>
        </p:nvSpPr>
        <p:spPr>
          <a:xfrm>
            <a:off x="14199858" y="3390140"/>
            <a:ext cx="1438308" cy="260350"/>
          </a:xfrm>
          <a:prstGeom prst="rect">
            <a:avLst/>
          </a:prstGeom>
          <a:noFill/>
          <a:ln/>
        </p:spPr>
        <p:txBody>
          <a:bodyPr wrap="square" lIns="0" tIns="0" rIns="0" bIns="0" rtlCol="0" anchor="t">
            <a:normAutofit/>
          </a:bodyPr>
          <a:lstStyle/>
          <a:p>
            <a:pPr algn="r" indent="0" marL="0">
              <a:lnSpc>
                <a:spcPct val="135000"/>
              </a:lnSpc>
              <a:buNone/>
            </a:pPr>
            <a:r>
              <a:rPr lang="en-US" sz="1575" dirty="0">
                <a:solidFill>
                  <a:srgbClr val="323A36"/>
                </a:solidFill>
                <a:latin typeface="Arial" pitchFamily="34" charset="0"/>
                <a:ea typeface="Arial" pitchFamily="34" charset="-122"/>
                <a:cs typeface="Arial" pitchFamily="34" charset="-120"/>
              </a:rPr>
              <a:t>1M + 600K–9M</a:t>
            </a:r>
            <a:endParaRPr lang="en-US" sz="1575" dirty="0"/>
          </a:p>
        </p:txBody>
      </p:sp>
      <p:sp>
        <p:nvSpPr>
          <p:cNvPr id="60" name="Text 58"/>
          <p:cNvSpPr/>
          <p:nvPr/>
        </p:nvSpPr>
        <p:spPr>
          <a:xfrm>
            <a:off x="9358710" y="3639013"/>
            <a:ext cx="6203256" cy="256547"/>
          </a:xfrm>
          <a:prstGeom prst="rect">
            <a:avLst/>
          </a:prstGeom>
          <a:noFill/>
          <a:ln/>
        </p:spPr>
        <p:txBody>
          <a:bodyPr wrap="square" lIns="25400" tIns="25400" rIns="25400" bIns="25400" rtlCol="0" anchor="t">
            <a:normAutofit/>
          </a:bodyPr>
          <a:lstStyle/>
          <a:p>
            <a:pPr algn="r" indent="0" marL="0">
              <a:lnSpc>
                <a:spcPct val="135000"/>
              </a:lnSpc>
              <a:buNone/>
            </a:pPr>
            <a:r>
              <a:rPr lang="en-US" sz="1275" dirty="0">
                <a:solidFill>
                  <a:srgbClr val="6B7771"/>
                </a:solidFill>
                <a:latin typeface="Arial" pitchFamily="34" charset="0"/>
                <a:ea typeface="Arial" pitchFamily="34" charset="-122"/>
                <a:cs typeface="Arial" pitchFamily="34" charset="-120"/>
              </a:rPr>
              <a:t>(0,5k–10K events)</a:t>
            </a:r>
            <a:endParaRPr lang="en-US" sz="1275" dirty="0"/>
          </a:p>
        </p:txBody>
      </p:sp>
      <p:sp>
        <p:nvSpPr>
          <p:cNvPr id="61" name="Shape 59"/>
          <p:cNvSpPr/>
          <p:nvPr/>
        </p:nvSpPr>
        <p:spPr>
          <a:xfrm>
            <a:off x="15724849" y="3966931"/>
            <a:ext cx="1409568" cy="10583"/>
          </a:xfrm>
          <a:prstGeom prst="rect">
            <a:avLst/>
          </a:prstGeom>
          <a:solidFill>
            <a:srgbClr val="E2E7E5"/>
          </a:solidFill>
          <a:ln/>
        </p:spPr>
      </p:sp>
      <p:sp>
        <p:nvSpPr>
          <p:cNvPr id="62" name="Text 60"/>
          <p:cNvSpPr/>
          <p:nvPr/>
        </p:nvSpPr>
        <p:spPr>
          <a:xfrm>
            <a:off x="15801049" y="3354751"/>
            <a:ext cx="1180968" cy="555030"/>
          </a:xfrm>
          <a:prstGeom prst="rect">
            <a:avLst/>
          </a:prstGeom>
          <a:noFill/>
          <a:ln/>
        </p:spPr>
        <p:txBody>
          <a:bodyPr wrap="square" lIns="25400" tIns="25400" rIns="25400" bIns="25400" rtlCol="0" anchor="ctr">
            <a:normAutofit/>
          </a:bodyPr>
          <a:lstStyle/>
          <a:p>
            <a:pPr algn="r" indent="0" marL="0">
              <a:lnSpc>
                <a:spcPct val="135000"/>
              </a:lnSpc>
              <a:buNone/>
            </a:pPr>
            <a:r>
              <a:rPr lang="en-US" sz="1575" b="1" dirty="0">
                <a:solidFill>
                  <a:srgbClr val="6B7771"/>
                </a:solidFill>
                <a:latin typeface="Courier New" pitchFamily="34" charset="0"/>
                <a:ea typeface="Courier New" pitchFamily="34" charset="-122"/>
                <a:cs typeface="Courier New" pitchFamily="34" charset="-120"/>
              </a:rPr>
              <a:t>~1.000đ</a:t>
            </a:r>
            <a:endParaRPr lang="en-US" sz="1575" dirty="0"/>
          </a:p>
        </p:txBody>
      </p:sp>
      <p:sp>
        <p:nvSpPr>
          <p:cNvPr id="63" name="Shape 61"/>
          <p:cNvSpPr/>
          <p:nvPr/>
        </p:nvSpPr>
        <p:spPr>
          <a:xfrm>
            <a:off x="1153583" y="4903391"/>
            <a:ext cx="2762250" cy="10583"/>
          </a:xfrm>
          <a:prstGeom prst="rect">
            <a:avLst/>
          </a:prstGeom>
          <a:solidFill>
            <a:srgbClr val="E2E7E5"/>
          </a:solidFill>
          <a:ln/>
        </p:spPr>
      </p:sp>
      <p:sp>
        <p:nvSpPr>
          <p:cNvPr id="64" name="Shape 62"/>
          <p:cNvSpPr/>
          <p:nvPr/>
        </p:nvSpPr>
        <p:spPr>
          <a:xfrm>
            <a:off x="3905250" y="3977514"/>
            <a:ext cx="10583" cy="936460"/>
          </a:xfrm>
          <a:prstGeom prst="rect">
            <a:avLst/>
          </a:prstGeom>
          <a:solidFill>
            <a:srgbClr val="E2E7E5"/>
          </a:solidFill>
          <a:ln/>
        </p:spPr>
      </p:sp>
      <p:sp>
        <p:nvSpPr>
          <p:cNvPr id="65" name="Text 63"/>
          <p:cNvSpPr/>
          <p:nvPr/>
        </p:nvSpPr>
        <p:spPr>
          <a:xfrm>
            <a:off x="1305884" y="4072764"/>
            <a:ext cx="2523265" cy="308140"/>
          </a:xfrm>
          <a:prstGeom prst="rect">
            <a:avLst/>
          </a:prstGeom>
          <a:noFill/>
          <a:ln/>
        </p:spPr>
        <p:txBody>
          <a:bodyPr wrap="square" lIns="25400" tIns="25400" rIns="25400" bIns="25400" rtlCol="0" anchor="t">
            <a:normAutofit/>
          </a:bodyPr>
          <a:lstStyle/>
          <a:p>
            <a:pPr algn="l" indent="0" marL="0">
              <a:lnSpc>
                <a:spcPct val="135000"/>
              </a:lnSpc>
              <a:buNone/>
            </a:pPr>
            <a:r>
              <a:rPr lang="en-US" sz="1575" b="1" spc="-16" kern="0" dirty="0">
                <a:solidFill>
                  <a:srgbClr val="0F1311"/>
                </a:solidFill>
                <a:latin typeface="Arial" pitchFamily="34" charset="0"/>
                <a:ea typeface="Arial" pitchFamily="34" charset="-122"/>
                <a:cs typeface="Arial" pitchFamily="34" charset="-120"/>
              </a:rPr>
              <a:t>MISA meInvoice</a:t>
            </a:r>
            <a:endParaRPr lang="en-US" sz="1575" dirty="0"/>
          </a:p>
        </p:txBody>
      </p:sp>
      <p:sp>
        <p:nvSpPr>
          <p:cNvPr id="66" name="Text 64"/>
          <p:cNvSpPr/>
          <p:nvPr/>
        </p:nvSpPr>
        <p:spPr>
          <a:xfrm>
            <a:off x="1305884" y="4371248"/>
            <a:ext cx="2523265" cy="474993"/>
          </a:xfrm>
          <a:prstGeom prst="rect">
            <a:avLst/>
          </a:prstGeom>
          <a:noFill/>
          <a:ln/>
        </p:spPr>
        <p:txBody>
          <a:bodyPr wrap="square" lIns="25400" tIns="25400" rIns="25400" bIns="25400" rtlCol="0" anchor="t">
            <a:normAutofit/>
          </a:bodyPr>
          <a:lstStyle/>
          <a:p>
            <a:pPr algn="l" indent="0" marL="0">
              <a:lnSpc>
                <a:spcPct val="135000"/>
              </a:lnSpc>
              <a:buNone/>
            </a:pPr>
            <a:r>
              <a:rPr lang="en-US" sz="1275" spc="77" kern="0" dirty="0">
                <a:solidFill>
                  <a:srgbClr val="6B7771"/>
                </a:solidFill>
                <a:latin typeface="Courier New" pitchFamily="34" charset="0"/>
                <a:ea typeface="Courier New" pitchFamily="34" charset="-122"/>
                <a:cs typeface="Courier New" pitchFamily="34" charset="-120"/>
              </a:rPr>
              <a:t>ĐỐI THỦ TRỰC TIẾP M2 + M4</a:t>
            </a:r>
            <a:endParaRPr lang="en-US" sz="1275" dirty="0"/>
          </a:p>
        </p:txBody>
      </p:sp>
      <p:sp>
        <p:nvSpPr>
          <p:cNvPr id="67" name="Shape 65"/>
          <p:cNvSpPr/>
          <p:nvPr/>
        </p:nvSpPr>
        <p:spPr>
          <a:xfrm>
            <a:off x="3915834" y="4903391"/>
            <a:ext cx="1047750" cy="10583"/>
          </a:xfrm>
          <a:prstGeom prst="rect">
            <a:avLst/>
          </a:prstGeom>
          <a:solidFill>
            <a:srgbClr val="E2E7E5"/>
          </a:solidFill>
          <a:ln/>
        </p:spPr>
      </p:sp>
      <p:sp>
        <p:nvSpPr>
          <p:cNvPr id="68" name="Shape 66"/>
          <p:cNvSpPr/>
          <p:nvPr/>
        </p:nvSpPr>
        <p:spPr>
          <a:xfrm>
            <a:off x="4953000" y="3977514"/>
            <a:ext cx="10583" cy="936460"/>
          </a:xfrm>
          <a:prstGeom prst="rect">
            <a:avLst/>
          </a:prstGeom>
          <a:solidFill>
            <a:srgbClr val="E2E7E5"/>
          </a:solidFill>
          <a:ln/>
        </p:spPr>
      </p:sp>
      <p:sp>
        <p:nvSpPr>
          <p:cNvPr id="69" name="Text 67"/>
          <p:cNvSpPr/>
          <p:nvPr/>
        </p:nvSpPr>
        <p:spPr>
          <a:xfrm>
            <a:off x="4030134" y="4072764"/>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70" name="Shape 68"/>
          <p:cNvSpPr/>
          <p:nvPr/>
        </p:nvSpPr>
        <p:spPr>
          <a:xfrm>
            <a:off x="4963584" y="3977514"/>
            <a:ext cx="1047750" cy="936460"/>
          </a:xfrm>
          <a:prstGeom prst="rect">
            <a:avLst/>
          </a:prstGeom>
          <a:solidFill>
            <a:srgbClr val="FEF6E7"/>
          </a:solidFill>
          <a:ln/>
        </p:spPr>
      </p:sp>
      <p:sp>
        <p:nvSpPr>
          <p:cNvPr id="71" name="Shape 69"/>
          <p:cNvSpPr/>
          <p:nvPr/>
        </p:nvSpPr>
        <p:spPr>
          <a:xfrm>
            <a:off x="4963584" y="4903391"/>
            <a:ext cx="1047750" cy="10583"/>
          </a:xfrm>
          <a:prstGeom prst="rect">
            <a:avLst/>
          </a:prstGeom>
          <a:solidFill>
            <a:srgbClr val="E2E7E5"/>
          </a:solidFill>
          <a:ln/>
        </p:spPr>
      </p:sp>
      <p:sp>
        <p:nvSpPr>
          <p:cNvPr id="72" name="Shape 70"/>
          <p:cNvSpPr/>
          <p:nvPr/>
        </p:nvSpPr>
        <p:spPr>
          <a:xfrm>
            <a:off x="6000750" y="3977514"/>
            <a:ext cx="10583" cy="936460"/>
          </a:xfrm>
          <a:prstGeom prst="rect">
            <a:avLst/>
          </a:prstGeom>
          <a:solidFill>
            <a:srgbClr val="E2E7E5"/>
          </a:solidFill>
          <a:ln/>
        </p:spPr>
      </p:sp>
      <p:sp>
        <p:nvSpPr>
          <p:cNvPr id="73" name="Text 71"/>
          <p:cNvSpPr/>
          <p:nvPr/>
        </p:nvSpPr>
        <p:spPr>
          <a:xfrm>
            <a:off x="5077884" y="4072764"/>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b="1" dirty="0">
                <a:solidFill>
                  <a:srgbClr val="A86A04"/>
                </a:solidFill>
                <a:highlight>
                  <a:srgbClr val="FEF6E7"/>
                </a:highlight>
                <a:latin typeface="Arial" pitchFamily="34" charset="0"/>
                <a:ea typeface="Arial" pitchFamily="34" charset="-122"/>
                <a:cs typeface="Arial" pitchFamily="34" charset="-120"/>
              </a:rPr>
              <a:t>một phần *</a:t>
            </a:r>
            <a:endParaRPr lang="en-US" sz="1575" dirty="0"/>
          </a:p>
        </p:txBody>
      </p:sp>
      <p:sp>
        <p:nvSpPr>
          <p:cNvPr id="74" name="Shape 72"/>
          <p:cNvSpPr/>
          <p:nvPr/>
        </p:nvSpPr>
        <p:spPr>
          <a:xfrm>
            <a:off x="6011334" y="4903391"/>
            <a:ext cx="1164001" cy="10583"/>
          </a:xfrm>
          <a:prstGeom prst="rect">
            <a:avLst/>
          </a:prstGeom>
          <a:solidFill>
            <a:srgbClr val="E2E7E5"/>
          </a:solidFill>
          <a:ln/>
        </p:spPr>
      </p:sp>
      <p:sp>
        <p:nvSpPr>
          <p:cNvPr id="75" name="Shape 73"/>
          <p:cNvSpPr/>
          <p:nvPr/>
        </p:nvSpPr>
        <p:spPr>
          <a:xfrm>
            <a:off x="7164752" y="3977514"/>
            <a:ext cx="10583" cy="936460"/>
          </a:xfrm>
          <a:prstGeom prst="rect">
            <a:avLst/>
          </a:prstGeom>
          <a:solidFill>
            <a:srgbClr val="E2E7E5"/>
          </a:solidFill>
          <a:ln/>
        </p:spPr>
      </p:sp>
      <p:sp>
        <p:nvSpPr>
          <p:cNvPr id="76" name="Text 74"/>
          <p:cNvSpPr/>
          <p:nvPr/>
        </p:nvSpPr>
        <p:spPr>
          <a:xfrm>
            <a:off x="6125634" y="4072764"/>
            <a:ext cx="924818"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77" name="Shape 75"/>
          <p:cNvSpPr/>
          <p:nvPr/>
        </p:nvSpPr>
        <p:spPr>
          <a:xfrm>
            <a:off x="7175335" y="3977514"/>
            <a:ext cx="1164001" cy="936460"/>
          </a:xfrm>
          <a:prstGeom prst="rect">
            <a:avLst/>
          </a:prstGeom>
          <a:solidFill>
            <a:srgbClr val="E6F8EF"/>
          </a:solidFill>
          <a:ln/>
        </p:spPr>
      </p:sp>
      <p:sp>
        <p:nvSpPr>
          <p:cNvPr id="78" name="Shape 76"/>
          <p:cNvSpPr/>
          <p:nvPr/>
        </p:nvSpPr>
        <p:spPr>
          <a:xfrm>
            <a:off x="7175335" y="4903391"/>
            <a:ext cx="1164001" cy="10583"/>
          </a:xfrm>
          <a:prstGeom prst="rect">
            <a:avLst/>
          </a:prstGeom>
          <a:solidFill>
            <a:srgbClr val="E2E7E5"/>
          </a:solidFill>
          <a:ln/>
        </p:spPr>
      </p:sp>
      <p:sp>
        <p:nvSpPr>
          <p:cNvPr id="79" name="Shape 77"/>
          <p:cNvSpPr/>
          <p:nvPr/>
        </p:nvSpPr>
        <p:spPr>
          <a:xfrm>
            <a:off x="8328753" y="3977514"/>
            <a:ext cx="10583" cy="936460"/>
          </a:xfrm>
          <a:prstGeom prst="rect">
            <a:avLst/>
          </a:prstGeom>
          <a:solidFill>
            <a:srgbClr val="E2E7E5"/>
          </a:solidFill>
          <a:ln/>
        </p:spPr>
      </p:sp>
      <p:sp>
        <p:nvSpPr>
          <p:cNvPr id="80" name="Text 78"/>
          <p:cNvSpPr/>
          <p:nvPr/>
        </p:nvSpPr>
        <p:spPr>
          <a:xfrm>
            <a:off x="7289635" y="4072764"/>
            <a:ext cx="924818"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b="1" dirty="0">
                <a:solidFill>
                  <a:srgbClr val="006B40"/>
                </a:solidFill>
                <a:latin typeface="Arial" pitchFamily="34" charset="0"/>
                <a:ea typeface="Arial" pitchFamily="34" charset="-122"/>
                <a:cs typeface="Arial" pitchFamily="34" charset="-120"/>
              </a:rPr>
              <a:t>✓</a:t>
            </a:r>
            <a:endParaRPr lang="en-US" sz="1575" dirty="0"/>
          </a:p>
        </p:txBody>
      </p:sp>
      <p:sp>
        <p:nvSpPr>
          <p:cNvPr id="81" name="Shape 79"/>
          <p:cNvSpPr/>
          <p:nvPr/>
        </p:nvSpPr>
        <p:spPr>
          <a:xfrm>
            <a:off x="8339336" y="4903391"/>
            <a:ext cx="1047750" cy="10583"/>
          </a:xfrm>
          <a:prstGeom prst="rect">
            <a:avLst/>
          </a:prstGeom>
          <a:solidFill>
            <a:srgbClr val="E2E7E5"/>
          </a:solidFill>
          <a:ln/>
        </p:spPr>
      </p:sp>
      <p:sp>
        <p:nvSpPr>
          <p:cNvPr id="82" name="Shape 80"/>
          <p:cNvSpPr/>
          <p:nvPr/>
        </p:nvSpPr>
        <p:spPr>
          <a:xfrm>
            <a:off x="9376503" y="3977514"/>
            <a:ext cx="10583" cy="936460"/>
          </a:xfrm>
          <a:prstGeom prst="rect">
            <a:avLst/>
          </a:prstGeom>
          <a:solidFill>
            <a:srgbClr val="E2E7E5"/>
          </a:solidFill>
          <a:ln/>
        </p:spPr>
      </p:sp>
      <p:sp>
        <p:nvSpPr>
          <p:cNvPr id="83" name="Text 81"/>
          <p:cNvSpPr/>
          <p:nvPr/>
        </p:nvSpPr>
        <p:spPr>
          <a:xfrm>
            <a:off x="8453636" y="4072764"/>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84" name="Shape 82"/>
          <p:cNvSpPr/>
          <p:nvPr/>
        </p:nvSpPr>
        <p:spPr>
          <a:xfrm>
            <a:off x="9387086" y="4903391"/>
            <a:ext cx="6337763" cy="10583"/>
          </a:xfrm>
          <a:prstGeom prst="rect">
            <a:avLst/>
          </a:prstGeom>
          <a:solidFill>
            <a:srgbClr val="E2E7E5"/>
          </a:solidFill>
          <a:ln/>
        </p:spPr>
      </p:sp>
      <p:sp>
        <p:nvSpPr>
          <p:cNvPr id="85" name="Shape 83"/>
          <p:cNvSpPr/>
          <p:nvPr/>
        </p:nvSpPr>
        <p:spPr>
          <a:xfrm>
            <a:off x="15714266" y="3977514"/>
            <a:ext cx="10583" cy="936460"/>
          </a:xfrm>
          <a:prstGeom prst="rect">
            <a:avLst/>
          </a:prstGeom>
          <a:solidFill>
            <a:srgbClr val="E2E7E5"/>
          </a:solidFill>
          <a:ln/>
        </p:spPr>
      </p:sp>
      <p:sp>
        <p:nvSpPr>
          <p:cNvPr id="86" name="Text 84"/>
          <p:cNvSpPr/>
          <p:nvPr/>
        </p:nvSpPr>
        <p:spPr>
          <a:xfrm>
            <a:off x="13899225" y="4217293"/>
            <a:ext cx="1738940" cy="260350"/>
          </a:xfrm>
          <a:prstGeom prst="rect">
            <a:avLst/>
          </a:prstGeom>
          <a:noFill/>
          <a:ln/>
        </p:spPr>
        <p:txBody>
          <a:bodyPr wrap="square" lIns="0" tIns="0" rIns="0" bIns="0" rtlCol="0" anchor="t">
            <a:normAutofit/>
          </a:bodyPr>
          <a:lstStyle/>
          <a:p>
            <a:pPr algn="r" indent="0" marL="0">
              <a:lnSpc>
                <a:spcPct val="135000"/>
              </a:lnSpc>
              <a:buNone/>
            </a:pPr>
            <a:r>
              <a:rPr lang="en-US" sz="1575" dirty="0">
                <a:solidFill>
                  <a:srgbClr val="323A36"/>
                </a:solidFill>
                <a:latin typeface="Arial" pitchFamily="34" charset="0"/>
                <a:ea typeface="Arial" pitchFamily="34" charset="-122"/>
                <a:cs typeface="Arial" pitchFamily="34" charset="-120"/>
              </a:rPr>
              <a:t>500K + 390K–31M</a:t>
            </a:r>
            <a:endParaRPr lang="en-US" sz="1575" dirty="0"/>
          </a:p>
        </p:txBody>
      </p:sp>
      <p:sp>
        <p:nvSpPr>
          <p:cNvPr id="87" name="Text 85"/>
          <p:cNvSpPr/>
          <p:nvPr/>
        </p:nvSpPr>
        <p:spPr>
          <a:xfrm>
            <a:off x="9358710" y="4466167"/>
            <a:ext cx="6203256" cy="256547"/>
          </a:xfrm>
          <a:prstGeom prst="rect">
            <a:avLst/>
          </a:prstGeom>
          <a:noFill/>
          <a:ln/>
        </p:spPr>
        <p:txBody>
          <a:bodyPr wrap="square" lIns="25400" tIns="25400" rIns="25400" bIns="25400" rtlCol="0" anchor="t">
            <a:normAutofit/>
          </a:bodyPr>
          <a:lstStyle/>
          <a:p>
            <a:pPr algn="r" indent="0" marL="0">
              <a:lnSpc>
                <a:spcPct val="135000"/>
              </a:lnSpc>
              <a:buNone/>
            </a:pPr>
            <a:r>
              <a:rPr lang="en-US" sz="1275" dirty="0">
                <a:solidFill>
                  <a:srgbClr val="6B7771"/>
                </a:solidFill>
                <a:latin typeface="Arial" pitchFamily="34" charset="0"/>
                <a:ea typeface="Arial" pitchFamily="34" charset="-122"/>
                <a:cs typeface="Arial" pitchFamily="34" charset="-120"/>
              </a:rPr>
              <a:t>(0,3k–5K events)</a:t>
            </a:r>
            <a:endParaRPr lang="en-US" sz="1275" dirty="0"/>
          </a:p>
        </p:txBody>
      </p:sp>
      <p:sp>
        <p:nvSpPr>
          <p:cNvPr id="88" name="Shape 86"/>
          <p:cNvSpPr/>
          <p:nvPr/>
        </p:nvSpPr>
        <p:spPr>
          <a:xfrm>
            <a:off x="15724849" y="4903391"/>
            <a:ext cx="1409568" cy="10583"/>
          </a:xfrm>
          <a:prstGeom prst="rect">
            <a:avLst/>
          </a:prstGeom>
          <a:solidFill>
            <a:srgbClr val="E2E7E5"/>
          </a:solidFill>
          <a:ln/>
        </p:spPr>
      </p:sp>
      <p:sp>
        <p:nvSpPr>
          <p:cNvPr id="89" name="Text 87"/>
          <p:cNvSpPr/>
          <p:nvPr/>
        </p:nvSpPr>
        <p:spPr>
          <a:xfrm>
            <a:off x="15801049" y="4072764"/>
            <a:ext cx="1180968" cy="773476"/>
          </a:xfrm>
          <a:prstGeom prst="rect">
            <a:avLst/>
          </a:prstGeom>
          <a:noFill/>
          <a:ln/>
        </p:spPr>
        <p:txBody>
          <a:bodyPr wrap="square" lIns="25400" tIns="25400" rIns="25400" bIns="25400" rtlCol="0" anchor="ctr">
            <a:normAutofit/>
          </a:bodyPr>
          <a:lstStyle/>
          <a:p>
            <a:pPr algn="r" indent="0" marL="0">
              <a:lnSpc>
                <a:spcPct val="135000"/>
              </a:lnSpc>
              <a:buNone/>
            </a:pPr>
            <a:r>
              <a:rPr lang="en-US" sz="1575" b="1" dirty="0">
                <a:solidFill>
                  <a:srgbClr val="6B7771"/>
                </a:solidFill>
                <a:latin typeface="Courier New" pitchFamily="34" charset="0"/>
                <a:ea typeface="Courier New" pitchFamily="34" charset="-122"/>
                <a:cs typeface="Courier New" pitchFamily="34" charset="-120"/>
              </a:rPr>
              <a:t>~750đ</a:t>
            </a:r>
            <a:endParaRPr lang="en-US" sz="1575" dirty="0"/>
          </a:p>
        </p:txBody>
      </p:sp>
      <p:sp>
        <p:nvSpPr>
          <p:cNvPr id="90" name="Shape 88"/>
          <p:cNvSpPr/>
          <p:nvPr/>
        </p:nvSpPr>
        <p:spPr>
          <a:xfrm>
            <a:off x="1153583" y="5839851"/>
            <a:ext cx="2762250" cy="10583"/>
          </a:xfrm>
          <a:prstGeom prst="rect">
            <a:avLst/>
          </a:prstGeom>
          <a:solidFill>
            <a:srgbClr val="E2E7E5"/>
          </a:solidFill>
          <a:ln/>
        </p:spPr>
      </p:sp>
      <p:sp>
        <p:nvSpPr>
          <p:cNvPr id="91" name="Shape 89"/>
          <p:cNvSpPr/>
          <p:nvPr/>
        </p:nvSpPr>
        <p:spPr>
          <a:xfrm>
            <a:off x="3905250" y="4913974"/>
            <a:ext cx="10583" cy="936460"/>
          </a:xfrm>
          <a:prstGeom prst="rect">
            <a:avLst/>
          </a:prstGeom>
          <a:solidFill>
            <a:srgbClr val="E2E7E5"/>
          </a:solidFill>
          <a:ln/>
        </p:spPr>
      </p:sp>
      <p:sp>
        <p:nvSpPr>
          <p:cNvPr id="92" name="Text 90"/>
          <p:cNvSpPr/>
          <p:nvPr/>
        </p:nvSpPr>
        <p:spPr>
          <a:xfrm>
            <a:off x="1305884" y="5009224"/>
            <a:ext cx="2523265" cy="308140"/>
          </a:xfrm>
          <a:prstGeom prst="rect">
            <a:avLst/>
          </a:prstGeom>
          <a:noFill/>
          <a:ln/>
        </p:spPr>
        <p:txBody>
          <a:bodyPr wrap="square" lIns="25400" tIns="25400" rIns="25400" bIns="25400" rtlCol="0" anchor="t">
            <a:normAutofit/>
          </a:bodyPr>
          <a:lstStyle/>
          <a:p>
            <a:pPr algn="l" indent="0" marL="0">
              <a:lnSpc>
                <a:spcPct val="135000"/>
              </a:lnSpc>
              <a:buNone/>
            </a:pPr>
            <a:r>
              <a:rPr lang="en-US" sz="1575" b="1" spc="-16" kern="0" dirty="0">
                <a:solidFill>
                  <a:srgbClr val="0F1311"/>
                </a:solidFill>
                <a:latin typeface="Arial" pitchFamily="34" charset="0"/>
                <a:ea typeface="Arial" pitchFamily="34" charset="-122"/>
                <a:cs typeface="Arial" pitchFamily="34" charset="-120"/>
              </a:rPr>
              <a:t>PayOS PRO</a:t>
            </a:r>
            <a:endParaRPr lang="en-US" sz="1575" dirty="0"/>
          </a:p>
        </p:txBody>
      </p:sp>
      <p:sp>
        <p:nvSpPr>
          <p:cNvPr id="93" name="Text 91"/>
          <p:cNvSpPr/>
          <p:nvPr/>
        </p:nvSpPr>
        <p:spPr>
          <a:xfrm>
            <a:off x="1305884" y="5307707"/>
            <a:ext cx="2523265" cy="474993"/>
          </a:xfrm>
          <a:prstGeom prst="rect">
            <a:avLst/>
          </a:prstGeom>
          <a:noFill/>
          <a:ln/>
        </p:spPr>
        <p:txBody>
          <a:bodyPr wrap="square" lIns="25400" tIns="25400" rIns="25400" bIns="25400" rtlCol="0" anchor="t">
            <a:normAutofit/>
          </a:bodyPr>
          <a:lstStyle/>
          <a:p>
            <a:pPr algn="l" indent="0" marL="0">
              <a:lnSpc>
                <a:spcPct val="135000"/>
              </a:lnSpc>
              <a:buNone/>
            </a:pPr>
            <a:r>
              <a:rPr lang="en-US" sz="1275" spc="77" kern="0" dirty="0">
                <a:solidFill>
                  <a:srgbClr val="6B7771"/>
                </a:solidFill>
                <a:latin typeface="Courier New" pitchFamily="34" charset="0"/>
                <a:ea typeface="Courier New" pitchFamily="34" charset="-122"/>
                <a:cs typeface="Courier New" pitchFamily="34" charset="-120"/>
              </a:rPr>
              <a:t>GIÁN TIẾP · PAYMENT FOCUS</a:t>
            </a:r>
            <a:endParaRPr lang="en-US" sz="1275" dirty="0"/>
          </a:p>
        </p:txBody>
      </p:sp>
      <p:sp>
        <p:nvSpPr>
          <p:cNvPr id="94" name="Shape 92"/>
          <p:cNvSpPr/>
          <p:nvPr/>
        </p:nvSpPr>
        <p:spPr>
          <a:xfrm>
            <a:off x="3915834" y="4913974"/>
            <a:ext cx="1047750" cy="936460"/>
          </a:xfrm>
          <a:prstGeom prst="rect">
            <a:avLst/>
          </a:prstGeom>
          <a:solidFill>
            <a:srgbClr val="FEF6E7"/>
          </a:solidFill>
          <a:ln/>
        </p:spPr>
      </p:sp>
      <p:sp>
        <p:nvSpPr>
          <p:cNvPr id="95" name="Shape 93"/>
          <p:cNvSpPr/>
          <p:nvPr/>
        </p:nvSpPr>
        <p:spPr>
          <a:xfrm>
            <a:off x="3915834" y="5839851"/>
            <a:ext cx="1047750" cy="10583"/>
          </a:xfrm>
          <a:prstGeom prst="rect">
            <a:avLst/>
          </a:prstGeom>
          <a:solidFill>
            <a:srgbClr val="E2E7E5"/>
          </a:solidFill>
          <a:ln/>
        </p:spPr>
      </p:sp>
      <p:sp>
        <p:nvSpPr>
          <p:cNvPr id="96" name="Shape 94"/>
          <p:cNvSpPr/>
          <p:nvPr/>
        </p:nvSpPr>
        <p:spPr>
          <a:xfrm>
            <a:off x="4953000" y="4913974"/>
            <a:ext cx="10583" cy="936460"/>
          </a:xfrm>
          <a:prstGeom prst="rect">
            <a:avLst/>
          </a:prstGeom>
          <a:solidFill>
            <a:srgbClr val="E2E7E5"/>
          </a:solidFill>
          <a:ln/>
        </p:spPr>
      </p:sp>
      <p:sp>
        <p:nvSpPr>
          <p:cNvPr id="97" name="Text 95"/>
          <p:cNvSpPr/>
          <p:nvPr/>
        </p:nvSpPr>
        <p:spPr>
          <a:xfrm>
            <a:off x="4030134" y="5009224"/>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b="1" dirty="0">
                <a:solidFill>
                  <a:srgbClr val="A86A04"/>
                </a:solidFill>
                <a:highlight>
                  <a:srgbClr val="FEF6E7"/>
                </a:highlight>
                <a:latin typeface="Arial" pitchFamily="34" charset="0"/>
                <a:ea typeface="Arial" pitchFamily="34" charset="-122"/>
                <a:cs typeface="Arial" pitchFamily="34" charset="-120"/>
              </a:rPr>
              <a:t>hạn chế</a:t>
            </a:r>
            <a:endParaRPr lang="en-US" sz="1575" dirty="0"/>
          </a:p>
        </p:txBody>
      </p:sp>
      <p:sp>
        <p:nvSpPr>
          <p:cNvPr id="98" name="Shape 96"/>
          <p:cNvSpPr/>
          <p:nvPr/>
        </p:nvSpPr>
        <p:spPr>
          <a:xfrm>
            <a:off x="4963584" y="5839851"/>
            <a:ext cx="1047750" cy="10583"/>
          </a:xfrm>
          <a:prstGeom prst="rect">
            <a:avLst/>
          </a:prstGeom>
          <a:solidFill>
            <a:srgbClr val="E2E7E5"/>
          </a:solidFill>
          <a:ln/>
        </p:spPr>
      </p:sp>
      <p:sp>
        <p:nvSpPr>
          <p:cNvPr id="99" name="Shape 97"/>
          <p:cNvSpPr/>
          <p:nvPr/>
        </p:nvSpPr>
        <p:spPr>
          <a:xfrm>
            <a:off x="6000750" y="4913974"/>
            <a:ext cx="10583" cy="936460"/>
          </a:xfrm>
          <a:prstGeom prst="rect">
            <a:avLst/>
          </a:prstGeom>
          <a:solidFill>
            <a:srgbClr val="E2E7E5"/>
          </a:solidFill>
          <a:ln/>
        </p:spPr>
      </p:sp>
      <p:sp>
        <p:nvSpPr>
          <p:cNvPr id="100" name="Text 98"/>
          <p:cNvSpPr/>
          <p:nvPr/>
        </p:nvSpPr>
        <p:spPr>
          <a:xfrm>
            <a:off x="5077884" y="5009224"/>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101" name="Shape 99"/>
          <p:cNvSpPr/>
          <p:nvPr/>
        </p:nvSpPr>
        <p:spPr>
          <a:xfrm>
            <a:off x="6011334" y="4913974"/>
            <a:ext cx="1164001" cy="936460"/>
          </a:xfrm>
          <a:prstGeom prst="rect">
            <a:avLst/>
          </a:prstGeom>
          <a:solidFill>
            <a:srgbClr val="E6F8EF"/>
          </a:solidFill>
          <a:ln/>
        </p:spPr>
      </p:sp>
      <p:sp>
        <p:nvSpPr>
          <p:cNvPr id="102" name="Shape 100"/>
          <p:cNvSpPr/>
          <p:nvPr/>
        </p:nvSpPr>
        <p:spPr>
          <a:xfrm>
            <a:off x="6011334" y="5839851"/>
            <a:ext cx="1164001" cy="10583"/>
          </a:xfrm>
          <a:prstGeom prst="rect">
            <a:avLst/>
          </a:prstGeom>
          <a:solidFill>
            <a:srgbClr val="E2E7E5"/>
          </a:solidFill>
          <a:ln/>
        </p:spPr>
      </p:sp>
      <p:sp>
        <p:nvSpPr>
          <p:cNvPr id="103" name="Shape 101"/>
          <p:cNvSpPr/>
          <p:nvPr/>
        </p:nvSpPr>
        <p:spPr>
          <a:xfrm>
            <a:off x="7164752" y="4913974"/>
            <a:ext cx="10583" cy="936460"/>
          </a:xfrm>
          <a:prstGeom prst="rect">
            <a:avLst/>
          </a:prstGeom>
          <a:solidFill>
            <a:srgbClr val="E2E7E5"/>
          </a:solidFill>
          <a:ln/>
        </p:spPr>
      </p:sp>
      <p:sp>
        <p:nvSpPr>
          <p:cNvPr id="104" name="Text 102"/>
          <p:cNvSpPr/>
          <p:nvPr/>
        </p:nvSpPr>
        <p:spPr>
          <a:xfrm>
            <a:off x="6125634" y="5009224"/>
            <a:ext cx="924818"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b="1" dirty="0">
                <a:solidFill>
                  <a:srgbClr val="006B40"/>
                </a:solidFill>
                <a:latin typeface="Arial" pitchFamily="34" charset="0"/>
                <a:ea typeface="Arial" pitchFamily="34" charset="-122"/>
                <a:cs typeface="Arial" pitchFamily="34" charset="-120"/>
              </a:rPr>
              <a:t>✓</a:t>
            </a:r>
            <a:endParaRPr lang="en-US" sz="1575" dirty="0"/>
          </a:p>
        </p:txBody>
      </p:sp>
      <p:sp>
        <p:nvSpPr>
          <p:cNvPr id="105" name="Shape 103"/>
          <p:cNvSpPr/>
          <p:nvPr/>
        </p:nvSpPr>
        <p:spPr>
          <a:xfrm>
            <a:off x="7175335" y="5839851"/>
            <a:ext cx="1164001" cy="10583"/>
          </a:xfrm>
          <a:prstGeom prst="rect">
            <a:avLst/>
          </a:prstGeom>
          <a:solidFill>
            <a:srgbClr val="E2E7E5"/>
          </a:solidFill>
          <a:ln/>
        </p:spPr>
      </p:sp>
      <p:sp>
        <p:nvSpPr>
          <p:cNvPr id="106" name="Shape 104"/>
          <p:cNvSpPr/>
          <p:nvPr/>
        </p:nvSpPr>
        <p:spPr>
          <a:xfrm>
            <a:off x="8328753" y="4913974"/>
            <a:ext cx="10583" cy="936460"/>
          </a:xfrm>
          <a:prstGeom prst="rect">
            <a:avLst/>
          </a:prstGeom>
          <a:solidFill>
            <a:srgbClr val="E2E7E5"/>
          </a:solidFill>
          <a:ln/>
        </p:spPr>
      </p:sp>
      <p:sp>
        <p:nvSpPr>
          <p:cNvPr id="107" name="Text 105"/>
          <p:cNvSpPr/>
          <p:nvPr/>
        </p:nvSpPr>
        <p:spPr>
          <a:xfrm>
            <a:off x="7289635" y="5009224"/>
            <a:ext cx="924818"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108" name="Shape 106"/>
          <p:cNvSpPr/>
          <p:nvPr/>
        </p:nvSpPr>
        <p:spPr>
          <a:xfrm>
            <a:off x="8339336" y="5839851"/>
            <a:ext cx="1047750" cy="10583"/>
          </a:xfrm>
          <a:prstGeom prst="rect">
            <a:avLst/>
          </a:prstGeom>
          <a:solidFill>
            <a:srgbClr val="E2E7E5"/>
          </a:solidFill>
          <a:ln/>
        </p:spPr>
      </p:sp>
      <p:sp>
        <p:nvSpPr>
          <p:cNvPr id="109" name="Shape 107"/>
          <p:cNvSpPr/>
          <p:nvPr/>
        </p:nvSpPr>
        <p:spPr>
          <a:xfrm>
            <a:off x="9376503" y="4913974"/>
            <a:ext cx="10583" cy="936460"/>
          </a:xfrm>
          <a:prstGeom prst="rect">
            <a:avLst/>
          </a:prstGeom>
          <a:solidFill>
            <a:srgbClr val="E2E7E5"/>
          </a:solidFill>
          <a:ln/>
        </p:spPr>
      </p:sp>
      <p:sp>
        <p:nvSpPr>
          <p:cNvPr id="110" name="Text 108"/>
          <p:cNvSpPr/>
          <p:nvPr/>
        </p:nvSpPr>
        <p:spPr>
          <a:xfrm>
            <a:off x="8453636" y="5009224"/>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111" name="Shape 109"/>
          <p:cNvSpPr/>
          <p:nvPr/>
        </p:nvSpPr>
        <p:spPr>
          <a:xfrm>
            <a:off x="9387086" y="5839851"/>
            <a:ext cx="6337763" cy="10583"/>
          </a:xfrm>
          <a:prstGeom prst="rect">
            <a:avLst/>
          </a:prstGeom>
          <a:solidFill>
            <a:srgbClr val="E2E7E5"/>
          </a:solidFill>
          <a:ln/>
        </p:spPr>
      </p:sp>
      <p:sp>
        <p:nvSpPr>
          <p:cNvPr id="112" name="Shape 110"/>
          <p:cNvSpPr/>
          <p:nvPr/>
        </p:nvSpPr>
        <p:spPr>
          <a:xfrm>
            <a:off x="15714266" y="4913974"/>
            <a:ext cx="10583" cy="936460"/>
          </a:xfrm>
          <a:prstGeom prst="rect">
            <a:avLst/>
          </a:prstGeom>
          <a:solidFill>
            <a:srgbClr val="E2E7E5"/>
          </a:solidFill>
          <a:ln/>
        </p:spPr>
      </p:sp>
      <p:sp>
        <p:nvSpPr>
          <p:cNvPr id="113" name="Text 111"/>
          <p:cNvSpPr/>
          <p:nvPr/>
        </p:nvSpPr>
        <p:spPr>
          <a:xfrm>
            <a:off x="14338763" y="5153753"/>
            <a:ext cx="1299402" cy="260350"/>
          </a:xfrm>
          <a:prstGeom prst="rect">
            <a:avLst/>
          </a:prstGeom>
          <a:noFill/>
          <a:ln/>
        </p:spPr>
        <p:txBody>
          <a:bodyPr wrap="square" lIns="0" tIns="0" rIns="0" bIns="0" rtlCol="0" anchor="t">
            <a:normAutofit/>
          </a:bodyPr>
          <a:lstStyle/>
          <a:p>
            <a:pPr algn="r" indent="0" marL="0">
              <a:lnSpc>
                <a:spcPct val="135000"/>
              </a:lnSpc>
              <a:buNone/>
            </a:pPr>
            <a:r>
              <a:rPr lang="en-US" sz="1575" dirty="0">
                <a:solidFill>
                  <a:srgbClr val="323A36"/>
                </a:solidFill>
                <a:latin typeface="Arial" pitchFamily="34" charset="0"/>
                <a:ea typeface="Arial" pitchFamily="34" charset="-122"/>
                <a:cs typeface="Arial" pitchFamily="34" charset="-120"/>
              </a:rPr>
              <a:t>1,99M–99,9M</a:t>
            </a:r>
            <a:endParaRPr lang="en-US" sz="1575" dirty="0"/>
          </a:p>
        </p:txBody>
      </p:sp>
      <p:sp>
        <p:nvSpPr>
          <p:cNvPr id="114" name="Text 112"/>
          <p:cNvSpPr/>
          <p:nvPr/>
        </p:nvSpPr>
        <p:spPr>
          <a:xfrm>
            <a:off x="9358710" y="5402627"/>
            <a:ext cx="6203256" cy="256547"/>
          </a:xfrm>
          <a:prstGeom prst="rect">
            <a:avLst/>
          </a:prstGeom>
          <a:noFill/>
          <a:ln/>
        </p:spPr>
        <p:txBody>
          <a:bodyPr wrap="square" lIns="25400" tIns="25400" rIns="25400" bIns="25400" rtlCol="0" anchor="t">
            <a:normAutofit/>
          </a:bodyPr>
          <a:lstStyle/>
          <a:p>
            <a:pPr algn="r" indent="0" marL="0">
              <a:lnSpc>
                <a:spcPct val="135000"/>
              </a:lnSpc>
              <a:buNone/>
            </a:pPr>
            <a:r>
              <a:rPr lang="en-US" sz="1275" dirty="0">
                <a:solidFill>
                  <a:srgbClr val="6B7771"/>
                </a:solidFill>
                <a:latin typeface="Arial" pitchFamily="34" charset="0"/>
                <a:ea typeface="Arial" pitchFamily="34" charset="-122"/>
                <a:cs typeface="Arial" pitchFamily="34" charset="-120"/>
              </a:rPr>
              <a:t>(1k–100K events)</a:t>
            </a:r>
            <a:endParaRPr lang="en-US" sz="1275" dirty="0"/>
          </a:p>
        </p:txBody>
      </p:sp>
      <p:sp>
        <p:nvSpPr>
          <p:cNvPr id="115" name="Shape 113"/>
          <p:cNvSpPr/>
          <p:nvPr/>
        </p:nvSpPr>
        <p:spPr>
          <a:xfrm>
            <a:off x="15724849" y="5839851"/>
            <a:ext cx="1409568" cy="10583"/>
          </a:xfrm>
          <a:prstGeom prst="rect">
            <a:avLst/>
          </a:prstGeom>
          <a:solidFill>
            <a:srgbClr val="E2E7E5"/>
          </a:solidFill>
          <a:ln/>
        </p:spPr>
      </p:sp>
      <p:sp>
        <p:nvSpPr>
          <p:cNvPr id="116" name="Text 114"/>
          <p:cNvSpPr/>
          <p:nvPr/>
        </p:nvSpPr>
        <p:spPr>
          <a:xfrm>
            <a:off x="15801049" y="5009224"/>
            <a:ext cx="1180968" cy="773476"/>
          </a:xfrm>
          <a:prstGeom prst="rect">
            <a:avLst/>
          </a:prstGeom>
          <a:noFill/>
          <a:ln/>
        </p:spPr>
        <p:txBody>
          <a:bodyPr wrap="square" lIns="25400" tIns="25400" rIns="25400" bIns="25400" rtlCol="0" anchor="ctr">
            <a:normAutofit/>
          </a:bodyPr>
          <a:lstStyle/>
          <a:p>
            <a:pPr algn="r" indent="0" marL="0">
              <a:lnSpc>
                <a:spcPct val="135000"/>
              </a:lnSpc>
              <a:buNone/>
            </a:pPr>
            <a:r>
              <a:rPr lang="en-US" sz="1575" b="1" dirty="0">
                <a:solidFill>
                  <a:srgbClr val="6B7771"/>
                </a:solidFill>
                <a:latin typeface="Courier New" pitchFamily="34" charset="0"/>
                <a:ea typeface="Courier New" pitchFamily="34" charset="-122"/>
                <a:cs typeface="Courier New" pitchFamily="34" charset="-120"/>
              </a:rPr>
              <a:t>~1.000đ</a:t>
            </a:r>
            <a:endParaRPr lang="en-US" sz="1575" dirty="0"/>
          </a:p>
        </p:txBody>
      </p:sp>
      <p:sp>
        <p:nvSpPr>
          <p:cNvPr id="117" name="Shape 115"/>
          <p:cNvSpPr/>
          <p:nvPr/>
        </p:nvSpPr>
        <p:spPr>
          <a:xfrm>
            <a:off x="1153583" y="6776310"/>
            <a:ext cx="2762250" cy="10583"/>
          </a:xfrm>
          <a:prstGeom prst="rect">
            <a:avLst/>
          </a:prstGeom>
          <a:solidFill>
            <a:srgbClr val="E2E7E5"/>
          </a:solidFill>
          <a:ln/>
        </p:spPr>
      </p:sp>
      <p:sp>
        <p:nvSpPr>
          <p:cNvPr id="118" name="Shape 116"/>
          <p:cNvSpPr/>
          <p:nvPr/>
        </p:nvSpPr>
        <p:spPr>
          <a:xfrm>
            <a:off x="3905250" y="5850434"/>
            <a:ext cx="10583" cy="936460"/>
          </a:xfrm>
          <a:prstGeom prst="rect">
            <a:avLst/>
          </a:prstGeom>
          <a:solidFill>
            <a:srgbClr val="E2E7E5"/>
          </a:solidFill>
          <a:ln/>
        </p:spPr>
      </p:sp>
      <p:sp>
        <p:nvSpPr>
          <p:cNvPr id="119" name="Text 117"/>
          <p:cNvSpPr/>
          <p:nvPr/>
        </p:nvSpPr>
        <p:spPr>
          <a:xfrm>
            <a:off x="1305884" y="5945684"/>
            <a:ext cx="2523265" cy="308140"/>
          </a:xfrm>
          <a:prstGeom prst="rect">
            <a:avLst/>
          </a:prstGeom>
          <a:noFill/>
          <a:ln/>
        </p:spPr>
        <p:txBody>
          <a:bodyPr wrap="square" lIns="25400" tIns="25400" rIns="25400" bIns="25400" rtlCol="0" anchor="t">
            <a:normAutofit/>
          </a:bodyPr>
          <a:lstStyle/>
          <a:p>
            <a:pPr algn="l" indent="0" marL="0">
              <a:lnSpc>
                <a:spcPct val="135000"/>
              </a:lnSpc>
              <a:buNone/>
            </a:pPr>
            <a:r>
              <a:rPr lang="en-US" sz="1575" b="1" spc="-16" kern="0" dirty="0">
                <a:solidFill>
                  <a:srgbClr val="0F1311"/>
                </a:solidFill>
                <a:latin typeface="Arial" pitchFamily="34" charset="0"/>
                <a:ea typeface="Arial" pitchFamily="34" charset="-122"/>
                <a:cs typeface="Arial" pitchFamily="34" charset="-120"/>
              </a:rPr>
              <a:t>CASSO Flow (cũ)</a:t>
            </a:r>
            <a:endParaRPr lang="en-US" sz="1575" dirty="0"/>
          </a:p>
        </p:txBody>
      </p:sp>
      <p:sp>
        <p:nvSpPr>
          <p:cNvPr id="120" name="Text 118"/>
          <p:cNvSpPr/>
          <p:nvPr/>
        </p:nvSpPr>
        <p:spPr>
          <a:xfrm>
            <a:off x="1305884" y="6244167"/>
            <a:ext cx="2523265" cy="474993"/>
          </a:xfrm>
          <a:prstGeom prst="rect">
            <a:avLst/>
          </a:prstGeom>
          <a:noFill/>
          <a:ln/>
        </p:spPr>
        <p:txBody>
          <a:bodyPr wrap="square" lIns="25400" tIns="25400" rIns="25400" bIns="25400" rtlCol="0" anchor="t">
            <a:normAutofit/>
          </a:bodyPr>
          <a:lstStyle/>
          <a:p>
            <a:pPr algn="l" indent="0" marL="0">
              <a:lnSpc>
                <a:spcPct val="135000"/>
              </a:lnSpc>
              <a:buNone/>
            </a:pPr>
            <a:r>
              <a:rPr lang="en-US" sz="1275" spc="77" kern="0" dirty="0">
                <a:solidFill>
                  <a:srgbClr val="6B7771"/>
                </a:solidFill>
                <a:latin typeface="Courier New" pitchFamily="34" charset="0"/>
                <a:ea typeface="Courier New" pitchFamily="34" charset="-122"/>
                <a:cs typeface="Courier New" pitchFamily="34" charset="-120"/>
              </a:rPr>
              <a:t>SẢN PHẨM CASSO HIỆN TẠI</a:t>
            </a:r>
            <a:endParaRPr lang="en-US" sz="1275" dirty="0"/>
          </a:p>
        </p:txBody>
      </p:sp>
      <p:sp>
        <p:nvSpPr>
          <p:cNvPr id="121" name="Shape 119"/>
          <p:cNvSpPr/>
          <p:nvPr/>
        </p:nvSpPr>
        <p:spPr>
          <a:xfrm>
            <a:off x="3915834" y="5850434"/>
            <a:ext cx="1047750" cy="936460"/>
          </a:xfrm>
          <a:prstGeom prst="rect">
            <a:avLst/>
          </a:prstGeom>
          <a:solidFill>
            <a:srgbClr val="E6F8EF"/>
          </a:solidFill>
          <a:ln/>
        </p:spPr>
      </p:sp>
      <p:sp>
        <p:nvSpPr>
          <p:cNvPr id="122" name="Shape 120"/>
          <p:cNvSpPr/>
          <p:nvPr/>
        </p:nvSpPr>
        <p:spPr>
          <a:xfrm>
            <a:off x="3915834" y="6776310"/>
            <a:ext cx="1047750" cy="10583"/>
          </a:xfrm>
          <a:prstGeom prst="rect">
            <a:avLst/>
          </a:prstGeom>
          <a:solidFill>
            <a:srgbClr val="E2E7E5"/>
          </a:solidFill>
          <a:ln/>
        </p:spPr>
      </p:sp>
      <p:sp>
        <p:nvSpPr>
          <p:cNvPr id="123" name="Shape 121"/>
          <p:cNvSpPr/>
          <p:nvPr/>
        </p:nvSpPr>
        <p:spPr>
          <a:xfrm>
            <a:off x="4953000" y="5850434"/>
            <a:ext cx="10583" cy="936460"/>
          </a:xfrm>
          <a:prstGeom prst="rect">
            <a:avLst/>
          </a:prstGeom>
          <a:solidFill>
            <a:srgbClr val="E2E7E5"/>
          </a:solidFill>
          <a:ln/>
        </p:spPr>
      </p:sp>
      <p:sp>
        <p:nvSpPr>
          <p:cNvPr id="124" name="Text 122"/>
          <p:cNvSpPr/>
          <p:nvPr/>
        </p:nvSpPr>
        <p:spPr>
          <a:xfrm>
            <a:off x="4030134" y="5945684"/>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b="1" dirty="0">
                <a:solidFill>
                  <a:srgbClr val="006B40"/>
                </a:solidFill>
                <a:latin typeface="Arial" pitchFamily="34" charset="0"/>
                <a:ea typeface="Arial" pitchFamily="34" charset="-122"/>
                <a:cs typeface="Arial" pitchFamily="34" charset="-120"/>
              </a:rPr>
              <a:t>✓</a:t>
            </a:r>
            <a:endParaRPr lang="en-US" sz="1575" dirty="0"/>
          </a:p>
        </p:txBody>
      </p:sp>
      <p:sp>
        <p:nvSpPr>
          <p:cNvPr id="125" name="Shape 123"/>
          <p:cNvSpPr/>
          <p:nvPr/>
        </p:nvSpPr>
        <p:spPr>
          <a:xfrm>
            <a:off x="4963584" y="6776310"/>
            <a:ext cx="1047750" cy="10583"/>
          </a:xfrm>
          <a:prstGeom prst="rect">
            <a:avLst/>
          </a:prstGeom>
          <a:solidFill>
            <a:srgbClr val="E2E7E5"/>
          </a:solidFill>
          <a:ln/>
        </p:spPr>
      </p:sp>
      <p:sp>
        <p:nvSpPr>
          <p:cNvPr id="126" name="Shape 124"/>
          <p:cNvSpPr/>
          <p:nvPr/>
        </p:nvSpPr>
        <p:spPr>
          <a:xfrm>
            <a:off x="6000750" y="5850434"/>
            <a:ext cx="10583" cy="936460"/>
          </a:xfrm>
          <a:prstGeom prst="rect">
            <a:avLst/>
          </a:prstGeom>
          <a:solidFill>
            <a:srgbClr val="E2E7E5"/>
          </a:solidFill>
          <a:ln/>
        </p:spPr>
      </p:sp>
      <p:sp>
        <p:nvSpPr>
          <p:cNvPr id="127" name="Text 125"/>
          <p:cNvSpPr/>
          <p:nvPr/>
        </p:nvSpPr>
        <p:spPr>
          <a:xfrm>
            <a:off x="5077884" y="5945684"/>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128" name="Shape 126"/>
          <p:cNvSpPr/>
          <p:nvPr/>
        </p:nvSpPr>
        <p:spPr>
          <a:xfrm>
            <a:off x="6011334" y="6776310"/>
            <a:ext cx="1164001" cy="10583"/>
          </a:xfrm>
          <a:prstGeom prst="rect">
            <a:avLst/>
          </a:prstGeom>
          <a:solidFill>
            <a:srgbClr val="E2E7E5"/>
          </a:solidFill>
          <a:ln/>
        </p:spPr>
      </p:sp>
      <p:sp>
        <p:nvSpPr>
          <p:cNvPr id="129" name="Shape 127"/>
          <p:cNvSpPr/>
          <p:nvPr/>
        </p:nvSpPr>
        <p:spPr>
          <a:xfrm>
            <a:off x="7164752" y="5850434"/>
            <a:ext cx="10583" cy="936460"/>
          </a:xfrm>
          <a:prstGeom prst="rect">
            <a:avLst/>
          </a:prstGeom>
          <a:solidFill>
            <a:srgbClr val="E2E7E5"/>
          </a:solidFill>
          <a:ln/>
        </p:spPr>
      </p:sp>
      <p:sp>
        <p:nvSpPr>
          <p:cNvPr id="130" name="Text 128"/>
          <p:cNvSpPr/>
          <p:nvPr/>
        </p:nvSpPr>
        <p:spPr>
          <a:xfrm>
            <a:off x="6125634" y="5945684"/>
            <a:ext cx="924818"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131" name="Shape 129"/>
          <p:cNvSpPr/>
          <p:nvPr/>
        </p:nvSpPr>
        <p:spPr>
          <a:xfrm>
            <a:off x="7175335" y="6776310"/>
            <a:ext cx="1164001" cy="10583"/>
          </a:xfrm>
          <a:prstGeom prst="rect">
            <a:avLst/>
          </a:prstGeom>
          <a:solidFill>
            <a:srgbClr val="E2E7E5"/>
          </a:solidFill>
          <a:ln/>
        </p:spPr>
      </p:sp>
      <p:sp>
        <p:nvSpPr>
          <p:cNvPr id="132" name="Shape 130"/>
          <p:cNvSpPr/>
          <p:nvPr/>
        </p:nvSpPr>
        <p:spPr>
          <a:xfrm>
            <a:off x="8328753" y="5850434"/>
            <a:ext cx="10583" cy="936460"/>
          </a:xfrm>
          <a:prstGeom prst="rect">
            <a:avLst/>
          </a:prstGeom>
          <a:solidFill>
            <a:srgbClr val="E2E7E5"/>
          </a:solidFill>
          <a:ln/>
        </p:spPr>
      </p:sp>
      <p:sp>
        <p:nvSpPr>
          <p:cNvPr id="133" name="Text 131"/>
          <p:cNvSpPr/>
          <p:nvPr/>
        </p:nvSpPr>
        <p:spPr>
          <a:xfrm>
            <a:off x="7289635" y="5945684"/>
            <a:ext cx="924818"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134" name="Shape 132"/>
          <p:cNvSpPr/>
          <p:nvPr/>
        </p:nvSpPr>
        <p:spPr>
          <a:xfrm>
            <a:off x="8339336" y="6776310"/>
            <a:ext cx="1047750" cy="10583"/>
          </a:xfrm>
          <a:prstGeom prst="rect">
            <a:avLst/>
          </a:prstGeom>
          <a:solidFill>
            <a:srgbClr val="E2E7E5"/>
          </a:solidFill>
          <a:ln/>
        </p:spPr>
      </p:sp>
      <p:sp>
        <p:nvSpPr>
          <p:cNvPr id="135" name="Shape 133"/>
          <p:cNvSpPr/>
          <p:nvPr/>
        </p:nvSpPr>
        <p:spPr>
          <a:xfrm>
            <a:off x="9376503" y="5850434"/>
            <a:ext cx="10583" cy="936460"/>
          </a:xfrm>
          <a:prstGeom prst="rect">
            <a:avLst/>
          </a:prstGeom>
          <a:solidFill>
            <a:srgbClr val="E2E7E5"/>
          </a:solidFill>
          <a:ln/>
        </p:spPr>
      </p:sp>
      <p:sp>
        <p:nvSpPr>
          <p:cNvPr id="136" name="Text 134"/>
          <p:cNvSpPr/>
          <p:nvPr/>
        </p:nvSpPr>
        <p:spPr>
          <a:xfrm>
            <a:off x="8453636" y="5945684"/>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137" name="Shape 135"/>
          <p:cNvSpPr/>
          <p:nvPr/>
        </p:nvSpPr>
        <p:spPr>
          <a:xfrm>
            <a:off x="9387086" y="6776310"/>
            <a:ext cx="6337763" cy="10583"/>
          </a:xfrm>
          <a:prstGeom prst="rect">
            <a:avLst/>
          </a:prstGeom>
          <a:solidFill>
            <a:srgbClr val="E2E7E5"/>
          </a:solidFill>
          <a:ln/>
        </p:spPr>
      </p:sp>
      <p:sp>
        <p:nvSpPr>
          <p:cNvPr id="138" name="Shape 136"/>
          <p:cNvSpPr/>
          <p:nvPr/>
        </p:nvSpPr>
        <p:spPr>
          <a:xfrm>
            <a:off x="15714266" y="5850434"/>
            <a:ext cx="10583" cy="936460"/>
          </a:xfrm>
          <a:prstGeom prst="rect">
            <a:avLst/>
          </a:prstGeom>
          <a:solidFill>
            <a:srgbClr val="E2E7E5"/>
          </a:solidFill>
          <a:ln/>
        </p:spPr>
      </p:sp>
      <p:sp>
        <p:nvSpPr>
          <p:cNvPr id="139" name="Text 137"/>
          <p:cNvSpPr/>
          <p:nvPr/>
        </p:nvSpPr>
        <p:spPr>
          <a:xfrm>
            <a:off x="14616907" y="6090213"/>
            <a:ext cx="1021259" cy="260350"/>
          </a:xfrm>
          <a:prstGeom prst="rect">
            <a:avLst/>
          </a:prstGeom>
          <a:noFill/>
          <a:ln/>
        </p:spPr>
        <p:txBody>
          <a:bodyPr wrap="square" lIns="0" tIns="0" rIns="0" bIns="0" rtlCol="0" anchor="t">
            <a:normAutofit/>
          </a:bodyPr>
          <a:lstStyle/>
          <a:p>
            <a:pPr algn="r" indent="0" marL="0">
              <a:lnSpc>
                <a:spcPct val="135000"/>
              </a:lnSpc>
              <a:buNone/>
            </a:pPr>
            <a:r>
              <a:rPr lang="en-US" sz="1575" dirty="0">
                <a:solidFill>
                  <a:srgbClr val="323A36"/>
                </a:solidFill>
                <a:latin typeface="Arial" pitchFamily="34" charset="0"/>
                <a:ea typeface="Arial" pitchFamily="34" charset="-122"/>
                <a:cs typeface="Arial" pitchFamily="34" charset="-120"/>
              </a:rPr>
              <a:t>1M–81,2M</a:t>
            </a:r>
            <a:endParaRPr lang="en-US" sz="1575" dirty="0"/>
          </a:p>
        </p:txBody>
      </p:sp>
      <p:sp>
        <p:nvSpPr>
          <p:cNvPr id="140" name="Text 138"/>
          <p:cNvSpPr/>
          <p:nvPr/>
        </p:nvSpPr>
        <p:spPr>
          <a:xfrm>
            <a:off x="9358710" y="6339086"/>
            <a:ext cx="6203256" cy="256547"/>
          </a:xfrm>
          <a:prstGeom prst="rect">
            <a:avLst/>
          </a:prstGeom>
          <a:noFill/>
          <a:ln/>
        </p:spPr>
        <p:txBody>
          <a:bodyPr wrap="square" lIns="25400" tIns="25400" rIns="25400" bIns="25400" rtlCol="0" anchor="t">
            <a:normAutofit/>
          </a:bodyPr>
          <a:lstStyle/>
          <a:p>
            <a:pPr algn="r" indent="0" marL="0">
              <a:lnSpc>
                <a:spcPct val="135000"/>
              </a:lnSpc>
              <a:buNone/>
            </a:pPr>
            <a:r>
              <a:rPr lang="en-US" sz="1275" dirty="0">
                <a:solidFill>
                  <a:srgbClr val="6B7771"/>
                </a:solidFill>
                <a:latin typeface="Arial" pitchFamily="34" charset="0"/>
                <a:ea typeface="Arial" pitchFamily="34" charset="-122"/>
                <a:cs typeface="Arial" pitchFamily="34" charset="-120"/>
              </a:rPr>
              <a:t>(1k–120K events)</a:t>
            </a:r>
            <a:endParaRPr lang="en-US" sz="1275" dirty="0"/>
          </a:p>
        </p:txBody>
      </p:sp>
      <p:sp>
        <p:nvSpPr>
          <p:cNvPr id="141" name="Shape 139"/>
          <p:cNvSpPr/>
          <p:nvPr/>
        </p:nvSpPr>
        <p:spPr>
          <a:xfrm>
            <a:off x="15724849" y="6776310"/>
            <a:ext cx="1409568" cy="10583"/>
          </a:xfrm>
          <a:prstGeom prst="rect">
            <a:avLst/>
          </a:prstGeom>
          <a:solidFill>
            <a:srgbClr val="E2E7E5"/>
          </a:solidFill>
          <a:ln/>
        </p:spPr>
      </p:sp>
      <p:sp>
        <p:nvSpPr>
          <p:cNvPr id="142" name="Text 140"/>
          <p:cNvSpPr/>
          <p:nvPr/>
        </p:nvSpPr>
        <p:spPr>
          <a:xfrm>
            <a:off x="15801049" y="5945684"/>
            <a:ext cx="1180968" cy="773476"/>
          </a:xfrm>
          <a:prstGeom prst="rect">
            <a:avLst/>
          </a:prstGeom>
          <a:noFill/>
          <a:ln/>
        </p:spPr>
        <p:txBody>
          <a:bodyPr wrap="square" lIns="25400" tIns="25400" rIns="25400" bIns="25400" rtlCol="0" anchor="ctr">
            <a:normAutofit/>
          </a:bodyPr>
          <a:lstStyle/>
          <a:p>
            <a:pPr algn="r" indent="0" marL="0">
              <a:lnSpc>
                <a:spcPct val="135000"/>
              </a:lnSpc>
              <a:buNone/>
            </a:pPr>
            <a:r>
              <a:rPr lang="en-US" sz="1575" b="1" dirty="0">
                <a:solidFill>
                  <a:srgbClr val="6B7771"/>
                </a:solidFill>
                <a:latin typeface="Courier New" pitchFamily="34" charset="0"/>
                <a:ea typeface="Courier New" pitchFamily="34" charset="-122"/>
                <a:cs typeface="Courier New" pitchFamily="34" charset="-120"/>
              </a:rPr>
              <a:t>~1.000đ</a:t>
            </a:r>
            <a:endParaRPr lang="en-US" sz="1575" dirty="0"/>
          </a:p>
        </p:txBody>
      </p:sp>
      <p:sp>
        <p:nvSpPr>
          <p:cNvPr id="143" name="Shape 141"/>
          <p:cNvSpPr/>
          <p:nvPr/>
        </p:nvSpPr>
        <p:spPr>
          <a:xfrm>
            <a:off x="1153583" y="7712770"/>
            <a:ext cx="2762250" cy="10583"/>
          </a:xfrm>
          <a:prstGeom prst="rect">
            <a:avLst/>
          </a:prstGeom>
          <a:solidFill>
            <a:srgbClr val="E2E7E5"/>
          </a:solidFill>
          <a:ln/>
        </p:spPr>
      </p:sp>
      <p:sp>
        <p:nvSpPr>
          <p:cNvPr id="144" name="Shape 142"/>
          <p:cNvSpPr/>
          <p:nvPr/>
        </p:nvSpPr>
        <p:spPr>
          <a:xfrm>
            <a:off x="3905250" y="6786893"/>
            <a:ext cx="10583" cy="936460"/>
          </a:xfrm>
          <a:prstGeom prst="rect">
            <a:avLst/>
          </a:prstGeom>
          <a:solidFill>
            <a:srgbClr val="E2E7E5"/>
          </a:solidFill>
          <a:ln/>
        </p:spPr>
      </p:sp>
      <p:sp>
        <p:nvSpPr>
          <p:cNvPr id="145" name="Text 143"/>
          <p:cNvSpPr/>
          <p:nvPr/>
        </p:nvSpPr>
        <p:spPr>
          <a:xfrm>
            <a:off x="1305884" y="6882143"/>
            <a:ext cx="2523265" cy="308140"/>
          </a:xfrm>
          <a:prstGeom prst="rect">
            <a:avLst/>
          </a:prstGeom>
          <a:noFill/>
          <a:ln/>
        </p:spPr>
        <p:txBody>
          <a:bodyPr wrap="square" lIns="25400" tIns="25400" rIns="25400" bIns="25400" rtlCol="0" anchor="t">
            <a:normAutofit/>
          </a:bodyPr>
          <a:lstStyle/>
          <a:p>
            <a:pPr algn="l" indent="0" marL="0">
              <a:lnSpc>
                <a:spcPct val="135000"/>
              </a:lnSpc>
              <a:buNone/>
            </a:pPr>
            <a:r>
              <a:rPr lang="en-US" sz="1575" b="1" spc="-16" kern="0" dirty="0">
                <a:solidFill>
                  <a:srgbClr val="0F1311"/>
                </a:solidFill>
                <a:latin typeface="Arial" pitchFamily="34" charset="0"/>
                <a:ea typeface="Arial" pitchFamily="34" charset="-122"/>
                <a:cs typeface="Arial" pitchFamily="34" charset="-120"/>
              </a:rPr>
              <a:t>Viettel SInvoice</a:t>
            </a:r>
            <a:endParaRPr lang="en-US" sz="1575" dirty="0"/>
          </a:p>
        </p:txBody>
      </p:sp>
      <p:sp>
        <p:nvSpPr>
          <p:cNvPr id="146" name="Text 144"/>
          <p:cNvSpPr/>
          <p:nvPr/>
        </p:nvSpPr>
        <p:spPr>
          <a:xfrm>
            <a:off x="1305884" y="7180627"/>
            <a:ext cx="2523265" cy="474993"/>
          </a:xfrm>
          <a:prstGeom prst="rect">
            <a:avLst/>
          </a:prstGeom>
          <a:noFill/>
          <a:ln/>
        </p:spPr>
        <p:txBody>
          <a:bodyPr wrap="square" lIns="25400" tIns="25400" rIns="25400" bIns="25400" rtlCol="0" anchor="t">
            <a:normAutofit/>
          </a:bodyPr>
          <a:lstStyle/>
          <a:p>
            <a:pPr algn="l" indent="0" marL="0">
              <a:lnSpc>
                <a:spcPct val="135000"/>
              </a:lnSpc>
              <a:buNone/>
            </a:pPr>
            <a:r>
              <a:rPr lang="en-US" sz="1275" spc="77" kern="0" dirty="0">
                <a:solidFill>
                  <a:srgbClr val="6B7771"/>
                </a:solidFill>
                <a:latin typeface="Courier New" pitchFamily="34" charset="0"/>
                <a:ea typeface="Courier New" pitchFamily="34" charset="-122"/>
                <a:cs typeface="Courier New" pitchFamily="34" charset="-120"/>
              </a:rPr>
              <a:t>KHÔNG CẠNH TRANH TRỰC TIẾP</a:t>
            </a:r>
            <a:endParaRPr lang="en-US" sz="1275" dirty="0"/>
          </a:p>
        </p:txBody>
      </p:sp>
      <p:sp>
        <p:nvSpPr>
          <p:cNvPr id="147" name="Shape 145"/>
          <p:cNvSpPr/>
          <p:nvPr/>
        </p:nvSpPr>
        <p:spPr>
          <a:xfrm>
            <a:off x="3915834" y="7712770"/>
            <a:ext cx="1047750" cy="10583"/>
          </a:xfrm>
          <a:prstGeom prst="rect">
            <a:avLst/>
          </a:prstGeom>
          <a:solidFill>
            <a:srgbClr val="E2E7E5"/>
          </a:solidFill>
          <a:ln/>
        </p:spPr>
      </p:sp>
      <p:sp>
        <p:nvSpPr>
          <p:cNvPr id="148" name="Shape 146"/>
          <p:cNvSpPr/>
          <p:nvPr/>
        </p:nvSpPr>
        <p:spPr>
          <a:xfrm>
            <a:off x="4953000" y="6786893"/>
            <a:ext cx="10583" cy="936460"/>
          </a:xfrm>
          <a:prstGeom prst="rect">
            <a:avLst/>
          </a:prstGeom>
          <a:solidFill>
            <a:srgbClr val="E2E7E5"/>
          </a:solidFill>
          <a:ln/>
        </p:spPr>
      </p:sp>
      <p:sp>
        <p:nvSpPr>
          <p:cNvPr id="149" name="Text 147"/>
          <p:cNvSpPr/>
          <p:nvPr/>
        </p:nvSpPr>
        <p:spPr>
          <a:xfrm>
            <a:off x="4030134" y="6882143"/>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150" name="Shape 148"/>
          <p:cNvSpPr/>
          <p:nvPr/>
        </p:nvSpPr>
        <p:spPr>
          <a:xfrm>
            <a:off x="4963584" y="7712770"/>
            <a:ext cx="1047750" cy="10583"/>
          </a:xfrm>
          <a:prstGeom prst="rect">
            <a:avLst/>
          </a:prstGeom>
          <a:solidFill>
            <a:srgbClr val="E2E7E5"/>
          </a:solidFill>
          <a:ln/>
        </p:spPr>
      </p:sp>
      <p:sp>
        <p:nvSpPr>
          <p:cNvPr id="151" name="Shape 149"/>
          <p:cNvSpPr/>
          <p:nvPr/>
        </p:nvSpPr>
        <p:spPr>
          <a:xfrm>
            <a:off x="6000750" y="6786893"/>
            <a:ext cx="10583" cy="936460"/>
          </a:xfrm>
          <a:prstGeom prst="rect">
            <a:avLst/>
          </a:prstGeom>
          <a:solidFill>
            <a:srgbClr val="E2E7E5"/>
          </a:solidFill>
          <a:ln/>
        </p:spPr>
      </p:sp>
      <p:sp>
        <p:nvSpPr>
          <p:cNvPr id="152" name="Text 150"/>
          <p:cNvSpPr/>
          <p:nvPr/>
        </p:nvSpPr>
        <p:spPr>
          <a:xfrm>
            <a:off x="5077884" y="6882143"/>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153" name="Shape 151"/>
          <p:cNvSpPr/>
          <p:nvPr/>
        </p:nvSpPr>
        <p:spPr>
          <a:xfrm>
            <a:off x="6011334" y="7712770"/>
            <a:ext cx="1164001" cy="10583"/>
          </a:xfrm>
          <a:prstGeom prst="rect">
            <a:avLst/>
          </a:prstGeom>
          <a:solidFill>
            <a:srgbClr val="E2E7E5"/>
          </a:solidFill>
          <a:ln/>
        </p:spPr>
      </p:sp>
      <p:sp>
        <p:nvSpPr>
          <p:cNvPr id="154" name="Shape 152"/>
          <p:cNvSpPr/>
          <p:nvPr/>
        </p:nvSpPr>
        <p:spPr>
          <a:xfrm>
            <a:off x="7164752" y="6786893"/>
            <a:ext cx="10583" cy="936460"/>
          </a:xfrm>
          <a:prstGeom prst="rect">
            <a:avLst/>
          </a:prstGeom>
          <a:solidFill>
            <a:srgbClr val="E2E7E5"/>
          </a:solidFill>
          <a:ln/>
        </p:spPr>
      </p:sp>
      <p:sp>
        <p:nvSpPr>
          <p:cNvPr id="155" name="Text 153"/>
          <p:cNvSpPr/>
          <p:nvPr/>
        </p:nvSpPr>
        <p:spPr>
          <a:xfrm>
            <a:off x="6125634" y="6882143"/>
            <a:ext cx="924818"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156" name="Shape 154"/>
          <p:cNvSpPr/>
          <p:nvPr/>
        </p:nvSpPr>
        <p:spPr>
          <a:xfrm>
            <a:off x="7175335" y="6786893"/>
            <a:ext cx="1164001" cy="936460"/>
          </a:xfrm>
          <a:prstGeom prst="rect">
            <a:avLst/>
          </a:prstGeom>
          <a:solidFill>
            <a:srgbClr val="E6F8EF"/>
          </a:solidFill>
          <a:ln/>
        </p:spPr>
      </p:sp>
      <p:sp>
        <p:nvSpPr>
          <p:cNvPr id="157" name="Shape 155"/>
          <p:cNvSpPr/>
          <p:nvPr/>
        </p:nvSpPr>
        <p:spPr>
          <a:xfrm>
            <a:off x="7175335" y="7712770"/>
            <a:ext cx="1164001" cy="10583"/>
          </a:xfrm>
          <a:prstGeom prst="rect">
            <a:avLst/>
          </a:prstGeom>
          <a:solidFill>
            <a:srgbClr val="E2E7E5"/>
          </a:solidFill>
          <a:ln/>
        </p:spPr>
      </p:sp>
      <p:sp>
        <p:nvSpPr>
          <p:cNvPr id="158" name="Shape 156"/>
          <p:cNvSpPr/>
          <p:nvPr/>
        </p:nvSpPr>
        <p:spPr>
          <a:xfrm>
            <a:off x="8328753" y="6786893"/>
            <a:ext cx="10583" cy="936460"/>
          </a:xfrm>
          <a:prstGeom prst="rect">
            <a:avLst/>
          </a:prstGeom>
          <a:solidFill>
            <a:srgbClr val="E2E7E5"/>
          </a:solidFill>
          <a:ln/>
        </p:spPr>
      </p:sp>
      <p:sp>
        <p:nvSpPr>
          <p:cNvPr id="159" name="Text 157"/>
          <p:cNvSpPr/>
          <p:nvPr/>
        </p:nvSpPr>
        <p:spPr>
          <a:xfrm>
            <a:off x="7289635" y="6882143"/>
            <a:ext cx="924818"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b="1" dirty="0">
                <a:solidFill>
                  <a:srgbClr val="006B40"/>
                </a:solidFill>
                <a:latin typeface="Arial" pitchFamily="34" charset="0"/>
                <a:ea typeface="Arial" pitchFamily="34" charset="-122"/>
                <a:cs typeface="Arial" pitchFamily="34" charset="-120"/>
              </a:rPr>
              <a:t>✓</a:t>
            </a:r>
            <a:endParaRPr lang="en-US" sz="1575" dirty="0"/>
          </a:p>
        </p:txBody>
      </p:sp>
      <p:sp>
        <p:nvSpPr>
          <p:cNvPr id="160" name="Shape 158"/>
          <p:cNvSpPr/>
          <p:nvPr/>
        </p:nvSpPr>
        <p:spPr>
          <a:xfrm>
            <a:off x="8339336" y="7712770"/>
            <a:ext cx="1047750" cy="10583"/>
          </a:xfrm>
          <a:prstGeom prst="rect">
            <a:avLst/>
          </a:prstGeom>
          <a:solidFill>
            <a:srgbClr val="E2E7E5"/>
          </a:solidFill>
          <a:ln/>
        </p:spPr>
      </p:sp>
      <p:sp>
        <p:nvSpPr>
          <p:cNvPr id="161" name="Shape 159"/>
          <p:cNvSpPr/>
          <p:nvPr/>
        </p:nvSpPr>
        <p:spPr>
          <a:xfrm>
            <a:off x="9376503" y="6786893"/>
            <a:ext cx="10583" cy="936460"/>
          </a:xfrm>
          <a:prstGeom prst="rect">
            <a:avLst/>
          </a:prstGeom>
          <a:solidFill>
            <a:srgbClr val="E2E7E5"/>
          </a:solidFill>
          <a:ln/>
        </p:spPr>
      </p:sp>
      <p:sp>
        <p:nvSpPr>
          <p:cNvPr id="162" name="Text 160"/>
          <p:cNvSpPr/>
          <p:nvPr/>
        </p:nvSpPr>
        <p:spPr>
          <a:xfrm>
            <a:off x="8453636" y="6882143"/>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97A39E"/>
                </a:solidFill>
                <a:latin typeface="Arial" pitchFamily="34" charset="0"/>
                <a:ea typeface="Arial" pitchFamily="34" charset="-122"/>
                <a:cs typeface="Arial" pitchFamily="34" charset="-120"/>
              </a:rPr>
              <a:t>—</a:t>
            </a:r>
            <a:endParaRPr lang="en-US" sz="1575" dirty="0"/>
          </a:p>
        </p:txBody>
      </p:sp>
      <p:sp>
        <p:nvSpPr>
          <p:cNvPr id="163" name="Shape 161"/>
          <p:cNvSpPr/>
          <p:nvPr/>
        </p:nvSpPr>
        <p:spPr>
          <a:xfrm>
            <a:off x="9387086" y="7712770"/>
            <a:ext cx="6337763" cy="10583"/>
          </a:xfrm>
          <a:prstGeom prst="rect">
            <a:avLst/>
          </a:prstGeom>
          <a:solidFill>
            <a:srgbClr val="E2E7E5"/>
          </a:solidFill>
          <a:ln/>
        </p:spPr>
      </p:sp>
      <p:sp>
        <p:nvSpPr>
          <p:cNvPr id="164" name="Shape 162"/>
          <p:cNvSpPr/>
          <p:nvPr/>
        </p:nvSpPr>
        <p:spPr>
          <a:xfrm>
            <a:off x="15714266" y="6786893"/>
            <a:ext cx="10583" cy="936460"/>
          </a:xfrm>
          <a:prstGeom prst="rect">
            <a:avLst/>
          </a:prstGeom>
          <a:solidFill>
            <a:srgbClr val="E2E7E5"/>
          </a:solidFill>
          <a:ln/>
        </p:spPr>
      </p:sp>
      <p:sp>
        <p:nvSpPr>
          <p:cNvPr id="165" name="Text 163"/>
          <p:cNvSpPr/>
          <p:nvPr/>
        </p:nvSpPr>
        <p:spPr>
          <a:xfrm>
            <a:off x="13732537" y="7026672"/>
            <a:ext cx="1905628" cy="260350"/>
          </a:xfrm>
          <a:prstGeom prst="rect">
            <a:avLst/>
          </a:prstGeom>
          <a:noFill/>
          <a:ln/>
        </p:spPr>
        <p:txBody>
          <a:bodyPr wrap="square" lIns="0" tIns="0" rIns="0" bIns="0" rtlCol="0" anchor="t">
            <a:normAutofit/>
          </a:bodyPr>
          <a:lstStyle/>
          <a:p>
            <a:pPr algn="r" indent="0" marL="0">
              <a:lnSpc>
                <a:spcPct val="135000"/>
              </a:lnSpc>
              <a:buNone/>
            </a:pPr>
            <a:r>
              <a:rPr lang="en-US" sz="1575" dirty="0">
                <a:solidFill>
                  <a:srgbClr val="323A36"/>
                </a:solidFill>
                <a:latin typeface="Arial" pitchFamily="34" charset="0"/>
                <a:ea typeface="Arial" pitchFamily="34" charset="-122"/>
                <a:cs typeface="Arial" pitchFamily="34" charset="-120"/>
              </a:rPr>
              <a:t>500K + 421K–21,6M</a:t>
            </a:r>
            <a:endParaRPr lang="en-US" sz="1575" dirty="0"/>
          </a:p>
        </p:txBody>
      </p:sp>
      <p:sp>
        <p:nvSpPr>
          <p:cNvPr id="166" name="Text 164"/>
          <p:cNvSpPr/>
          <p:nvPr/>
        </p:nvSpPr>
        <p:spPr>
          <a:xfrm>
            <a:off x="9358710" y="7275546"/>
            <a:ext cx="6203256" cy="256547"/>
          </a:xfrm>
          <a:prstGeom prst="rect">
            <a:avLst/>
          </a:prstGeom>
          <a:noFill/>
          <a:ln/>
        </p:spPr>
        <p:txBody>
          <a:bodyPr wrap="square" lIns="25400" tIns="25400" rIns="25400" bIns="25400" rtlCol="0" anchor="t">
            <a:normAutofit/>
          </a:bodyPr>
          <a:lstStyle/>
          <a:p>
            <a:pPr algn="r" indent="0" marL="0">
              <a:lnSpc>
                <a:spcPct val="135000"/>
              </a:lnSpc>
              <a:buNone/>
            </a:pPr>
            <a:r>
              <a:rPr lang="en-US" sz="1275" dirty="0">
                <a:solidFill>
                  <a:srgbClr val="6B7771"/>
                </a:solidFill>
                <a:latin typeface="Arial" pitchFamily="34" charset="0"/>
                <a:ea typeface="Arial" pitchFamily="34" charset="-122"/>
                <a:cs typeface="Arial" pitchFamily="34" charset="-120"/>
              </a:rPr>
              <a:t>(0,3K–20K events)</a:t>
            </a:r>
            <a:endParaRPr lang="en-US" sz="1275" dirty="0"/>
          </a:p>
        </p:txBody>
      </p:sp>
      <p:sp>
        <p:nvSpPr>
          <p:cNvPr id="167" name="Shape 165"/>
          <p:cNvSpPr/>
          <p:nvPr/>
        </p:nvSpPr>
        <p:spPr>
          <a:xfrm>
            <a:off x="15724849" y="7712770"/>
            <a:ext cx="1409568" cy="10583"/>
          </a:xfrm>
          <a:prstGeom prst="rect">
            <a:avLst/>
          </a:prstGeom>
          <a:solidFill>
            <a:srgbClr val="E2E7E5"/>
          </a:solidFill>
          <a:ln/>
        </p:spPr>
      </p:sp>
      <p:sp>
        <p:nvSpPr>
          <p:cNvPr id="168" name="Text 166"/>
          <p:cNvSpPr/>
          <p:nvPr/>
        </p:nvSpPr>
        <p:spPr>
          <a:xfrm>
            <a:off x="15801049" y="6882143"/>
            <a:ext cx="1180968" cy="773476"/>
          </a:xfrm>
          <a:prstGeom prst="rect">
            <a:avLst/>
          </a:prstGeom>
          <a:noFill/>
          <a:ln/>
        </p:spPr>
        <p:txBody>
          <a:bodyPr wrap="square" lIns="25400" tIns="25400" rIns="25400" bIns="25400" rtlCol="0" anchor="ctr">
            <a:normAutofit/>
          </a:bodyPr>
          <a:lstStyle/>
          <a:p>
            <a:pPr algn="r" indent="0" marL="0">
              <a:lnSpc>
                <a:spcPct val="135000"/>
              </a:lnSpc>
              <a:buNone/>
            </a:pPr>
            <a:r>
              <a:rPr lang="en-US" sz="1575" b="1" dirty="0">
                <a:solidFill>
                  <a:srgbClr val="6B7771"/>
                </a:solidFill>
                <a:latin typeface="Courier New" pitchFamily="34" charset="0"/>
                <a:ea typeface="Courier New" pitchFamily="34" charset="-122"/>
                <a:cs typeface="Courier New" pitchFamily="34" charset="-120"/>
              </a:rPr>
              <a:t>~1.000đ</a:t>
            </a:r>
            <a:endParaRPr lang="en-US" sz="1575" dirty="0"/>
          </a:p>
        </p:txBody>
      </p:sp>
      <p:sp>
        <p:nvSpPr>
          <p:cNvPr id="169" name="Shape 167"/>
          <p:cNvSpPr/>
          <p:nvPr/>
        </p:nvSpPr>
        <p:spPr>
          <a:xfrm>
            <a:off x="1153583" y="7723353"/>
            <a:ext cx="2762250" cy="925876"/>
          </a:xfrm>
          <a:prstGeom prst="rect">
            <a:avLst/>
          </a:prstGeom>
          <a:solidFill>
            <a:srgbClr val="001A12"/>
          </a:solidFill>
          <a:ln/>
        </p:spPr>
      </p:sp>
      <p:sp>
        <p:nvSpPr>
          <p:cNvPr id="170" name="Shape 168"/>
          <p:cNvSpPr/>
          <p:nvPr/>
        </p:nvSpPr>
        <p:spPr>
          <a:xfrm>
            <a:off x="3905250" y="7723353"/>
            <a:ext cx="10583" cy="925876"/>
          </a:xfrm>
          <a:prstGeom prst="rect">
            <a:avLst/>
          </a:prstGeom>
          <a:solidFill>
            <a:srgbClr val="FFFFFF">
              <a:alpha val="8000"/>
            </a:srgbClr>
          </a:solidFill>
          <a:ln/>
        </p:spPr>
      </p:sp>
      <p:sp>
        <p:nvSpPr>
          <p:cNvPr id="171" name="Text 169"/>
          <p:cNvSpPr/>
          <p:nvPr/>
        </p:nvSpPr>
        <p:spPr>
          <a:xfrm>
            <a:off x="1305884" y="7818603"/>
            <a:ext cx="2523265" cy="308140"/>
          </a:xfrm>
          <a:prstGeom prst="rect">
            <a:avLst/>
          </a:prstGeom>
          <a:noFill/>
          <a:ln/>
        </p:spPr>
        <p:txBody>
          <a:bodyPr wrap="square" lIns="25400" tIns="25400" rIns="25400" bIns="25400" rtlCol="0" anchor="t">
            <a:normAutofit/>
          </a:bodyPr>
          <a:lstStyle/>
          <a:p>
            <a:pPr algn="l" indent="0" marL="0">
              <a:lnSpc>
                <a:spcPct val="135000"/>
              </a:lnSpc>
              <a:buNone/>
            </a:pPr>
            <a:r>
              <a:rPr lang="en-US" sz="1575" b="1" spc="-16" kern="0" dirty="0">
                <a:solidFill>
                  <a:srgbClr val="FFFFFF"/>
                </a:solidFill>
                <a:latin typeface="Arial" pitchFamily="34" charset="0"/>
                <a:ea typeface="Arial" pitchFamily="34" charset="-122"/>
                <a:cs typeface="Arial" pitchFamily="34" charset="-120"/>
              </a:rPr>
              <a:t>CASDOO · Bundle A ⭐</a:t>
            </a:r>
            <a:endParaRPr lang="en-US" sz="1575" dirty="0"/>
          </a:p>
        </p:txBody>
      </p:sp>
      <p:sp>
        <p:nvSpPr>
          <p:cNvPr id="172" name="Text 170"/>
          <p:cNvSpPr/>
          <p:nvPr/>
        </p:nvSpPr>
        <p:spPr>
          <a:xfrm>
            <a:off x="1305884" y="8117087"/>
            <a:ext cx="2523265" cy="474993"/>
          </a:xfrm>
          <a:prstGeom prst="rect">
            <a:avLst/>
          </a:prstGeom>
          <a:noFill/>
          <a:ln/>
        </p:spPr>
        <p:txBody>
          <a:bodyPr wrap="square" lIns="25400" tIns="25400" rIns="25400" bIns="25400" rtlCol="0" anchor="t">
            <a:normAutofit/>
          </a:bodyPr>
          <a:lstStyle/>
          <a:p>
            <a:pPr algn="l" indent="0" marL="0">
              <a:lnSpc>
                <a:spcPct val="135000"/>
              </a:lnSpc>
              <a:buNone/>
            </a:pPr>
            <a:r>
              <a:rPr lang="en-US" sz="1275" spc="77" kern="0" dirty="0">
                <a:solidFill>
                  <a:srgbClr val="66D59C"/>
                </a:solidFill>
                <a:latin typeface="Courier New" pitchFamily="34" charset="0"/>
                <a:ea typeface="Courier New" pitchFamily="34" charset="-122"/>
                <a:cs typeface="Courier New" pitchFamily="34" charset="-120"/>
              </a:rPr>
              <a:t>M1 + M2 · ODOO-NATIVE · ĐỘC QUYỀN</a:t>
            </a:r>
            <a:endParaRPr lang="en-US" sz="1275" dirty="0"/>
          </a:p>
        </p:txBody>
      </p:sp>
      <p:sp>
        <p:nvSpPr>
          <p:cNvPr id="173" name="Shape 171"/>
          <p:cNvSpPr/>
          <p:nvPr/>
        </p:nvSpPr>
        <p:spPr>
          <a:xfrm>
            <a:off x="3915834" y="7723353"/>
            <a:ext cx="1047750" cy="925876"/>
          </a:xfrm>
          <a:prstGeom prst="rect">
            <a:avLst/>
          </a:prstGeom>
          <a:solidFill>
            <a:srgbClr val="00B26A">
              <a:alpha val="20000"/>
            </a:srgbClr>
          </a:solidFill>
          <a:ln/>
        </p:spPr>
      </p:sp>
      <p:sp>
        <p:nvSpPr>
          <p:cNvPr id="174" name="Shape 172"/>
          <p:cNvSpPr/>
          <p:nvPr/>
        </p:nvSpPr>
        <p:spPr>
          <a:xfrm>
            <a:off x="4953000" y="7723353"/>
            <a:ext cx="10583" cy="925876"/>
          </a:xfrm>
          <a:prstGeom prst="rect">
            <a:avLst/>
          </a:prstGeom>
          <a:solidFill>
            <a:srgbClr val="FFFFFF">
              <a:alpha val="8000"/>
            </a:srgbClr>
          </a:solidFill>
          <a:ln/>
        </p:spPr>
      </p:sp>
      <p:sp>
        <p:nvSpPr>
          <p:cNvPr id="175" name="Text 173"/>
          <p:cNvSpPr/>
          <p:nvPr/>
        </p:nvSpPr>
        <p:spPr>
          <a:xfrm>
            <a:off x="4030134" y="7818603"/>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b="1" dirty="0">
                <a:solidFill>
                  <a:srgbClr val="66D59C"/>
                </a:solidFill>
                <a:latin typeface="Arial" pitchFamily="34" charset="0"/>
                <a:ea typeface="Arial" pitchFamily="34" charset="-122"/>
                <a:cs typeface="Arial" pitchFamily="34" charset="-120"/>
              </a:rPr>
              <a:t>✓</a:t>
            </a:r>
            <a:endParaRPr lang="en-US" sz="1575" dirty="0"/>
          </a:p>
        </p:txBody>
      </p:sp>
      <p:sp>
        <p:nvSpPr>
          <p:cNvPr id="176" name="Shape 174"/>
          <p:cNvSpPr/>
          <p:nvPr/>
        </p:nvSpPr>
        <p:spPr>
          <a:xfrm>
            <a:off x="4963584" y="7723353"/>
            <a:ext cx="1047750" cy="925876"/>
          </a:xfrm>
          <a:prstGeom prst="rect">
            <a:avLst/>
          </a:prstGeom>
          <a:solidFill>
            <a:srgbClr val="00B26A">
              <a:alpha val="20000"/>
            </a:srgbClr>
          </a:solidFill>
          <a:ln/>
        </p:spPr>
      </p:sp>
      <p:sp>
        <p:nvSpPr>
          <p:cNvPr id="177" name="Shape 175"/>
          <p:cNvSpPr/>
          <p:nvPr/>
        </p:nvSpPr>
        <p:spPr>
          <a:xfrm>
            <a:off x="6000750" y="7723353"/>
            <a:ext cx="10583" cy="925876"/>
          </a:xfrm>
          <a:prstGeom prst="rect">
            <a:avLst/>
          </a:prstGeom>
          <a:solidFill>
            <a:srgbClr val="FFFFFF">
              <a:alpha val="8000"/>
            </a:srgbClr>
          </a:solidFill>
          <a:ln/>
        </p:spPr>
      </p:sp>
      <p:sp>
        <p:nvSpPr>
          <p:cNvPr id="178" name="Text 176"/>
          <p:cNvSpPr/>
          <p:nvPr/>
        </p:nvSpPr>
        <p:spPr>
          <a:xfrm>
            <a:off x="5077884" y="7818603"/>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b="1" dirty="0">
                <a:solidFill>
                  <a:srgbClr val="66D59C"/>
                </a:solidFill>
                <a:latin typeface="Arial" pitchFamily="34" charset="0"/>
                <a:ea typeface="Arial" pitchFamily="34" charset="-122"/>
                <a:cs typeface="Arial" pitchFamily="34" charset="-120"/>
              </a:rPr>
              <a:t>✓</a:t>
            </a:r>
            <a:endParaRPr lang="en-US" sz="1575" dirty="0"/>
          </a:p>
        </p:txBody>
      </p:sp>
      <p:sp>
        <p:nvSpPr>
          <p:cNvPr id="179" name="Shape 177"/>
          <p:cNvSpPr/>
          <p:nvPr/>
        </p:nvSpPr>
        <p:spPr>
          <a:xfrm>
            <a:off x="6011334" y="7723353"/>
            <a:ext cx="1164001" cy="925876"/>
          </a:xfrm>
          <a:prstGeom prst="rect">
            <a:avLst/>
          </a:prstGeom>
          <a:solidFill>
            <a:srgbClr val="001A12"/>
          </a:solidFill>
          <a:ln/>
        </p:spPr>
      </p:sp>
      <p:sp>
        <p:nvSpPr>
          <p:cNvPr id="180" name="Shape 178"/>
          <p:cNvSpPr/>
          <p:nvPr/>
        </p:nvSpPr>
        <p:spPr>
          <a:xfrm>
            <a:off x="7164752" y="7723353"/>
            <a:ext cx="10583" cy="925876"/>
          </a:xfrm>
          <a:prstGeom prst="rect">
            <a:avLst/>
          </a:prstGeom>
          <a:solidFill>
            <a:srgbClr val="FFFFFF">
              <a:alpha val="8000"/>
            </a:srgbClr>
          </a:solidFill>
          <a:ln/>
        </p:spPr>
      </p:sp>
      <p:sp>
        <p:nvSpPr>
          <p:cNvPr id="181" name="Text 179"/>
          <p:cNvSpPr/>
          <p:nvPr/>
        </p:nvSpPr>
        <p:spPr>
          <a:xfrm>
            <a:off x="6125634" y="7818603"/>
            <a:ext cx="924818"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FFFFFF">
                    <a:alpha val="22000"/>
                  </a:srgbClr>
                </a:solidFill>
                <a:latin typeface="Arial" pitchFamily="34" charset="0"/>
                <a:ea typeface="Arial" pitchFamily="34" charset="-122"/>
                <a:cs typeface="Arial" pitchFamily="34" charset="-120"/>
              </a:rPr>
              <a:t>—</a:t>
            </a:r>
            <a:endParaRPr lang="en-US" sz="1575" dirty="0"/>
          </a:p>
        </p:txBody>
      </p:sp>
      <p:sp>
        <p:nvSpPr>
          <p:cNvPr id="182" name="Shape 180"/>
          <p:cNvSpPr/>
          <p:nvPr/>
        </p:nvSpPr>
        <p:spPr>
          <a:xfrm>
            <a:off x="7175335" y="7723353"/>
            <a:ext cx="1164001" cy="925876"/>
          </a:xfrm>
          <a:prstGeom prst="rect">
            <a:avLst/>
          </a:prstGeom>
          <a:solidFill>
            <a:srgbClr val="001A12"/>
          </a:solidFill>
          <a:ln/>
        </p:spPr>
      </p:sp>
      <p:sp>
        <p:nvSpPr>
          <p:cNvPr id="183" name="Shape 181"/>
          <p:cNvSpPr/>
          <p:nvPr/>
        </p:nvSpPr>
        <p:spPr>
          <a:xfrm>
            <a:off x="8328753" y="7723353"/>
            <a:ext cx="10583" cy="925876"/>
          </a:xfrm>
          <a:prstGeom prst="rect">
            <a:avLst/>
          </a:prstGeom>
          <a:solidFill>
            <a:srgbClr val="FFFFFF">
              <a:alpha val="8000"/>
            </a:srgbClr>
          </a:solidFill>
          <a:ln/>
        </p:spPr>
      </p:sp>
      <p:sp>
        <p:nvSpPr>
          <p:cNvPr id="184" name="Text 182"/>
          <p:cNvSpPr/>
          <p:nvPr/>
        </p:nvSpPr>
        <p:spPr>
          <a:xfrm>
            <a:off x="7289635" y="7818603"/>
            <a:ext cx="924818"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dirty="0">
                <a:solidFill>
                  <a:srgbClr val="FFFFFF">
                    <a:alpha val="22000"/>
                  </a:srgbClr>
                </a:solidFill>
                <a:latin typeface="Arial" pitchFamily="34" charset="0"/>
                <a:ea typeface="Arial" pitchFamily="34" charset="-122"/>
                <a:cs typeface="Arial" pitchFamily="34" charset="-120"/>
              </a:rPr>
              <a:t>—</a:t>
            </a:r>
            <a:endParaRPr lang="en-US" sz="1575" dirty="0"/>
          </a:p>
        </p:txBody>
      </p:sp>
      <p:sp>
        <p:nvSpPr>
          <p:cNvPr id="185" name="Shape 183"/>
          <p:cNvSpPr/>
          <p:nvPr/>
        </p:nvSpPr>
        <p:spPr>
          <a:xfrm>
            <a:off x="8339336" y="7723353"/>
            <a:ext cx="1047750" cy="925876"/>
          </a:xfrm>
          <a:prstGeom prst="rect">
            <a:avLst/>
          </a:prstGeom>
          <a:solidFill>
            <a:srgbClr val="00B26A">
              <a:alpha val="20000"/>
            </a:srgbClr>
          </a:solidFill>
          <a:ln/>
        </p:spPr>
      </p:sp>
      <p:sp>
        <p:nvSpPr>
          <p:cNvPr id="186" name="Shape 184"/>
          <p:cNvSpPr/>
          <p:nvPr/>
        </p:nvSpPr>
        <p:spPr>
          <a:xfrm>
            <a:off x="9376503" y="7723353"/>
            <a:ext cx="10583" cy="925876"/>
          </a:xfrm>
          <a:prstGeom prst="rect">
            <a:avLst/>
          </a:prstGeom>
          <a:solidFill>
            <a:srgbClr val="FFFFFF">
              <a:alpha val="8000"/>
            </a:srgbClr>
          </a:solidFill>
          <a:ln/>
        </p:spPr>
      </p:sp>
      <p:sp>
        <p:nvSpPr>
          <p:cNvPr id="187" name="Text 185"/>
          <p:cNvSpPr/>
          <p:nvPr/>
        </p:nvSpPr>
        <p:spPr>
          <a:xfrm>
            <a:off x="8453636" y="7818603"/>
            <a:ext cx="808567" cy="773476"/>
          </a:xfrm>
          <a:prstGeom prst="rect">
            <a:avLst/>
          </a:prstGeom>
          <a:noFill/>
          <a:ln/>
        </p:spPr>
        <p:txBody>
          <a:bodyPr wrap="square" lIns="25400" tIns="25400" rIns="25400" bIns="25400" rtlCol="0" anchor="ctr">
            <a:normAutofit/>
          </a:bodyPr>
          <a:lstStyle/>
          <a:p>
            <a:pPr algn="ctr" indent="0" marL="0">
              <a:lnSpc>
                <a:spcPct val="135000"/>
              </a:lnSpc>
              <a:buNone/>
            </a:pPr>
            <a:r>
              <a:rPr lang="en-US" sz="1575" b="1" dirty="0">
                <a:solidFill>
                  <a:srgbClr val="66D59C"/>
                </a:solidFill>
                <a:latin typeface="Arial" pitchFamily="34" charset="0"/>
                <a:ea typeface="Arial" pitchFamily="34" charset="-122"/>
                <a:cs typeface="Arial" pitchFamily="34" charset="-120"/>
              </a:rPr>
              <a:t>✓</a:t>
            </a:r>
            <a:endParaRPr lang="en-US" sz="1575" dirty="0"/>
          </a:p>
        </p:txBody>
      </p:sp>
      <p:sp>
        <p:nvSpPr>
          <p:cNvPr id="188" name="Shape 186"/>
          <p:cNvSpPr/>
          <p:nvPr/>
        </p:nvSpPr>
        <p:spPr>
          <a:xfrm>
            <a:off x="9387086" y="7723353"/>
            <a:ext cx="6337763" cy="925876"/>
          </a:xfrm>
          <a:prstGeom prst="rect">
            <a:avLst/>
          </a:prstGeom>
          <a:solidFill>
            <a:srgbClr val="001A12"/>
          </a:solidFill>
          <a:ln/>
        </p:spPr>
      </p:sp>
      <p:sp>
        <p:nvSpPr>
          <p:cNvPr id="189" name="Shape 187"/>
          <p:cNvSpPr/>
          <p:nvPr/>
        </p:nvSpPr>
        <p:spPr>
          <a:xfrm>
            <a:off x="15714266" y="7723353"/>
            <a:ext cx="10583" cy="925876"/>
          </a:xfrm>
          <a:prstGeom prst="rect">
            <a:avLst/>
          </a:prstGeom>
          <a:solidFill>
            <a:srgbClr val="FFFFFF">
              <a:alpha val="8000"/>
            </a:srgbClr>
          </a:solidFill>
          <a:ln/>
        </p:spPr>
      </p:sp>
      <p:sp>
        <p:nvSpPr>
          <p:cNvPr id="190" name="Text 188"/>
          <p:cNvSpPr/>
          <p:nvPr/>
        </p:nvSpPr>
        <p:spPr>
          <a:xfrm>
            <a:off x="14338763" y="7963132"/>
            <a:ext cx="1299402" cy="260350"/>
          </a:xfrm>
          <a:prstGeom prst="rect">
            <a:avLst/>
          </a:prstGeom>
          <a:noFill/>
          <a:ln/>
        </p:spPr>
        <p:txBody>
          <a:bodyPr wrap="square" lIns="0" tIns="0" rIns="0" bIns="0" rtlCol="0" anchor="t">
            <a:normAutofit/>
          </a:bodyPr>
          <a:lstStyle/>
          <a:p>
            <a:pPr algn="r" indent="0" marL="0">
              <a:lnSpc>
                <a:spcPct val="135000"/>
              </a:lnSpc>
              <a:buNone/>
            </a:pPr>
            <a:r>
              <a:rPr lang="en-US" sz="1575" dirty="0">
                <a:solidFill>
                  <a:srgbClr val="66D59C"/>
                </a:solidFill>
                <a:latin typeface="Arial" pitchFamily="34" charset="0"/>
                <a:ea typeface="Arial" pitchFamily="34" charset="-122"/>
                <a:cs typeface="Arial" pitchFamily="34" charset="-120"/>
              </a:rPr>
              <a:t>1,39M–14,5M</a:t>
            </a:r>
            <a:endParaRPr lang="en-US" sz="1575" dirty="0"/>
          </a:p>
        </p:txBody>
      </p:sp>
      <p:sp>
        <p:nvSpPr>
          <p:cNvPr id="191" name="Text 189"/>
          <p:cNvSpPr/>
          <p:nvPr/>
        </p:nvSpPr>
        <p:spPr>
          <a:xfrm>
            <a:off x="9358710" y="8212006"/>
            <a:ext cx="6203256" cy="256547"/>
          </a:xfrm>
          <a:prstGeom prst="rect">
            <a:avLst/>
          </a:prstGeom>
          <a:noFill/>
          <a:ln/>
        </p:spPr>
        <p:txBody>
          <a:bodyPr wrap="square" lIns="25400" tIns="25400" rIns="25400" bIns="25400" rtlCol="0" anchor="t">
            <a:normAutofit/>
          </a:bodyPr>
          <a:lstStyle/>
          <a:p>
            <a:pPr algn="r" indent="0" marL="0">
              <a:lnSpc>
                <a:spcPct val="135000"/>
              </a:lnSpc>
              <a:buNone/>
            </a:pPr>
            <a:r>
              <a:rPr lang="en-US" sz="1275" dirty="0">
                <a:solidFill>
                  <a:srgbClr val="66D59C"/>
                </a:solidFill>
                <a:latin typeface="Arial" pitchFamily="34" charset="0"/>
                <a:ea typeface="Arial" pitchFamily="34" charset="-122"/>
                <a:cs typeface="Arial" pitchFamily="34" charset="-120"/>
              </a:rPr>
              <a:t>Starter → Business / năm</a:t>
            </a:r>
            <a:endParaRPr lang="en-US" sz="1275" dirty="0"/>
          </a:p>
        </p:txBody>
      </p:sp>
      <p:sp>
        <p:nvSpPr>
          <p:cNvPr id="192" name="Shape 190"/>
          <p:cNvSpPr/>
          <p:nvPr/>
        </p:nvSpPr>
        <p:spPr>
          <a:xfrm>
            <a:off x="15724849" y="7723353"/>
            <a:ext cx="1409568" cy="925876"/>
          </a:xfrm>
          <a:prstGeom prst="rect">
            <a:avLst/>
          </a:prstGeom>
          <a:solidFill>
            <a:srgbClr val="001A12"/>
          </a:solidFill>
          <a:ln/>
        </p:spPr>
      </p:sp>
      <p:sp>
        <p:nvSpPr>
          <p:cNvPr id="193" name="Text 191"/>
          <p:cNvSpPr/>
          <p:nvPr/>
        </p:nvSpPr>
        <p:spPr>
          <a:xfrm>
            <a:off x="15801049" y="7818603"/>
            <a:ext cx="1180968" cy="773476"/>
          </a:xfrm>
          <a:prstGeom prst="rect">
            <a:avLst/>
          </a:prstGeom>
          <a:noFill/>
          <a:ln/>
        </p:spPr>
        <p:txBody>
          <a:bodyPr wrap="square" lIns="25400" tIns="25400" rIns="25400" bIns="25400" rtlCol="0" anchor="ctr">
            <a:normAutofit/>
          </a:bodyPr>
          <a:lstStyle/>
          <a:p>
            <a:pPr algn="r" indent="0" marL="0">
              <a:lnSpc>
                <a:spcPct val="135000"/>
              </a:lnSpc>
              <a:buNone/>
            </a:pPr>
            <a:r>
              <a:rPr lang="en-US" sz="1575" b="1" dirty="0">
                <a:solidFill>
                  <a:srgbClr val="FFFFFF">
                    <a:alpha val="40000"/>
                  </a:srgbClr>
                </a:solidFill>
                <a:latin typeface="Courier New" pitchFamily="34" charset="0"/>
                <a:ea typeface="Courier New" pitchFamily="34" charset="-122"/>
                <a:cs typeface="Courier New" pitchFamily="34" charset="-120"/>
              </a:rPr>
              <a:t>~1.000đ</a:t>
            </a:r>
            <a:endParaRPr lang="en-US" sz="1575" dirty="0"/>
          </a:p>
        </p:txBody>
      </p:sp>
      <p:sp>
        <p:nvSpPr>
          <p:cNvPr id="194" name="Shape 192"/>
          <p:cNvSpPr/>
          <p:nvPr/>
        </p:nvSpPr>
        <p:spPr>
          <a:xfrm>
            <a:off x="1143000" y="8812114"/>
            <a:ext cx="16002001" cy="971352"/>
          </a:xfrm>
          <a:prstGeom prst="roundRect">
            <a:avLst>
              <a:gd name="adj" fmla="val 11767"/>
            </a:avLst>
          </a:prstGeom>
          <a:solidFill>
            <a:srgbClr val="E6F8EF"/>
          </a:solidFill>
          <a:ln/>
        </p:spPr>
      </p:sp>
      <p:sp>
        <p:nvSpPr>
          <p:cNvPr id="195" name="Shape 193"/>
          <p:cNvSpPr/>
          <p:nvPr/>
        </p:nvSpPr>
        <p:spPr>
          <a:xfrm>
            <a:off x="1143000" y="9772882"/>
            <a:ext cx="16002001" cy="10583"/>
          </a:xfrm>
          <a:prstGeom prst="rect">
            <a:avLst/>
          </a:prstGeom>
          <a:solidFill>
            <a:srgbClr val="99E3BD"/>
          </a:solidFill>
          <a:ln/>
        </p:spPr>
      </p:sp>
      <p:sp>
        <p:nvSpPr>
          <p:cNvPr id="196" name="Shape 194"/>
          <p:cNvSpPr/>
          <p:nvPr/>
        </p:nvSpPr>
        <p:spPr>
          <a:xfrm>
            <a:off x="1143000" y="8812114"/>
            <a:ext cx="16002001" cy="10583"/>
          </a:xfrm>
          <a:prstGeom prst="rect">
            <a:avLst/>
          </a:prstGeom>
          <a:solidFill>
            <a:srgbClr val="99E3BD"/>
          </a:solidFill>
          <a:ln/>
        </p:spPr>
      </p:sp>
      <p:sp>
        <p:nvSpPr>
          <p:cNvPr id="197" name="Shape 195"/>
          <p:cNvSpPr/>
          <p:nvPr/>
        </p:nvSpPr>
        <p:spPr>
          <a:xfrm>
            <a:off x="1143000" y="8812114"/>
            <a:ext cx="52917" cy="971352"/>
          </a:xfrm>
          <a:prstGeom prst="rect">
            <a:avLst/>
          </a:prstGeom>
          <a:solidFill>
            <a:srgbClr val="00B26A"/>
          </a:solidFill>
          <a:ln/>
        </p:spPr>
      </p:sp>
      <p:sp>
        <p:nvSpPr>
          <p:cNvPr id="198" name="Shape 196"/>
          <p:cNvSpPr/>
          <p:nvPr/>
        </p:nvSpPr>
        <p:spPr>
          <a:xfrm>
            <a:off x="17134418" y="8812114"/>
            <a:ext cx="10583" cy="971352"/>
          </a:xfrm>
          <a:prstGeom prst="rect">
            <a:avLst/>
          </a:prstGeom>
          <a:solidFill>
            <a:srgbClr val="99E3BD"/>
          </a:solidFill>
          <a:ln/>
        </p:spPr>
      </p:sp>
      <p:sp>
        <p:nvSpPr>
          <p:cNvPr id="199" name="Shape 197"/>
          <p:cNvSpPr/>
          <p:nvPr/>
        </p:nvSpPr>
        <p:spPr>
          <a:xfrm>
            <a:off x="1462484" y="9120684"/>
            <a:ext cx="1082311" cy="354046"/>
          </a:xfrm>
          <a:prstGeom prst="roundRect">
            <a:avLst>
              <a:gd name="adj" fmla="val 50000"/>
            </a:avLst>
          </a:prstGeom>
          <a:solidFill>
            <a:srgbClr val="CCF1DE"/>
          </a:solidFill>
          <a:ln/>
        </p:spPr>
      </p:sp>
      <p:sp>
        <p:nvSpPr>
          <p:cNvPr id="200" name="Text 198"/>
          <p:cNvSpPr/>
          <p:nvPr/>
        </p:nvSpPr>
        <p:spPr>
          <a:xfrm>
            <a:off x="1595834" y="9177834"/>
            <a:ext cx="891811" cy="277846"/>
          </a:xfrm>
          <a:prstGeom prst="rect">
            <a:avLst/>
          </a:prstGeom>
          <a:noFill/>
          <a:ln/>
        </p:spPr>
        <p:txBody>
          <a:bodyPr wrap="square" lIns="25400" tIns="25400" rIns="25400" bIns="25400" rtlCol="0" anchor="t">
            <a:normAutofit/>
          </a:bodyPr>
          <a:lstStyle/>
          <a:p>
            <a:pPr algn="l" indent="0" marL="0">
              <a:lnSpc>
                <a:spcPct val="140000"/>
              </a:lnSpc>
              <a:buNone/>
            </a:pPr>
            <a:r>
              <a:rPr lang="en-US" sz="1350" b="1" spc="108" kern="0" dirty="0">
                <a:solidFill>
                  <a:srgbClr val="006B40"/>
                </a:solidFill>
                <a:latin typeface="Courier New" pitchFamily="34" charset="0"/>
                <a:ea typeface="Courier New" pitchFamily="34" charset="-122"/>
                <a:cs typeface="Courier New" pitchFamily="34" charset="-120"/>
              </a:rPr>
              <a:t>INSIGHT</a:t>
            </a:r>
            <a:endParaRPr lang="en-US" sz="1350" dirty="0"/>
          </a:p>
        </p:txBody>
      </p:sp>
      <p:sp>
        <p:nvSpPr>
          <p:cNvPr id="201" name="Text 199"/>
          <p:cNvSpPr/>
          <p:nvPr/>
        </p:nvSpPr>
        <p:spPr>
          <a:xfrm>
            <a:off x="2735296" y="8994015"/>
            <a:ext cx="14556530" cy="645650"/>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006B40"/>
                </a:solidFill>
                <a:latin typeface="Arial" pitchFamily="34" charset="0"/>
                <a:ea typeface="Arial" pitchFamily="34" charset="-122"/>
                <a:cs typeface="Arial" pitchFamily="34" charset="-120"/>
              </a:rPr>
              <a:t>CASDOO Bundle A </a:t>
            </a:r>
            <a:pPr algn="l" indent="0" marL="0">
              <a:lnSpc>
                <a:spcPct val="140000"/>
              </a:lnSpc>
              <a:buNone/>
            </a:pPr>
            <a:r>
              <a:rPr lang="en-US" sz="1650" dirty="0">
                <a:solidFill>
                  <a:srgbClr val="0F1311"/>
                </a:solidFill>
                <a:latin typeface="Arial" pitchFamily="34" charset="0"/>
                <a:ea typeface="Arial" pitchFamily="34" charset="-122"/>
                <a:cs typeface="Arial" pitchFamily="34" charset="-120"/>
              </a:rPr>
              <a:t>= sản phẩm duy nhất có </a:t>
            </a:r>
            <a:pPr algn="l" indent="0" marL="0">
              <a:lnSpc>
                <a:spcPct val="140000"/>
              </a:lnSpc>
              <a:buNone/>
            </a:pPr>
            <a:r>
              <a:rPr lang="en-US" sz="1650" b="1" dirty="0">
                <a:solidFill>
                  <a:srgbClr val="006B40"/>
                </a:solidFill>
                <a:latin typeface="Arial" pitchFamily="34" charset="0"/>
                <a:ea typeface="Arial" pitchFamily="34" charset="-122"/>
                <a:cs typeface="Arial" pitchFamily="34" charset="-120"/>
              </a:rPr>
              <a:t>Bank Sync + GDT Pull </a:t>
            </a:r>
            <a:pPr algn="l" indent="0" marL="0">
              <a:lnSpc>
                <a:spcPct val="140000"/>
              </a:lnSpc>
              <a:buNone/>
            </a:pPr>
            <a:r>
              <a:rPr lang="en-US" sz="1650" dirty="0">
                <a:solidFill>
                  <a:srgbClr val="0F1311"/>
                </a:solidFill>
                <a:latin typeface="Arial" pitchFamily="34" charset="0"/>
                <a:ea typeface="Arial" pitchFamily="34" charset="-122"/>
                <a:cs typeface="Arial" pitchFamily="34" charset="-120"/>
              </a:rPr>
              <a:t>trong 1 gói Odoo-native. </a:t>
            </a:r>
            <a:pPr algn="l" indent="0" marL="0">
              <a:lnSpc>
                <a:spcPct val="140000"/>
              </a:lnSpc>
              <a:buNone/>
            </a:pPr>
            <a:r>
              <a:rPr lang="en-US" sz="1500" dirty="0">
                <a:solidFill>
                  <a:srgbClr val="6B7771"/>
                </a:solidFill>
                <a:latin typeface="Arial" pitchFamily="34" charset="0"/>
                <a:ea typeface="Arial" pitchFamily="34" charset="-122"/>
                <a:cs typeface="Arial" pitchFamily="34" charset="-120"/>
              </a:rPr>
              <a:t>* meInvoice hỗ trợ xem HĐ GDT nhưng không sync tự động vào ERP như M2.</a:t>
            </a:r>
            <a:endParaRPr lang="en-US" sz="1650" dirty="0"/>
          </a:p>
        </p:txBody>
      </p:sp>
      <p:sp>
        <p:nvSpPr>
          <p:cNvPr id="202" name="Text 200"/>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16 / 24</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533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C · 03 · PRICING MODULE</a:t>
            </a:r>
            <a:endParaRPr lang="en-US" sz="1800" dirty="0"/>
          </a:p>
        </p:txBody>
      </p:sp>
      <p:sp>
        <p:nvSpPr>
          <p:cNvPr id="3" name="Text 1"/>
          <p:cNvSpPr/>
          <p:nvPr/>
        </p:nvSpPr>
        <p:spPr>
          <a:xfrm>
            <a:off x="1143000" y="1005417"/>
            <a:ext cx="14716126" cy="958189"/>
          </a:xfrm>
          <a:prstGeom prst="rect">
            <a:avLst/>
          </a:prstGeom>
          <a:noFill/>
          <a:ln/>
        </p:spPr>
        <p:txBody>
          <a:bodyPr wrap="square" lIns="25400" tIns="25400" rIns="25400" bIns="25400" rtlCol="0" anchor="t">
            <a:normAutofit/>
          </a:bodyPr>
          <a:lstStyle/>
          <a:p>
            <a:pPr algn="l" indent="0" marL="0">
              <a:lnSpc>
                <a:spcPct val="105000"/>
              </a:lnSpc>
              <a:buNone/>
            </a:pPr>
            <a:r>
              <a:rPr lang="en-US" sz="3450" b="1" spc="-86" kern="0" dirty="0">
                <a:solidFill>
                  <a:srgbClr val="006B40"/>
                </a:solidFill>
                <a:latin typeface="Arial" pitchFamily="34" charset="0"/>
                <a:ea typeface="Arial" pitchFamily="34" charset="-122"/>
                <a:cs typeface="Arial" pitchFamily="34" charset="-120"/>
              </a:rPr>
              <a:t>9 tier </a:t>
            </a:r>
            <a:pPr algn="l" indent="0" marL="0">
              <a:lnSpc>
                <a:spcPct val="105000"/>
              </a:lnSpc>
              <a:buNone/>
            </a:pPr>
            <a:r>
              <a:rPr lang="en-US" sz="3450" b="1" spc="-86" kern="0" dirty="0">
                <a:solidFill>
                  <a:srgbClr val="0F1311"/>
                </a:solidFill>
                <a:latin typeface="Arial" pitchFamily="34" charset="0"/>
                <a:ea typeface="Arial" pitchFamily="34" charset="-122"/>
                <a:cs typeface="Arial" pitchFamily="34" charset="-120"/>
              </a:rPr>
              <a:t>— Dev Sandbox miễn phí → Enterprise OEM, mô hình </a:t>
            </a:r>
            <a:pPr algn="l" indent="0" marL="0">
              <a:lnSpc>
                <a:spcPct val="105000"/>
              </a:lnSpc>
              <a:buNone/>
            </a:pPr>
            <a:r>
              <a:rPr lang="en-US" sz="3450" b="1" spc="-86" kern="0" dirty="0">
                <a:solidFill>
                  <a:srgbClr val="006B40"/>
                </a:solidFill>
                <a:latin typeface="Arial" pitchFamily="34" charset="0"/>
                <a:ea typeface="Arial" pitchFamily="34" charset="-122"/>
                <a:cs typeface="Arial" pitchFamily="34" charset="-120"/>
              </a:rPr>
              <a:t>per-key annual license</a:t>
            </a:r>
            <a:pPr algn="l" indent="0" marL="0">
              <a:lnSpc>
                <a:spcPct val="105000"/>
              </a:lnSpc>
              <a:buNone/>
            </a:pPr>
            <a:r>
              <a:rPr lang="en-US" sz="3450" b="1" spc="-86" kern="0" dirty="0">
                <a:solidFill>
                  <a:srgbClr val="0F1311"/>
                </a:solidFill>
                <a:latin typeface="Arial" pitchFamily="34" charset="0"/>
                <a:ea typeface="Arial" pitchFamily="34" charset="-122"/>
                <a:cs typeface="Arial" pitchFamily="34" charset="-120"/>
              </a:rPr>
              <a:t>.</a:t>
            </a:r>
            <a:endParaRPr lang="en-US" sz="3450" dirty="0"/>
          </a:p>
        </p:txBody>
      </p:sp>
      <p:sp>
        <p:nvSpPr>
          <p:cNvPr id="4" name="Shape 2"/>
          <p:cNvSpPr/>
          <p:nvPr/>
        </p:nvSpPr>
        <p:spPr>
          <a:xfrm>
            <a:off x="1143000" y="2077806"/>
            <a:ext cx="16002001" cy="6889585"/>
          </a:xfrm>
          <a:prstGeom prst="roundRect">
            <a:avLst>
              <a:gd name="adj" fmla="val 2212"/>
            </a:avLst>
          </a:prstGeom>
          <a:solidFill>
            <a:srgbClr val="FFFFFF"/>
          </a:solidFill>
          <a:ln w="10583">
            <a:solidFill>
              <a:srgbClr val="E2E7E5"/>
            </a:solidFill>
            <a:prstDash val="solid"/>
          </a:ln>
        </p:spPr>
      </p:sp>
      <p:sp>
        <p:nvSpPr>
          <p:cNvPr id="5" name="Shape 3"/>
          <p:cNvSpPr/>
          <p:nvPr/>
        </p:nvSpPr>
        <p:spPr>
          <a:xfrm>
            <a:off x="1153583" y="2088389"/>
            <a:ext cx="2457318" cy="692216"/>
          </a:xfrm>
          <a:prstGeom prst="rect">
            <a:avLst/>
          </a:prstGeom>
          <a:solidFill>
            <a:srgbClr val="F7F9F8"/>
          </a:solidFill>
          <a:ln/>
        </p:spPr>
      </p:sp>
      <p:sp>
        <p:nvSpPr>
          <p:cNvPr id="6" name="Shape 4"/>
          <p:cNvSpPr/>
          <p:nvPr/>
        </p:nvSpPr>
        <p:spPr>
          <a:xfrm>
            <a:off x="1153583" y="2770022"/>
            <a:ext cx="2457318" cy="10583"/>
          </a:xfrm>
          <a:prstGeom prst="rect">
            <a:avLst/>
          </a:prstGeom>
          <a:solidFill>
            <a:srgbClr val="E2E7E5"/>
          </a:solidFill>
          <a:ln/>
        </p:spPr>
      </p:sp>
      <p:sp>
        <p:nvSpPr>
          <p:cNvPr id="7" name="Shape 5"/>
          <p:cNvSpPr/>
          <p:nvPr/>
        </p:nvSpPr>
        <p:spPr>
          <a:xfrm>
            <a:off x="3600318" y="2088389"/>
            <a:ext cx="10583" cy="692216"/>
          </a:xfrm>
          <a:prstGeom prst="rect">
            <a:avLst/>
          </a:prstGeom>
          <a:solidFill>
            <a:srgbClr val="E2E7E5"/>
          </a:solidFill>
          <a:ln/>
        </p:spPr>
      </p:sp>
      <p:sp>
        <p:nvSpPr>
          <p:cNvPr id="8" name="Text 6"/>
          <p:cNvSpPr/>
          <p:nvPr/>
        </p:nvSpPr>
        <p:spPr>
          <a:xfrm>
            <a:off x="1305983" y="2202689"/>
            <a:ext cx="2218134" cy="491133"/>
          </a:xfrm>
          <a:prstGeom prst="rect">
            <a:avLst/>
          </a:prstGeom>
          <a:noFill/>
          <a:ln/>
        </p:spPr>
        <p:txBody>
          <a:bodyPr wrap="square" lIns="25400" tIns="25400" rIns="25400" bIns="25400" rtlCol="0" anchor="ctr">
            <a:normAutofit/>
          </a:bodyPr>
          <a:lstStyle/>
          <a:p>
            <a:pPr algn="l" indent="0" marL="0">
              <a:lnSpc>
                <a:spcPct val="140000"/>
              </a:lnSpc>
              <a:buNone/>
            </a:pPr>
            <a:r>
              <a:rPr lang="en-US" sz="1275" b="1" spc="89" kern="0" dirty="0">
                <a:solidFill>
                  <a:srgbClr val="6B7771"/>
                </a:solidFill>
                <a:latin typeface="Courier New" pitchFamily="34" charset="0"/>
                <a:ea typeface="Courier New" pitchFamily="34" charset="-122"/>
                <a:cs typeface="Courier New" pitchFamily="34" charset="-120"/>
              </a:rPr>
              <a:t>SẢN PHẨM / TIER</a:t>
            </a:r>
            <a:endParaRPr lang="en-US" sz="1275" dirty="0"/>
          </a:p>
        </p:txBody>
      </p:sp>
      <p:sp>
        <p:nvSpPr>
          <p:cNvPr id="9" name="Shape 7"/>
          <p:cNvSpPr/>
          <p:nvPr/>
        </p:nvSpPr>
        <p:spPr>
          <a:xfrm>
            <a:off x="3610901" y="2088389"/>
            <a:ext cx="8113448" cy="692216"/>
          </a:xfrm>
          <a:prstGeom prst="rect">
            <a:avLst/>
          </a:prstGeom>
          <a:solidFill>
            <a:srgbClr val="F7F9F8"/>
          </a:solidFill>
          <a:ln/>
        </p:spPr>
      </p:sp>
      <p:sp>
        <p:nvSpPr>
          <p:cNvPr id="10" name="Shape 8"/>
          <p:cNvSpPr/>
          <p:nvPr/>
        </p:nvSpPr>
        <p:spPr>
          <a:xfrm>
            <a:off x="3610901" y="2770022"/>
            <a:ext cx="8113448" cy="10583"/>
          </a:xfrm>
          <a:prstGeom prst="rect">
            <a:avLst/>
          </a:prstGeom>
          <a:solidFill>
            <a:srgbClr val="E2E7E5"/>
          </a:solidFill>
          <a:ln/>
        </p:spPr>
      </p:sp>
      <p:sp>
        <p:nvSpPr>
          <p:cNvPr id="11" name="Shape 9"/>
          <p:cNvSpPr/>
          <p:nvPr/>
        </p:nvSpPr>
        <p:spPr>
          <a:xfrm>
            <a:off x="11713766" y="2088389"/>
            <a:ext cx="10583" cy="692216"/>
          </a:xfrm>
          <a:prstGeom prst="rect">
            <a:avLst/>
          </a:prstGeom>
          <a:solidFill>
            <a:srgbClr val="E2E7E5"/>
          </a:solidFill>
          <a:ln/>
        </p:spPr>
      </p:sp>
      <p:sp>
        <p:nvSpPr>
          <p:cNvPr id="12" name="Text 10"/>
          <p:cNvSpPr/>
          <p:nvPr/>
        </p:nvSpPr>
        <p:spPr>
          <a:xfrm>
            <a:off x="3763301" y="2202689"/>
            <a:ext cx="8041468" cy="491133"/>
          </a:xfrm>
          <a:prstGeom prst="rect">
            <a:avLst/>
          </a:prstGeom>
          <a:noFill/>
          <a:ln/>
        </p:spPr>
        <p:txBody>
          <a:bodyPr wrap="square" lIns="25400" tIns="25400" rIns="25400" bIns="25400" rtlCol="0" anchor="ctr">
            <a:normAutofit/>
          </a:bodyPr>
          <a:lstStyle/>
          <a:p>
            <a:pPr algn="l" indent="0" marL="0">
              <a:lnSpc>
                <a:spcPct val="140000"/>
              </a:lnSpc>
              <a:buNone/>
            </a:pPr>
            <a:r>
              <a:rPr lang="en-US" sz="1275" b="1" spc="89" kern="0" dirty="0">
                <a:solidFill>
                  <a:srgbClr val="6B7771"/>
                </a:solidFill>
                <a:latin typeface="Courier New" pitchFamily="34" charset="0"/>
                <a:ea typeface="Courier New" pitchFamily="34" charset="-122"/>
                <a:cs typeface="Courier New" pitchFamily="34" charset="-120"/>
              </a:rPr>
              <a:t>TÍNH NĂNG CHÍNH</a:t>
            </a:r>
            <a:endParaRPr lang="en-US" sz="1275" dirty="0"/>
          </a:p>
        </p:txBody>
      </p:sp>
      <p:sp>
        <p:nvSpPr>
          <p:cNvPr id="13" name="Shape 11"/>
          <p:cNvSpPr/>
          <p:nvPr/>
        </p:nvSpPr>
        <p:spPr>
          <a:xfrm>
            <a:off x="11724349" y="2088389"/>
            <a:ext cx="1447767" cy="692216"/>
          </a:xfrm>
          <a:prstGeom prst="rect">
            <a:avLst/>
          </a:prstGeom>
          <a:solidFill>
            <a:srgbClr val="F7F9F8"/>
          </a:solidFill>
          <a:ln/>
        </p:spPr>
      </p:sp>
      <p:sp>
        <p:nvSpPr>
          <p:cNvPr id="14" name="Shape 12"/>
          <p:cNvSpPr/>
          <p:nvPr/>
        </p:nvSpPr>
        <p:spPr>
          <a:xfrm>
            <a:off x="11724349" y="2770022"/>
            <a:ext cx="1447767" cy="10583"/>
          </a:xfrm>
          <a:prstGeom prst="rect">
            <a:avLst/>
          </a:prstGeom>
          <a:solidFill>
            <a:srgbClr val="E2E7E5"/>
          </a:solidFill>
          <a:ln/>
        </p:spPr>
      </p:sp>
      <p:sp>
        <p:nvSpPr>
          <p:cNvPr id="15" name="Shape 13"/>
          <p:cNvSpPr/>
          <p:nvPr/>
        </p:nvSpPr>
        <p:spPr>
          <a:xfrm>
            <a:off x="13161533" y="2088389"/>
            <a:ext cx="10583" cy="692216"/>
          </a:xfrm>
          <a:prstGeom prst="rect">
            <a:avLst/>
          </a:prstGeom>
          <a:solidFill>
            <a:srgbClr val="E2E7E5"/>
          </a:solidFill>
          <a:ln/>
        </p:spPr>
      </p:sp>
      <p:sp>
        <p:nvSpPr>
          <p:cNvPr id="16" name="Text 14"/>
          <p:cNvSpPr/>
          <p:nvPr/>
        </p:nvSpPr>
        <p:spPr>
          <a:xfrm>
            <a:off x="11876749" y="2202689"/>
            <a:ext cx="1208584" cy="491133"/>
          </a:xfrm>
          <a:prstGeom prst="rect">
            <a:avLst/>
          </a:prstGeom>
          <a:noFill/>
          <a:ln/>
        </p:spPr>
        <p:txBody>
          <a:bodyPr wrap="square" lIns="25400" tIns="25400" rIns="25400" bIns="25400" rtlCol="0" anchor="ctr">
            <a:normAutofit/>
          </a:bodyPr>
          <a:lstStyle/>
          <a:p>
            <a:pPr algn="l" indent="0" marL="0">
              <a:lnSpc>
                <a:spcPct val="140000"/>
              </a:lnSpc>
              <a:buNone/>
            </a:pPr>
            <a:r>
              <a:rPr lang="en-US" sz="1275" b="1" spc="89" kern="0" dirty="0">
                <a:solidFill>
                  <a:srgbClr val="6B7771"/>
                </a:solidFill>
                <a:latin typeface="Courier New" pitchFamily="34" charset="0"/>
                <a:ea typeface="Courier New" pitchFamily="34" charset="-122"/>
                <a:cs typeface="Courier New" pitchFamily="34" charset="-120"/>
              </a:rPr>
              <a:t>MÔ HÌNH GIÁ</a:t>
            </a:r>
            <a:endParaRPr lang="en-US" sz="1275" dirty="0"/>
          </a:p>
        </p:txBody>
      </p:sp>
      <p:sp>
        <p:nvSpPr>
          <p:cNvPr id="17" name="Shape 15"/>
          <p:cNvSpPr/>
          <p:nvPr/>
        </p:nvSpPr>
        <p:spPr>
          <a:xfrm>
            <a:off x="13172117" y="2088389"/>
            <a:ext cx="2095500" cy="692216"/>
          </a:xfrm>
          <a:prstGeom prst="rect">
            <a:avLst/>
          </a:prstGeom>
          <a:solidFill>
            <a:srgbClr val="F7F9F8"/>
          </a:solidFill>
          <a:ln/>
        </p:spPr>
      </p:sp>
      <p:sp>
        <p:nvSpPr>
          <p:cNvPr id="18" name="Shape 16"/>
          <p:cNvSpPr/>
          <p:nvPr/>
        </p:nvSpPr>
        <p:spPr>
          <a:xfrm>
            <a:off x="13172117" y="2770022"/>
            <a:ext cx="2095500" cy="10583"/>
          </a:xfrm>
          <a:prstGeom prst="rect">
            <a:avLst/>
          </a:prstGeom>
          <a:solidFill>
            <a:srgbClr val="E2E7E5"/>
          </a:solidFill>
          <a:ln/>
        </p:spPr>
      </p:sp>
      <p:sp>
        <p:nvSpPr>
          <p:cNvPr id="19" name="Shape 17"/>
          <p:cNvSpPr/>
          <p:nvPr/>
        </p:nvSpPr>
        <p:spPr>
          <a:xfrm>
            <a:off x="15257034" y="2088389"/>
            <a:ext cx="10583" cy="692216"/>
          </a:xfrm>
          <a:prstGeom prst="rect">
            <a:avLst/>
          </a:prstGeom>
          <a:solidFill>
            <a:srgbClr val="E2E7E5"/>
          </a:solidFill>
          <a:ln/>
        </p:spPr>
      </p:sp>
      <p:sp>
        <p:nvSpPr>
          <p:cNvPr id="20" name="Text 18"/>
          <p:cNvSpPr/>
          <p:nvPr/>
        </p:nvSpPr>
        <p:spPr>
          <a:xfrm>
            <a:off x="13248317" y="2202689"/>
            <a:ext cx="1856317" cy="491133"/>
          </a:xfrm>
          <a:prstGeom prst="rect">
            <a:avLst/>
          </a:prstGeom>
          <a:noFill/>
          <a:ln/>
        </p:spPr>
        <p:txBody>
          <a:bodyPr wrap="square" lIns="25400" tIns="25400" rIns="25400" bIns="25400" rtlCol="0" anchor="ctr">
            <a:normAutofit/>
          </a:bodyPr>
          <a:lstStyle/>
          <a:p>
            <a:pPr algn="r" indent="0" marL="0">
              <a:lnSpc>
                <a:spcPct val="140000"/>
              </a:lnSpc>
              <a:buNone/>
            </a:pPr>
            <a:r>
              <a:rPr lang="en-US" sz="1275" b="1" spc="89" kern="0" dirty="0">
                <a:solidFill>
                  <a:srgbClr val="6B7771"/>
                </a:solidFill>
                <a:latin typeface="Courier New" pitchFamily="34" charset="0"/>
                <a:ea typeface="Courier New" pitchFamily="34" charset="-122"/>
                <a:cs typeface="Courier New" pitchFamily="34" charset="-120"/>
              </a:rPr>
              <a:t>GIÁ LIST / NĂM</a:t>
            </a:r>
            <a:endParaRPr lang="en-US" sz="1275" dirty="0"/>
          </a:p>
        </p:txBody>
      </p:sp>
      <p:sp>
        <p:nvSpPr>
          <p:cNvPr id="21" name="Shape 19"/>
          <p:cNvSpPr/>
          <p:nvPr/>
        </p:nvSpPr>
        <p:spPr>
          <a:xfrm>
            <a:off x="15267617" y="2088389"/>
            <a:ext cx="1866801" cy="692216"/>
          </a:xfrm>
          <a:prstGeom prst="rect">
            <a:avLst/>
          </a:prstGeom>
          <a:solidFill>
            <a:srgbClr val="F7F9F8"/>
          </a:solidFill>
          <a:ln/>
        </p:spPr>
      </p:sp>
      <p:sp>
        <p:nvSpPr>
          <p:cNvPr id="22" name="Shape 20"/>
          <p:cNvSpPr/>
          <p:nvPr/>
        </p:nvSpPr>
        <p:spPr>
          <a:xfrm>
            <a:off x="15267617" y="2770022"/>
            <a:ext cx="1866801" cy="10583"/>
          </a:xfrm>
          <a:prstGeom prst="rect">
            <a:avLst/>
          </a:prstGeom>
          <a:solidFill>
            <a:srgbClr val="E2E7E5"/>
          </a:solidFill>
          <a:ln/>
        </p:spPr>
      </p:sp>
      <p:sp>
        <p:nvSpPr>
          <p:cNvPr id="23" name="Text 21"/>
          <p:cNvSpPr/>
          <p:nvPr/>
        </p:nvSpPr>
        <p:spPr>
          <a:xfrm>
            <a:off x="15343817" y="2202689"/>
            <a:ext cx="1638201" cy="491133"/>
          </a:xfrm>
          <a:prstGeom prst="rect">
            <a:avLst/>
          </a:prstGeom>
          <a:noFill/>
          <a:ln/>
        </p:spPr>
        <p:txBody>
          <a:bodyPr wrap="square" lIns="25400" tIns="25400" rIns="25400" bIns="25400" rtlCol="0" anchor="ctr">
            <a:normAutofit/>
          </a:bodyPr>
          <a:lstStyle/>
          <a:p>
            <a:pPr algn="r" indent="0" marL="0">
              <a:lnSpc>
                <a:spcPct val="140000"/>
              </a:lnSpc>
              <a:buNone/>
            </a:pPr>
            <a:r>
              <a:rPr lang="en-US" sz="1275" b="1" spc="89" kern="0" dirty="0">
                <a:solidFill>
                  <a:srgbClr val="6B7771"/>
                </a:solidFill>
                <a:latin typeface="Courier New" pitchFamily="34" charset="0"/>
                <a:ea typeface="Courier New" pitchFamily="34" charset="-122"/>
                <a:cs typeface="Courier New" pitchFamily="34" charset="-120"/>
              </a:rPr>
              <a:t>WHOLESALE −30%</a:t>
            </a:r>
            <a:endParaRPr lang="en-US" sz="1275" dirty="0"/>
          </a:p>
        </p:txBody>
      </p:sp>
      <p:sp>
        <p:nvSpPr>
          <p:cNvPr id="24" name="Shape 22"/>
          <p:cNvSpPr/>
          <p:nvPr/>
        </p:nvSpPr>
        <p:spPr>
          <a:xfrm>
            <a:off x="1153583" y="2780606"/>
            <a:ext cx="2457318" cy="680806"/>
          </a:xfrm>
          <a:prstGeom prst="rect">
            <a:avLst/>
          </a:prstGeom>
          <a:solidFill>
            <a:srgbClr val="F7F9F8"/>
          </a:solidFill>
          <a:ln/>
        </p:spPr>
      </p:sp>
      <p:sp>
        <p:nvSpPr>
          <p:cNvPr id="25" name="Shape 23"/>
          <p:cNvSpPr/>
          <p:nvPr/>
        </p:nvSpPr>
        <p:spPr>
          <a:xfrm>
            <a:off x="1153583" y="3450828"/>
            <a:ext cx="2457318" cy="10583"/>
          </a:xfrm>
          <a:prstGeom prst="rect">
            <a:avLst/>
          </a:prstGeom>
          <a:solidFill>
            <a:srgbClr val="E2E7E5"/>
          </a:solidFill>
          <a:ln/>
        </p:spPr>
      </p:sp>
      <p:sp>
        <p:nvSpPr>
          <p:cNvPr id="26" name="Shape 24"/>
          <p:cNvSpPr/>
          <p:nvPr/>
        </p:nvSpPr>
        <p:spPr>
          <a:xfrm>
            <a:off x="3600318" y="2780606"/>
            <a:ext cx="10583" cy="680806"/>
          </a:xfrm>
          <a:prstGeom prst="rect">
            <a:avLst/>
          </a:prstGeom>
          <a:solidFill>
            <a:srgbClr val="E2E7E5"/>
          </a:solidFill>
          <a:ln/>
        </p:spPr>
      </p:sp>
      <p:sp>
        <p:nvSpPr>
          <p:cNvPr id="27" name="Text 25"/>
          <p:cNvSpPr/>
          <p:nvPr/>
        </p:nvSpPr>
        <p:spPr>
          <a:xfrm>
            <a:off x="1305884" y="2866265"/>
            <a:ext cx="2218333" cy="304668"/>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 kern="0" dirty="0">
                <a:solidFill>
                  <a:srgbClr val="6B7771"/>
                </a:solidFill>
                <a:latin typeface="Arial" pitchFamily="34" charset="0"/>
                <a:ea typeface="Arial" pitchFamily="34" charset="-122"/>
                <a:cs typeface="Arial" pitchFamily="34" charset="-120"/>
              </a:rPr>
              <a:t>Dev Sandbox</a:t>
            </a:r>
            <a:endParaRPr lang="en-US" sz="1500" dirty="0"/>
          </a:p>
        </p:txBody>
      </p:sp>
      <p:sp>
        <p:nvSpPr>
          <p:cNvPr id="28" name="Text 26"/>
          <p:cNvSpPr/>
          <p:nvPr/>
        </p:nvSpPr>
        <p:spPr>
          <a:xfrm>
            <a:off x="1305884" y="3151849"/>
            <a:ext cx="2218333" cy="251420"/>
          </a:xfrm>
          <a:prstGeom prst="rect">
            <a:avLst/>
          </a:prstGeom>
          <a:noFill/>
          <a:ln/>
        </p:spPr>
        <p:txBody>
          <a:bodyPr wrap="square" lIns="25400" tIns="25400" rIns="25400" bIns="25400" rtlCol="0" anchor="t">
            <a:normAutofit/>
          </a:bodyPr>
          <a:lstStyle/>
          <a:p>
            <a:pPr algn="l" indent="0" marL="0">
              <a:lnSpc>
                <a:spcPct val="140000"/>
              </a:lnSpc>
              <a:buNone/>
            </a:pPr>
            <a:r>
              <a:rPr lang="en-US" sz="1200" spc="72" kern="0" dirty="0">
                <a:solidFill>
                  <a:srgbClr val="6B7771"/>
                </a:solidFill>
                <a:latin typeface="Courier New" pitchFamily="34" charset="0"/>
                <a:ea typeface="Courier New" pitchFamily="34" charset="-122"/>
                <a:cs typeface="Courier New" pitchFamily="34" charset="-120"/>
              </a:rPr>
              <a:t>MIỄN PHÍ</a:t>
            </a:r>
            <a:endParaRPr lang="en-US" sz="1200" dirty="0"/>
          </a:p>
        </p:txBody>
      </p:sp>
      <p:sp>
        <p:nvSpPr>
          <p:cNvPr id="29" name="Shape 27"/>
          <p:cNvSpPr/>
          <p:nvPr/>
        </p:nvSpPr>
        <p:spPr>
          <a:xfrm>
            <a:off x="3610901" y="2780606"/>
            <a:ext cx="8113448" cy="680806"/>
          </a:xfrm>
          <a:prstGeom prst="rect">
            <a:avLst/>
          </a:prstGeom>
          <a:solidFill>
            <a:srgbClr val="F7F9F8"/>
          </a:solidFill>
          <a:ln/>
        </p:spPr>
      </p:sp>
      <p:sp>
        <p:nvSpPr>
          <p:cNvPr id="30" name="Shape 28"/>
          <p:cNvSpPr/>
          <p:nvPr/>
        </p:nvSpPr>
        <p:spPr>
          <a:xfrm>
            <a:off x="3610901" y="3450828"/>
            <a:ext cx="8113448" cy="10583"/>
          </a:xfrm>
          <a:prstGeom prst="rect">
            <a:avLst/>
          </a:prstGeom>
          <a:solidFill>
            <a:srgbClr val="E2E7E5"/>
          </a:solidFill>
          <a:ln/>
        </p:spPr>
      </p:sp>
      <p:sp>
        <p:nvSpPr>
          <p:cNvPr id="31" name="Shape 29"/>
          <p:cNvSpPr/>
          <p:nvPr/>
        </p:nvSpPr>
        <p:spPr>
          <a:xfrm>
            <a:off x="11713766" y="2780606"/>
            <a:ext cx="10583" cy="680806"/>
          </a:xfrm>
          <a:prstGeom prst="rect">
            <a:avLst/>
          </a:prstGeom>
          <a:solidFill>
            <a:srgbClr val="E2E7E5"/>
          </a:solidFill>
          <a:ln/>
        </p:spPr>
      </p:sp>
      <p:sp>
        <p:nvSpPr>
          <p:cNvPr id="32" name="Text 30"/>
          <p:cNvSpPr/>
          <p:nvPr/>
        </p:nvSpPr>
        <p:spPr>
          <a:xfrm>
            <a:off x="3763301" y="2866331"/>
            <a:ext cx="8041468" cy="536873"/>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4 modules · 100 test events/ngày · Không production key · 1 sandbox / partner vĩnh viễn</a:t>
            </a:r>
            <a:endParaRPr lang="en-US" sz="1425" dirty="0"/>
          </a:p>
        </p:txBody>
      </p:sp>
      <p:sp>
        <p:nvSpPr>
          <p:cNvPr id="33" name="Shape 31"/>
          <p:cNvSpPr/>
          <p:nvPr/>
        </p:nvSpPr>
        <p:spPr>
          <a:xfrm>
            <a:off x="11724349" y="2780606"/>
            <a:ext cx="1447767" cy="680806"/>
          </a:xfrm>
          <a:prstGeom prst="rect">
            <a:avLst/>
          </a:prstGeom>
          <a:solidFill>
            <a:srgbClr val="F7F9F8"/>
          </a:solidFill>
          <a:ln/>
        </p:spPr>
      </p:sp>
      <p:sp>
        <p:nvSpPr>
          <p:cNvPr id="34" name="Shape 32"/>
          <p:cNvSpPr/>
          <p:nvPr/>
        </p:nvSpPr>
        <p:spPr>
          <a:xfrm>
            <a:off x="11724349" y="3450828"/>
            <a:ext cx="1447767" cy="10583"/>
          </a:xfrm>
          <a:prstGeom prst="rect">
            <a:avLst/>
          </a:prstGeom>
          <a:solidFill>
            <a:srgbClr val="E2E7E5"/>
          </a:solidFill>
          <a:ln/>
        </p:spPr>
      </p:sp>
      <p:sp>
        <p:nvSpPr>
          <p:cNvPr id="35" name="Shape 33"/>
          <p:cNvSpPr/>
          <p:nvPr/>
        </p:nvSpPr>
        <p:spPr>
          <a:xfrm>
            <a:off x="13161533" y="2780606"/>
            <a:ext cx="10583" cy="680806"/>
          </a:xfrm>
          <a:prstGeom prst="rect">
            <a:avLst/>
          </a:prstGeom>
          <a:solidFill>
            <a:srgbClr val="E2E7E5"/>
          </a:solidFill>
          <a:ln/>
        </p:spPr>
      </p:sp>
      <p:sp>
        <p:nvSpPr>
          <p:cNvPr id="36" name="Text 34"/>
          <p:cNvSpPr/>
          <p:nvPr/>
        </p:nvSpPr>
        <p:spPr>
          <a:xfrm>
            <a:off x="11876749" y="2866331"/>
            <a:ext cx="1208584" cy="536873"/>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Free mãi</a:t>
            </a:r>
            <a:endParaRPr lang="en-US" sz="1425" dirty="0"/>
          </a:p>
        </p:txBody>
      </p:sp>
      <p:sp>
        <p:nvSpPr>
          <p:cNvPr id="37" name="Shape 35"/>
          <p:cNvSpPr/>
          <p:nvPr/>
        </p:nvSpPr>
        <p:spPr>
          <a:xfrm>
            <a:off x="13172117" y="2780606"/>
            <a:ext cx="2095500" cy="680806"/>
          </a:xfrm>
          <a:prstGeom prst="rect">
            <a:avLst/>
          </a:prstGeom>
          <a:solidFill>
            <a:srgbClr val="F7F9F8"/>
          </a:solidFill>
          <a:ln/>
        </p:spPr>
      </p:sp>
      <p:sp>
        <p:nvSpPr>
          <p:cNvPr id="38" name="Shape 36"/>
          <p:cNvSpPr/>
          <p:nvPr/>
        </p:nvSpPr>
        <p:spPr>
          <a:xfrm>
            <a:off x="13172117" y="3450828"/>
            <a:ext cx="2095500" cy="10583"/>
          </a:xfrm>
          <a:prstGeom prst="rect">
            <a:avLst/>
          </a:prstGeom>
          <a:solidFill>
            <a:srgbClr val="E2E7E5"/>
          </a:solidFill>
          <a:ln/>
        </p:spPr>
      </p:sp>
      <p:sp>
        <p:nvSpPr>
          <p:cNvPr id="39" name="Shape 37"/>
          <p:cNvSpPr/>
          <p:nvPr/>
        </p:nvSpPr>
        <p:spPr>
          <a:xfrm>
            <a:off x="15257034" y="2780606"/>
            <a:ext cx="10583" cy="680806"/>
          </a:xfrm>
          <a:prstGeom prst="rect">
            <a:avLst/>
          </a:prstGeom>
          <a:solidFill>
            <a:srgbClr val="E2E7E5"/>
          </a:solidFill>
          <a:ln/>
        </p:spPr>
      </p:sp>
      <p:sp>
        <p:nvSpPr>
          <p:cNvPr id="40" name="Text 38"/>
          <p:cNvSpPr/>
          <p:nvPr/>
        </p:nvSpPr>
        <p:spPr>
          <a:xfrm>
            <a:off x="13248317" y="2866331"/>
            <a:ext cx="1856317" cy="536873"/>
          </a:xfrm>
          <a:prstGeom prst="rect">
            <a:avLst/>
          </a:prstGeom>
          <a:noFill/>
          <a:ln/>
        </p:spPr>
        <p:txBody>
          <a:bodyPr wrap="square" lIns="25400" tIns="25400" rIns="25400" bIns="25400" rtlCol="0" anchor="ctr">
            <a:normAutofit/>
          </a:bodyPr>
          <a:lstStyle/>
          <a:p>
            <a:pPr algn="r" indent="0" marL="0">
              <a:lnSpc>
                <a:spcPct val="140000"/>
              </a:lnSpc>
              <a:buNone/>
            </a:pPr>
            <a:r>
              <a:rPr lang="en-US" sz="1425" b="1" dirty="0">
                <a:solidFill>
                  <a:srgbClr val="008F55"/>
                </a:solidFill>
                <a:latin typeface="Arial" pitchFamily="34" charset="0"/>
                <a:ea typeface="Arial" pitchFamily="34" charset="-122"/>
                <a:cs typeface="Arial" pitchFamily="34" charset="-120"/>
              </a:rPr>
              <a:t>Free</a:t>
            </a:r>
            <a:endParaRPr lang="en-US" sz="1425" dirty="0"/>
          </a:p>
        </p:txBody>
      </p:sp>
      <p:sp>
        <p:nvSpPr>
          <p:cNvPr id="41" name="Shape 39"/>
          <p:cNvSpPr/>
          <p:nvPr/>
        </p:nvSpPr>
        <p:spPr>
          <a:xfrm>
            <a:off x="15267617" y="2780606"/>
            <a:ext cx="1866801" cy="680806"/>
          </a:xfrm>
          <a:prstGeom prst="rect">
            <a:avLst/>
          </a:prstGeom>
          <a:solidFill>
            <a:srgbClr val="E6F8EF"/>
          </a:solidFill>
          <a:ln/>
        </p:spPr>
      </p:sp>
      <p:sp>
        <p:nvSpPr>
          <p:cNvPr id="42" name="Shape 40"/>
          <p:cNvSpPr/>
          <p:nvPr/>
        </p:nvSpPr>
        <p:spPr>
          <a:xfrm>
            <a:off x="15267617" y="3450828"/>
            <a:ext cx="1866801" cy="10583"/>
          </a:xfrm>
          <a:prstGeom prst="rect">
            <a:avLst/>
          </a:prstGeom>
          <a:solidFill>
            <a:srgbClr val="E2E7E5"/>
          </a:solidFill>
          <a:ln/>
        </p:spPr>
      </p:sp>
      <p:sp>
        <p:nvSpPr>
          <p:cNvPr id="43" name="Text 41"/>
          <p:cNvSpPr/>
          <p:nvPr/>
        </p:nvSpPr>
        <p:spPr>
          <a:xfrm>
            <a:off x="15343817" y="2866331"/>
            <a:ext cx="1638201" cy="536873"/>
          </a:xfrm>
          <a:prstGeom prst="rect">
            <a:avLst/>
          </a:prstGeom>
          <a:noFill/>
          <a:ln/>
        </p:spPr>
        <p:txBody>
          <a:bodyPr wrap="square" lIns="25400" tIns="25400" rIns="25400" bIns="25400" rtlCol="0" anchor="ctr">
            <a:normAutofit/>
          </a:bodyPr>
          <a:lstStyle/>
          <a:p>
            <a:pPr algn="r" indent="0" marL="0">
              <a:lnSpc>
                <a:spcPct val="140000"/>
              </a:lnSpc>
              <a:buNone/>
            </a:pPr>
            <a:r>
              <a:rPr lang="en-US" sz="1425" b="1" dirty="0">
                <a:solidFill>
                  <a:srgbClr val="008F55"/>
                </a:solidFill>
                <a:latin typeface="Arial" pitchFamily="34" charset="0"/>
                <a:ea typeface="Arial" pitchFamily="34" charset="-122"/>
                <a:cs typeface="Arial" pitchFamily="34" charset="-120"/>
              </a:rPr>
              <a:t>Free</a:t>
            </a:r>
            <a:endParaRPr lang="en-US" sz="1425" dirty="0"/>
          </a:p>
        </p:txBody>
      </p:sp>
      <p:sp>
        <p:nvSpPr>
          <p:cNvPr id="44" name="Shape 42"/>
          <p:cNvSpPr/>
          <p:nvPr/>
        </p:nvSpPr>
        <p:spPr>
          <a:xfrm>
            <a:off x="1153583" y="4139076"/>
            <a:ext cx="2457318" cy="10583"/>
          </a:xfrm>
          <a:prstGeom prst="rect">
            <a:avLst/>
          </a:prstGeom>
          <a:solidFill>
            <a:srgbClr val="E2E7E5"/>
          </a:solidFill>
          <a:ln/>
        </p:spPr>
      </p:sp>
      <p:sp>
        <p:nvSpPr>
          <p:cNvPr id="45" name="Shape 43"/>
          <p:cNvSpPr/>
          <p:nvPr/>
        </p:nvSpPr>
        <p:spPr>
          <a:xfrm>
            <a:off x="3600318" y="3461412"/>
            <a:ext cx="10583" cy="688247"/>
          </a:xfrm>
          <a:prstGeom prst="rect">
            <a:avLst/>
          </a:prstGeom>
          <a:solidFill>
            <a:srgbClr val="E2E7E5"/>
          </a:solidFill>
          <a:ln/>
        </p:spPr>
      </p:sp>
      <p:sp>
        <p:nvSpPr>
          <p:cNvPr id="46" name="Text 44"/>
          <p:cNvSpPr/>
          <p:nvPr/>
        </p:nvSpPr>
        <p:spPr>
          <a:xfrm>
            <a:off x="1305884" y="3550709"/>
            <a:ext cx="2218333" cy="304668"/>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 kern="0" dirty="0">
                <a:solidFill>
                  <a:srgbClr val="0F1311"/>
                </a:solidFill>
                <a:latin typeface="Arial" pitchFamily="34" charset="0"/>
                <a:ea typeface="Arial" pitchFamily="34" charset="-122"/>
                <a:cs typeface="Arial" pitchFamily="34" charset="-120"/>
              </a:rPr>
              <a:t>M1 — Bank Sync</a:t>
            </a:r>
            <a:endParaRPr lang="en-US" sz="1500" dirty="0"/>
          </a:p>
        </p:txBody>
      </p:sp>
      <p:sp>
        <p:nvSpPr>
          <p:cNvPr id="47" name="Text 45"/>
          <p:cNvSpPr/>
          <p:nvPr/>
        </p:nvSpPr>
        <p:spPr>
          <a:xfrm>
            <a:off x="1305884" y="3836293"/>
            <a:ext cx="2218333" cy="251420"/>
          </a:xfrm>
          <a:prstGeom prst="rect">
            <a:avLst/>
          </a:prstGeom>
          <a:noFill/>
          <a:ln/>
        </p:spPr>
        <p:txBody>
          <a:bodyPr wrap="square" lIns="25400" tIns="25400" rIns="25400" bIns="25400" rtlCol="0" anchor="t">
            <a:normAutofit/>
          </a:bodyPr>
          <a:lstStyle/>
          <a:p>
            <a:pPr algn="l" indent="0" marL="0">
              <a:lnSpc>
                <a:spcPct val="140000"/>
              </a:lnSpc>
              <a:buNone/>
            </a:pPr>
            <a:r>
              <a:rPr lang="en-US" sz="1200" spc="72" kern="0" dirty="0">
                <a:solidFill>
                  <a:srgbClr val="6B7771"/>
                </a:solidFill>
                <a:latin typeface="Courier New" pitchFamily="34" charset="0"/>
                <a:ea typeface="Courier New" pitchFamily="34" charset="-122"/>
                <a:cs typeface="Courier New" pitchFamily="34" charset="-120"/>
              </a:rPr>
              <a:t>MODULE LẺ</a:t>
            </a:r>
            <a:endParaRPr lang="en-US" sz="1200" dirty="0"/>
          </a:p>
        </p:txBody>
      </p:sp>
      <p:sp>
        <p:nvSpPr>
          <p:cNvPr id="48" name="Shape 46"/>
          <p:cNvSpPr/>
          <p:nvPr/>
        </p:nvSpPr>
        <p:spPr>
          <a:xfrm>
            <a:off x="3610901" y="4139076"/>
            <a:ext cx="8113448" cy="10583"/>
          </a:xfrm>
          <a:prstGeom prst="rect">
            <a:avLst/>
          </a:prstGeom>
          <a:solidFill>
            <a:srgbClr val="E2E7E5"/>
          </a:solidFill>
          <a:ln/>
        </p:spPr>
      </p:sp>
      <p:sp>
        <p:nvSpPr>
          <p:cNvPr id="49" name="Shape 47"/>
          <p:cNvSpPr/>
          <p:nvPr/>
        </p:nvSpPr>
        <p:spPr>
          <a:xfrm>
            <a:off x="11713766" y="3461412"/>
            <a:ext cx="10583" cy="688247"/>
          </a:xfrm>
          <a:prstGeom prst="rect">
            <a:avLst/>
          </a:prstGeom>
          <a:solidFill>
            <a:srgbClr val="E2E7E5"/>
          </a:solidFill>
          <a:ln/>
        </p:spPr>
      </p:sp>
      <p:sp>
        <p:nvSpPr>
          <p:cNvPr id="50" name="Text 48"/>
          <p:cNvSpPr/>
          <p:nvPr/>
        </p:nvSpPr>
        <p:spPr>
          <a:xfrm>
            <a:off x="3763301" y="3547137"/>
            <a:ext cx="8041468"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Pull sao kê 30ph · MB / VietinBank / OCB +10 NH · API access</a:t>
            </a:r>
            <a:endParaRPr lang="en-US" sz="1425" dirty="0"/>
          </a:p>
        </p:txBody>
      </p:sp>
      <p:sp>
        <p:nvSpPr>
          <p:cNvPr id="51" name="Shape 49"/>
          <p:cNvSpPr/>
          <p:nvPr/>
        </p:nvSpPr>
        <p:spPr>
          <a:xfrm>
            <a:off x="11724349" y="4139076"/>
            <a:ext cx="1447767" cy="10583"/>
          </a:xfrm>
          <a:prstGeom prst="rect">
            <a:avLst/>
          </a:prstGeom>
          <a:solidFill>
            <a:srgbClr val="E2E7E5"/>
          </a:solidFill>
          <a:ln/>
        </p:spPr>
      </p:sp>
      <p:sp>
        <p:nvSpPr>
          <p:cNvPr id="52" name="Shape 50"/>
          <p:cNvSpPr/>
          <p:nvPr/>
        </p:nvSpPr>
        <p:spPr>
          <a:xfrm>
            <a:off x="13161533" y="3461412"/>
            <a:ext cx="10583" cy="688247"/>
          </a:xfrm>
          <a:prstGeom prst="rect">
            <a:avLst/>
          </a:prstGeom>
          <a:solidFill>
            <a:srgbClr val="E2E7E5"/>
          </a:solidFill>
          <a:ln/>
        </p:spPr>
      </p:sp>
      <p:sp>
        <p:nvSpPr>
          <p:cNvPr id="53" name="Text 51"/>
          <p:cNvSpPr/>
          <p:nvPr/>
        </p:nvSpPr>
        <p:spPr>
          <a:xfrm>
            <a:off x="11876749" y="3547137"/>
            <a:ext cx="1208584"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Per-key annual</a:t>
            </a:r>
            <a:endParaRPr lang="en-US" sz="1425" dirty="0"/>
          </a:p>
        </p:txBody>
      </p:sp>
      <p:sp>
        <p:nvSpPr>
          <p:cNvPr id="54" name="Shape 52"/>
          <p:cNvSpPr/>
          <p:nvPr/>
        </p:nvSpPr>
        <p:spPr>
          <a:xfrm>
            <a:off x="13172117" y="4139076"/>
            <a:ext cx="2095500" cy="10583"/>
          </a:xfrm>
          <a:prstGeom prst="rect">
            <a:avLst/>
          </a:prstGeom>
          <a:solidFill>
            <a:srgbClr val="E2E7E5"/>
          </a:solidFill>
          <a:ln/>
        </p:spPr>
      </p:sp>
      <p:sp>
        <p:nvSpPr>
          <p:cNvPr id="55" name="Shape 53"/>
          <p:cNvSpPr/>
          <p:nvPr/>
        </p:nvSpPr>
        <p:spPr>
          <a:xfrm>
            <a:off x="15257034" y="3461412"/>
            <a:ext cx="10583" cy="688247"/>
          </a:xfrm>
          <a:prstGeom prst="rect">
            <a:avLst/>
          </a:prstGeom>
          <a:solidFill>
            <a:srgbClr val="E2E7E5"/>
          </a:solidFill>
          <a:ln/>
        </p:spPr>
      </p:sp>
      <p:sp>
        <p:nvSpPr>
          <p:cNvPr id="56" name="Text 54"/>
          <p:cNvSpPr/>
          <p:nvPr/>
        </p:nvSpPr>
        <p:spPr>
          <a:xfrm>
            <a:off x="14109568" y="3564103"/>
            <a:ext cx="1071365" cy="270933"/>
          </a:xfrm>
          <a:prstGeom prst="rect">
            <a:avLst/>
          </a:prstGeom>
          <a:noFill/>
          <a:ln/>
        </p:spPr>
        <p:txBody>
          <a:bodyPr wrap="square" lIns="0" tIns="0" rIns="0" bIns="0" rtlCol="0" anchor="t">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990K–9,9M</a:t>
            </a:r>
            <a:endParaRPr lang="en-US" sz="1425" dirty="0"/>
          </a:p>
        </p:txBody>
      </p:sp>
      <p:sp>
        <p:nvSpPr>
          <p:cNvPr id="57" name="Text 55"/>
          <p:cNvSpPr/>
          <p:nvPr/>
        </p:nvSpPr>
        <p:spPr>
          <a:xfrm>
            <a:off x="13248217" y="3836293"/>
            <a:ext cx="1856515" cy="238026"/>
          </a:xfrm>
          <a:prstGeom prst="rect">
            <a:avLst/>
          </a:prstGeom>
          <a:noFill/>
          <a:ln/>
        </p:spPr>
        <p:txBody>
          <a:bodyPr wrap="square" lIns="25400" tIns="25400" rIns="25400" bIns="25400" rtlCol="0" anchor="t">
            <a:normAutofit/>
          </a:bodyPr>
          <a:lstStyle/>
          <a:p>
            <a:pPr algn="r" indent="0" marL="0">
              <a:lnSpc>
                <a:spcPct val="140000"/>
              </a:lnSpc>
              <a:buNone/>
            </a:pPr>
            <a:r>
              <a:rPr lang="en-US" sz="1125" dirty="0">
                <a:solidFill>
                  <a:srgbClr val="6B7771"/>
                </a:solidFill>
                <a:latin typeface="Courier New" pitchFamily="34" charset="0"/>
                <a:ea typeface="Courier New" pitchFamily="34" charset="-122"/>
                <a:cs typeface="Courier New" pitchFamily="34" charset="-120"/>
              </a:rPr>
              <a:t>~1.000đ / sự kiện</a:t>
            </a:r>
            <a:endParaRPr lang="en-US" sz="1125" dirty="0"/>
          </a:p>
        </p:txBody>
      </p:sp>
      <p:sp>
        <p:nvSpPr>
          <p:cNvPr id="58" name="Shape 56"/>
          <p:cNvSpPr/>
          <p:nvPr/>
        </p:nvSpPr>
        <p:spPr>
          <a:xfrm>
            <a:off x="15267617" y="3461412"/>
            <a:ext cx="1866801" cy="688247"/>
          </a:xfrm>
          <a:prstGeom prst="rect">
            <a:avLst/>
          </a:prstGeom>
          <a:solidFill>
            <a:srgbClr val="E6F8EF"/>
          </a:solidFill>
          <a:ln/>
        </p:spPr>
      </p:sp>
      <p:sp>
        <p:nvSpPr>
          <p:cNvPr id="59" name="Shape 57"/>
          <p:cNvSpPr/>
          <p:nvPr/>
        </p:nvSpPr>
        <p:spPr>
          <a:xfrm>
            <a:off x="15267617" y="4139076"/>
            <a:ext cx="1866801" cy="10583"/>
          </a:xfrm>
          <a:prstGeom prst="rect">
            <a:avLst/>
          </a:prstGeom>
          <a:solidFill>
            <a:srgbClr val="E2E7E5"/>
          </a:solidFill>
          <a:ln/>
        </p:spPr>
      </p:sp>
      <p:sp>
        <p:nvSpPr>
          <p:cNvPr id="60" name="Text 58"/>
          <p:cNvSpPr/>
          <p:nvPr/>
        </p:nvSpPr>
        <p:spPr>
          <a:xfrm>
            <a:off x="15343817" y="3547137"/>
            <a:ext cx="1638201" cy="544314"/>
          </a:xfrm>
          <a:prstGeom prst="rect">
            <a:avLst/>
          </a:prstGeom>
          <a:noFill/>
          <a:ln/>
        </p:spPr>
        <p:txBody>
          <a:bodyPr wrap="square" lIns="25400" tIns="25400" rIns="25400" bIns="25400" rtlCol="0" anchor="ctr">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693K–6,93M</a:t>
            </a:r>
            <a:endParaRPr lang="en-US" sz="1425" dirty="0"/>
          </a:p>
        </p:txBody>
      </p:sp>
      <p:sp>
        <p:nvSpPr>
          <p:cNvPr id="61" name="Shape 59"/>
          <p:cNvSpPr/>
          <p:nvPr/>
        </p:nvSpPr>
        <p:spPr>
          <a:xfrm>
            <a:off x="1153583" y="4827323"/>
            <a:ext cx="2457318" cy="10583"/>
          </a:xfrm>
          <a:prstGeom prst="rect">
            <a:avLst/>
          </a:prstGeom>
          <a:solidFill>
            <a:srgbClr val="E2E7E5"/>
          </a:solidFill>
          <a:ln/>
        </p:spPr>
      </p:sp>
      <p:sp>
        <p:nvSpPr>
          <p:cNvPr id="62" name="Shape 60"/>
          <p:cNvSpPr/>
          <p:nvPr/>
        </p:nvSpPr>
        <p:spPr>
          <a:xfrm>
            <a:off x="3600318" y="4149659"/>
            <a:ext cx="10583" cy="688247"/>
          </a:xfrm>
          <a:prstGeom prst="rect">
            <a:avLst/>
          </a:prstGeom>
          <a:solidFill>
            <a:srgbClr val="E2E7E5"/>
          </a:solidFill>
          <a:ln/>
        </p:spPr>
      </p:sp>
      <p:sp>
        <p:nvSpPr>
          <p:cNvPr id="63" name="Text 61"/>
          <p:cNvSpPr/>
          <p:nvPr/>
        </p:nvSpPr>
        <p:spPr>
          <a:xfrm>
            <a:off x="1305884" y="4238956"/>
            <a:ext cx="2218333" cy="304668"/>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 kern="0" dirty="0">
                <a:solidFill>
                  <a:srgbClr val="0F1311"/>
                </a:solidFill>
                <a:latin typeface="Arial" pitchFamily="34" charset="0"/>
                <a:ea typeface="Arial" pitchFamily="34" charset="-122"/>
                <a:cs typeface="Arial" pitchFamily="34" charset="-120"/>
              </a:rPr>
              <a:t>M2 — GDT Connector</a:t>
            </a:r>
            <a:endParaRPr lang="en-US" sz="1500" dirty="0"/>
          </a:p>
        </p:txBody>
      </p:sp>
      <p:sp>
        <p:nvSpPr>
          <p:cNvPr id="64" name="Text 62"/>
          <p:cNvSpPr/>
          <p:nvPr/>
        </p:nvSpPr>
        <p:spPr>
          <a:xfrm>
            <a:off x="1305884" y="4524541"/>
            <a:ext cx="2218333" cy="251420"/>
          </a:xfrm>
          <a:prstGeom prst="rect">
            <a:avLst/>
          </a:prstGeom>
          <a:noFill/>
          <a:ln/>
        </p:spPr>
        <p:txBody>
          <a:bodyPr wrap="square" lIns="25400" tIns="25400" rIns="25400" bIns="25400" rtlCol="0" anchor="t">
            <a:normAutofit/>
          </a:bodyPr>
          <a:lstStyle/>
          <a:p>
            <a:pPr algn="l" indent="0" marL="0">
              <a:lnSpc>
                <a:spcPct val="140000"/>
              </a:lnSpc>
              <a:buNone/>
            </a:pPr>
            <a:r>
              <a:rPr lang="en-US" sz="1200" spc="72" kern="0" dirty="0">
                <a:solidFill>
                  <a:srgbClr val="6B7771"/>
                </a:solidFill>
                <a:latin typeface="Courier New" pitchFamily="34" charset="0"/>
                <a:ea typeface="Courier New" pitchFamily="34" charset="-122"/>
                <a:cs typeface="Courier New" pitchFamily="34" charset="-120"/>
              </a:rPr>
              <a:t>MODULE LẺ</a:t>
            </a:r>
            <a:endParaRPr lang="en-US" sz="1200" dirty="0"/>
          </a:p>
        </p:txBody>
      </p:sp>
      <p:sp>
        <p:nvSpPr>
          <p:cNvPr id="65" name="Shape 63"/>
          <p:cNvSpPr/>
          <p:nvPr/>
        </p:nvSpPr>
        <p:spPr>
          <a:xfrm>
            <a:off x="3610901" y="4827323"/>
            <a:ext cx="8113448" cy="10583"/>
          </a:xfrm>
          <a:prstGeom prst="rect">
            <a:avLst/>
          </a:prstGeom>
          <a:solidFill>
            <a:srgbClr val="E2E7E5"/>
          </a:solidFill>
          <a:ln/>
        </p:spPr>
      </p:sp>
      <p:sp>
        <p:nvSpPr>
          <p:cNvPr id="66" name="Shape 64"/>
          <p:cNvSpPr/>
          <p:nvPr/>
        </p:nvSpPr>
        <p:spPr>
          <a:xfrm>
            <a:off x="11713766" y="4149659"/>
            <a:ext cx="10583" cy="688247"/>
          </a:xfrm>
          <a:prstGeom prst="rect">
            <a:avLst/>
          </a:prstGeom>
          <a:solidFill>
            <a:srgbClr val="E2E7E5"/>
          </a:solidFill>
          <a:ln/>
        </p:spPr>
      </p:sp>
      <p:sp>
        <p:nvSpPr>
          <p:cNvPr id="67" name="Text 65"/>
          <p:cNvSpPr/>
          <p:nvPr/>
        </p:nvSpPr>
        <p:spPr>
          <a:xfrm>
            <a:off x="3763301" y="4235384"/>
            <a:ext cx="8041468"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Auto-match Vendor Bill · Cảnh báo sót HĐ · 1K–20K HĐ/năm</a:t>
            </a:r>
            <a:endParaRPr lang="en-US" sz="1425" dirty="0"/>
          </a:p>
        </p:txBody>
      </p:sp>
      <p:sp>
        <p:nvSpPr>
          <p:cNvPr id="68" name="Shape 66"/>
          <p:cNvSpPr/>
          <p:nvPr/>
        </p:nvSpPr>
        <p:spPr>
          <a:xfrm>
            <a:off x="11724349" y="4827323"/>
            <a:ext cx="1447767" cy="10583"/>
          </a:xfrm>
          <a:prstGeom prst="rect">
            <a:avLst/>
          </a:prstGeom>
          <a:solidFill>
            <a:srgbClr val="E2E7E5"/>
          </a:solidFill>
          <a:ln/>
        </p:spPr>
      </p:sp>
      <p:sp>
        <p:nvSpPr>
          <p:cNvPr id="69" name="Shape 67"/>
          <p:cNvSpPr/>
          <p:nvPr/>
        </p:nvSpPr>
        <p:spPr>
          <a:xfrm>
            <a:off x="13161533" y="4149659"/>
            <a:ext cx="10583" cy="688247"/>
          </a:xfrm>
          <a:prstGeom prst="rect">
            <a:avLst/>
          </a:prstGeom>
          <a:solidFill>
            <a:srgbClr val="E2E7E5"/>
          </a:solidFill>
          <a:ln/>
        </p:spPr>
      </p:sp>
      <p:sp>
        <p:nvSpPr>
          <p:cNvPr id="70" name="Text 68"/>
          <p:cNvSpPr/>
          <p:nvPr/>
        </p:nvSpPr>
        <p:spPr>
          <a:xfrm>
            <a:off x="11876749" y="4235384"/>
            <a:ext cx="1208584"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Per-key annual</a:t>
            </a:r>
            <a:endParaRPr lang="en-US" sz="1425" dirty="0"/>
          </a:p>
        </p:txBody>
      </p:sp>
      <p:sp>
        <p:nvSpPr>
          <p:cNvPr id="71" name="Shape 69"/>
          <p:cNvSpPr/>
          <p:nvPr/>
        </p:nvSpPr>
        <p:spPr>
          <a:xfrm>
            <a:off x="13172117" y="4827323"/>
            <a:ext cx="2095500" cy="10583"/>
          </a:xfrm>
          <a:prstGeom prst="rect">
            <a:avLst/>
          </a:prstGeom>
          <a:solidFill>
            <a:srgbClr val="E2E7E5"/>
          </a:solidFill>
          <a:ln/>
        </p:spPr>
      </p:sp>
      <p:sp>
        <p:nvSpPr>
          <p:cNvPr id="72" name="Shape 70"/>
          <p:cNvSpPr/>
          <p:nvPr/>
        </p:nvSpPr>
        <p:spPr>
          <a:xfrm>
            <a:off x="15257034" y="4149659"/>
            <a:ext cx="10583" cy="688247"/>
          </a:xfrm>
          <a:prstGeom prst="rect">
            <a:avLst/>
          </a:prstGeom>
          <a:solidFill>
            <a:srgbClr val="E2E7E5"/>
          </a:solidFill>
          <a:ln/>
        </p:spPr>
      </p:sp>
      <p:sp>
        <p:nvSpPr>
          <p:cNvPr id="73" name="Text 71"/>
          <p:cNvSpPr/>
          <p:nvPr/>
        </p:nvSpPr>
        <p:spPr>
          <a:xfrm>
            <a:off x="14000923" y="4252350"/>
            <a:ext cx="1180009" cy="270933"/>
          </a:xfrm>
          <a:prstGeom prst="rect">
            <a:avLst/>
          </a:prstGeom>
          <a:noFill/>
          <a:ln/>
        </p:spPr>
        <p:txBody>
          <a:bodyPr wrap="square" lIns="0" tIns="0" rIns="0" bIns="0" rtlCol="0" anchor="t">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690K–7,49M</a:t>
            </a:r>
            <a:endParaRPr lang="en-US" sz="1425" dirty="0"/>
          </a:p>
        </p:txBody>
      </p:sp>
      <p:sp>
        <p:nvSpPr>
          <p:cNvPr id="74" name="Text 72"/>
          <p:cNvSpPr/>
          <p:nvPr/>
        </p:nvSpPr>
        <p:spPr>
          <a:xfrm>
            <a:off x="13248217" y="4524541"/>
            <a:ext cx="1856515" cy="238026"/>
          </a:xfrm>
          <a:prstGeom prst="rect">
            <a:avLst/>
          </a:prstGeom>
          <a:noFill/>
          <a:ln/>
        </p:spPr>
        <p:txBody>
          <a:bodyPr wrap="square" lIns="25400" tIns="25400" rIns="25400" bIns="25400" rtlCol="0" anchor="t">
            <a:normAutofit/>
          </a:bodyPr>
          <a:lstStyle/>
          <a:p>
            <a:pPr algn="r" indent="0" marL="0">
              <a:lnSpc>
                <a:spcPct val="140000"/>
              </a:lnSpc>
              <a:buNone/>
            </a:pPr>
            <a:r>
              <a:rPr lang="en-US" sz="1125" dirty="0">
                <a:solidFill>
                  <a:srgbClr val="6B7771"/>
                </a:solidFill>
                <a:latin typeface="Courier New" pitchFamily="34" charset="0"/>
                <a:ea typeface="Courier New" pitchFamily="34" charset="-122"/>
                <a:cs typeface="Courier New" pitchFamily="34" charset="-120"/>
              </a:rPr>
              <a:t>~1.000đ / sự kiện</a:t>
            </a:r>
            <a:endParaRPr lang="en-US" sz="1125" dirty="0"/>
          </a:p>
        </p:txBody>
      </p:sp>
      <p:sp>
        <p:nvSpPr>
          <p:cNvPr id="75" name="Shape 73"/>
          <p:cNvSpPr/>
          <p:nvPr/>
        </p:nvSpPr>
        <p:spPr>
          <a:xfrm>
            <a:off x="15267617" y="4149659"/>
            <a:ext cx="1866801" cy="688247"/>
          </a:xfrm>
          <a:prstGeom prst="rect">
            <a:avLst/>
          </a:prstGeom>
          <a:solidFill>
            <a:srgbClr val="E6F8EF"/>
          </a:solidFill>
          <a:ln/>
        </p:spPr>
      </p:sp>
      <p:sp>
        <p:nvSpPr>
          <p:cNvPr id="76" name="Shape 74"/>
          <p:cNvSpPr/>
          <p:nvPr/>
        </p:nvSpPr>
        <p:spPr>
          <a:xfrm>
            <a:off x="15267617" y="4827323"/>
            <a:ext cx="1866801" cy="10583"/>
          </a:xfrm>
          <a:prstGeom prst="rect">
            <a:avLst/>
          </a:prstGeom>
          <a:solidFill>
            <a:srgbClr val="E2E7E5"/>
          </a:solidFill>
          <a:ln/>
        </p:spPr>
      </p:sp>
      <p:sp>
        <p:nvSpPr>
          <p:cNvPr id="77" name="Text 75"/>
          <p:cNvSpPr/>
          <p:nvPr/>
        </p:nvSpPr>
        <p:spPr>
          <a:xfrm>
            <a:off x="15343817" y="4235384"/>
            <a:ext cx="1638201" cy="544314"/>
          </a:xfrm>
          <a:prstGeom prst="rect">
            <a:avLst/>
          </a:prstGeom>
          <a:noFill/>
          <a:ln/>
        </p:spPr>
        <p:txBody>
          <a:bodyPr wrap="square" lIns="25400" tIns="25400" rIns="25400" bIns="25400" rtlCol="0" anchor="ctr">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483K–5,24M</a:t>
            </a:r>
            <a:endParaRPr lang="en-US" sz="1425" dirty="0"/>
          </a:p>
        </p:txBody>
      </p:sp>
      <p:sp>
        <p:nvSpPr>
          <p:cNvPr id="78" name="Shape 76"/>
          <p:cNvSpPr/>
          <p:nvPr/>
        </p:nvSpPr>
        <p:spPr>
          <a:xfrm>
            <a:off x="1153583" y="5515571"/>
            <a:ext cx="2457318" cy="10583"/>
          </a:xfrm>
          <a:prstGeom prst="rect">
            <a:avLst/>
          </a:prstGeom>
          <a:solidFill>
            <a:srgbClr val="E2E7E5"/>
          </a:solidFill>
          <a:ln/>
        </p:spPr>
      </p:sp>
      <p:sp>
        <p:nvSpPr>
          <p:cNvPr id="79" name="Shape 77"/>
          <p:cNvSpPr/>
          <p:nvPr/>
        </p:nvSpPr>
        <p:spPr>
          <a:xfrm>
            <a:off x="3600318" y="4837906"/>
            <a:ext cx="10583" cy="688247"/>
          </a:xfrm>
          <a:prstGeom prst="rect">
            <a:avLst/>
          </a:prstGeom>
          <a:solidFill>
            <a:srgbClr val="E2E7E5"/>
          </a:solidFill>
          <a:ln/>
        </p:spPr>
      </p:sp>
      <p:sp>
        <p:nvSpPr>
          <p:cNvPr id="80" name="Text 78"/>
          <p:cNvSpPr/>
          <p:nvPr/>
        </p:nvSpPr>
        <p:spPr>
          <a:xfrm>
            <a:off x="1305884" y="4927203"/>
            <a:ext cx="2218333" cy="304668"/>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 kern="0" dirty="0">
                <a:solidFill>
                  <a:srgbClr val="0F1311"/>
                </a:solidFill>
                <a:latin typeface="Arial" pitchFamily="34" charset="0"/>
                <a:ea typeface="Arial" pitchFamily="34" charset="-122"/>
                <a:cs typeface="Arial" pitchFamily="34" charset="-120"/>
              </a:rPr>
              <a:t>M3 — Payout</a:t>
            </a:r>
            <a:endParaRPr lang="en-US" sz="1500" dirty="0"/>
          </a:p>
        </p:txBody>
      </p:sp>
      <p:sp>
        <p:nvSpPr>
          <p:cNvPr id="81" name="Text 79"/>
          <p:cNvSpPr/>
          <p:nvPr/>
        </p:nvSpPr>
        <p:spPr>
          <a:xfrm>
            <a:off x="1305884" y="5212788"/>
            <a:ext cx="2218333" cy="251420"/>
          </a:xfrm>
          <a:prstGeom prst="rect">
            <a:avLst/>
          </a:prstGeom>
          <a:noFill/>
          <a:ln/>
        </p:spPr>
        <p:txBody>
          <a:bodyPr wrap="square" lIns="25400" tIns="25400" rIns="25400" bIns="25400" rtlCol="0" anchor="t">
            <a:normAutofit/>
          </a:bodyPr>
          <a:lstStyle/>
          <a:p>
            <a:pPr algn="l" indent="0" marL="0">
              <a:lnSpc>
                <a:spcPct val="140000"/>
              </a:lnSpc>
              <a:buNone/>
            </a:pPr>
            <a:r>
              <a:rPr lang="en-US" sz="1200" spc="72" kern="0" dirty="0">
                <a:solidFill>
                  <a:srgbClr val="6B7771"/>
                </a:solidFill>
                <a:latin typeface="Courier New" pitchFamily="34" charset="0"/>
                <a:ea typeface="Courier New" pitchFamily="34" charset="-122"/>
                <a:cs typeface="Courier New" pitchFamily="34" charset="-120"/>
              </a:rPr>
              <a:t>MODULE LẺ</a:t>
            </a:r>
            <a:endParaRPr lang="en-US" sz="1200" dirty="0"/>
          </a:p>
        </p:txBody>
      </p:sp>
      <p:sp>
        <p:nvSpPr>
          <p:cNvPr id="82" name="Shape 80"/>
          <p:cNvSpPr/>
          <p:nvPr/>
        </p:nvSpPr>
        <p:spPr>
          <a:xfrm>
            <a:off x="3610901" y="5515571"/>
            <a:ext cx="8113448" cy="10583"/>
          </a:xfrm>
          <a:prstGeom prst="rect">
            <a:avLst/>
          </a:prstGeom>
          <a:solidFill>
            <a:srgbClr val="E2E7E5"/>
          </a:solidFill>
          <a:ln/>
        </p:spPr>
      </p:sp>
      <p:sp>
        <p:nvSpPr>
          <p:cNvPr id="83" name="Shape 81"/>
          <p:cNvSpPr/>
          <p:nvPr/>
        </p:nvSpPr>
        <p:spPr>
          <a:xfrm>
            <a:off x="11713766" y="4837906"/>
            <a:ext cx="10583" cy="688247"/>
          </a:xfrm>
          <a:prstGeom prst="rect">
            <a:avLst/>
          </a:prstGeom>
          <a:solidFill>
            <a:srgbClr val="E2E7E5"/>
          </a:solidFill>
          <a:ln/>
        </p:spPr>
      </p:sp>
      <p:sp>
        <p:nvSpPr>
          <p:cNvPr id="84" name="Text 82"/>
          <p:cNvSpPr/>
          <p:nvPr/>
        </p:nvSpPr>
        <p:spPr>
          <a:xfrm>
            <a:off x="3763301" y="4923631"/>
            <a:ext cx="8041468"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Approval workflow · Bulk payment · 600–12K lệnh/năm</a:t>
            </a:r>
            <a:endParaRPr lang="en-US" sz="1425" dirty="0"/>
          </a:p>
        </p:txBody>
      </p:sp>
      <p:sp>
        <p:nvSpPr>
          <p:cNvPr id="85" name="Shape 83"/>
          <p:cNvSpPr/>
          <p:nvPr/>
        </p:nvSpPr>
        <p:spPr>
          <a:xfrm>
            <a:off x="11724349" y="5515571"/>
            <a:ext cx="1447767" cy="10583"/>
          </a:xfrm>
          <a:prstGeom prst="rect">
            <a:avLst/>
          </a:prstGeom>
          <a:solidFill>
            <a:srgbClr val="E2E7E5"/>
          </a:solidFill>
          <a:ln/>
        </p:spPr>
      </p:sp>
      <p:sp>
        <p:nvSpPr>
          <p:cNvPr id="86" name="Shape 84"/>
          <p:cNvSpPr/>
          <p:nvPr/>
        </p:nvSpPr>
        <p:spPr>
          <a:xfrm>
            <a:off x="13161533" y="4837906"/>
            <a:ext cx="10583" cy="688247"/>
          </a:xfrm>
          <a:prstGeom prst="rect">
            <a:avLst/>
          </a:prstGeom>
          <a:solidFill>
            <a:srgbClr val="E2E7E5"/>
          </a:solidFill>
          <a:ln/>
        </p:spPr>
      </p:sp>
      <p:sp>
        <p:nvSpPr>
          <p:cNvPr id="87" name="Text 85"/>
          <p:cNvSpPr/>
          <p:nvPr/>
        </p:nvSpPr>
        <p:spPr>
          <a:xfrm>
            <a:off x="11876749" y="4923631"/>
            <a:ext cx="1208584"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Per-key annual</a:t>
            </a:r>
            <a:endParaRPr lang="en-US" sz="1425" dirty="0"/>
          </a:p>
        </p:txBody>
      </p:sp>
      <p:sp>
        <p:nvSpPr>
          <p:cNvPr id="88" name="Shape 86"/>
          <p:cNvSpPr/>
          <p:nvPr/>
        </p:nvSpPr>
        <p:spPr>
          <a:xfrm>
            <a:off x="13172117" y="5515571"/>
            <a:ext cx="2095500" cy="10583"/>
          </a:xfrm>
          <a:prstGeom prst="rect">
            <a:avLst/>
          </a:prstGeom>
          <a:solidFill>
            <a:srgbClr val="E2E7E5"/>
          </a:solidFill>
          <a:ln/>
        </p:spPr>
      </p:sp>
      <p:sp>
        <p:nvSpPr>
          <p:cNvPr id="89" name="Shape 87"/>
          <p:cNvSpPr/>
          <p:nvPr/>
        </p:nvSpPr>
        <p:spPr>
          <a:xfrm>
            <a:off x="15257034" y="4837906"/>
            <a:ext cx="10583" cy="688247"/>
          </a:xfrm>
          <a:prstGeom prst="rect">
            <a:avLst/>
          </a:prstGeom>
          <a:solidFill>
            <a:srgbClr val="E2E7E5"/>
          </a:solidFill>
          <a:ln/>
        </p:spPr>
      </p:sp>
      <p:sp>
        <p:nvSpPr>
          <p:cNvPr id="90" name="Text 88"/>
          <p:cNvSpPr/>
          <p:nvPr/>
        </p:nvSpPr>
        <p:spPr>
          <a:xfrm>
            <a:off x="14000923" y="4940598"/>
            <a:ext cx="1180009" cy="270933"/>
          </a:xfrm>
          <a:prstGeom prst="rect">
            <a:avLst/>
          </a:prstGeom>
          <a:noFill/>
          <a:ln/>
        </p:spPr>
        <p:txBody>
          <a:bodyPr wrap="square" lIns="0" tIns="0" rIns="0" bIns="0" rtlCol="0" anchor="t">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890K–9,99M</a:t>
            </a:r>
            <a:endParaRPr lang="en-US" sz="1425" dirty="0"/>
          </a:p>
        </p:txBody>
      </p:sp>
      <p:sp>
        <p:nvSpPr>
          <p:cNvPr id="91" name="Text 89"/>
          <p:cNvSpPr/>
          <p:nvPr/>
        </p:nvSpPr>
        <p:spPr>
          <a:xfrm>
            <a:off x="13248217" y="5212788"/>
            <a:ext cx="1856515" cy="238026"/>
          </a:xfrm>
          <a:prstGeom prst="rect">
            <a:avLst/>
          </a:prstGeom>
          <a:noFill/>
          <a:ln/>
        </p:spPr>
        <p:txBody>
          <a:bodyPr wrap="square" lIns="25400" tIns="25400" rIns="25400" bIns="25400" rtlCol="0" anchor="t">
            <a:normAutofit/>
          </a:bodyPr>
          <a:lstStyle/>
          <a:p>
            <a:pPr algn="r" indent="0" marL="0">
              <a:lnSpc>
                <a:spcPct val="140000"/>
              </a:lnSpc>
              <a:buNone/>
            </a:pPr>
            <a:r>
              <a:rPr lang="en-US" sz="1125" dirty="0">
                <a:solidFill>
                  <a:srgbClr val="6B7771"/>
                </a:solidFill>
                <a:latin typeface="Courier New" pitchFamily="34" charset="0"/>
                <a:ea typeface="Courier New" pitchFamily="34" charset="-122"/>
                <a:cs typeface="Courier New" pitchFamily="34" charset="-120"/>
              </a:rPr>
              <a:t>~1.000đ / sự kiện</a:t>
            </a:r>
            <a:endParaRPr lang="en-US" sz="1125" dirty="0"/>
          </a:p>
        </p:txBody>
      </p:sp>
      <p:sp>
        <p:nvSpPr>
          <p:cNvPr id="92" name="Shape 90"/>
          <p:cNvSpPr/>
          <p:nvPr/>
        </p:nvSpPr>
        <p:spPr>
          <a:xfrm>
            <a:off x="15267617" y="4837906"/>
            <a:ext cx="1866801" cy="688247"/>
          </a:xfrm>
          <a:prstGeom prst="rect">
            <a:avLst/>
          </a:prstGeom>
          <a:solidFill>
            <a:srgbClr val="E6F8EF"/>
          </a:solidFill>
          <a:ln/>
        </p:spPr>
      </p:sp>
      <p:sp>
        <p:nvSpPr>
          <p:cNvPr id="93" name="Shape 91"/>
          <p:cNvSpPr/>
          <p:nvPr/>
        </p:nvSpPr>
        <p:spPr>
          <a:xfrm>
            <a:off x="15267617" y="5515571"/>
            <a:ext cx="1866801" cy="10583"/>
          </a:xfrm>
          <a:prstGeom prst="rect">
            <a:avLst/>
          </a:prstGeom>
          <a:solidFill>
            <a:srgbClr val="E2E7E5"/>
          </a:solidFill>
          <a:ln/>
        </p:spPr>
      </p:sp>
      <p:sp>
        <p:nvSpPr>
          <p:cNvPr id="94" name="Text 92"/>
          <p:cNvSpPr/>
          <p:nvPr/>
        </p:nvSpPr>
        <p:spPr>
          <a:xfrm>
            <a:off x="15343817" y="4923631"/>
            <a:ext cx="1638201" cy="544314"/>
          </a:xfrm>
          <a:prstGeom prst="rect">
            <a:avLst/>
          </a:prstGeom>
          <a:noFill/>
          <a:ln/>
        </p:spPr>
        <p:txBody>
          <a:bodyPr wrap="square" lIns="25400" tIns="25400" rIns="25400" bIns="25400" rtlCol="0" anchor="ctr">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623K–6,99M</a:t>
            </a:r>
            <a:endParaRPr lang="en-US" sz="1425" dirty="0"/>
          </a:p>
        </p:txBody>
      </p:sp>
      <p:sp>
        <p:nvSpPr>
          <p:cNvPr id="95" name="Shape 93"/>
          <p:cNvSpPr/>
          <p:nvPr/>
        </p:nvSpPr>
        <p:spPr>
          <a:xfrm>
            <a:off x="1153583" y="6203818"/>
            <a:ext cx="2457318" cy="10583"/>
          </a:xfrm>
          <a:prstGeom prst="rect">
            <a:avLst/>
          </a:prstGeom>
          <a:solidFill>
            <a:srgbClr val="E2E7E5"/>
          </a:solidFill>
          <a:ln/>
        </p:spPr>
      </p:sp>
      <p:sp>
        <p:nvSpPr>
          <p:cNvPr id="96" name="Shape 94"/>
          <p:cNvSpPr/>
          <p:nvPr/>
        </p:nvSpPr>
        <p:spPr>
          <a:xfrm>
            <a:off x="3600318" y="5526154"/>
            <a:ext cx="10583" cy="688247"/>
          </a:xfrm>
          <a:prstGeom prst="rect">
            <a:avLst/>
          </a:prstGeom>
          <a:solidFill>
            <a:srgbClr val="E2E7E5"/>
          </a:solidFill>
          <a:ln/>
        </p:spPr>
      </p:sp>
      <p:sp>
        <p:nvSpPr>
          <p:cNvPr id="97" name="Text 95"/>
          <p:cNvSpPr/>
          <p:nvPr/>
        </p:nvSpPr>
        <p:spPr>
          <a:xfrm>
            <a:off x="1305884" y="5615451"/>
            <a:ext cx="2218333" cy="304668"/>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 kern="0" dirty="0">
                <a:solidFill>
                  <a:srgbClr val="0F1311"/>
                </a:solidFill>
                <a:latin typeface="Arial" pitchFamily="34" charset="0"/>
                <a:ea typeface="Arial" pitchFamily="34" charset="-122"/>
                <a:cs typeface="Arial" pitchFamily="34" charset="-120"/>
              </a:rPr>
              <a:t>M4 — E-Invoice</a:t>
            </a:r>
            <a:endParaRPr lang="en-US" sz="1500" dirty="0"/>
          </a:p>
        </p:txBody>
      </p:sp>
      <p:sp>
        <p:nvSpPr>
          <p:cNvPr id="98" name="Text 96"/>
          <p:cNvSpPr/>
          <p:nvPr/>
        </p:nvSpPr>
        <p:spPr>
          <a:xfrm>
            <a:off x="1305884" y="5901035"/>
            <a:ext cx="2218333" cy="251420"/>
          </a:xfrm>
          <a:prstGeom prst="rect">
            <a:avLst/>
          </a:prstGeom>
          <a:noFill/>
          <a:ln/>
        </p:spPr>
        <p:txBody>
          <a:bodyPr wrap="square" lIns="25400" tIns="25400" rIns="25400" bIns="25400" rtlCol="0" anchor="t">
            <a:normAutofit/>
          </a:bodyPr>
          <a:lstStyle/>
          <a:p>
            <a:pPr algn="l" indent="0" marL="0">
              <a:lnSpc>
                <a:spcPct val="140000"/>
              </a:lnSpc>
              <a:buNone/>
            </a:pPr>
            <a:r>
              <a:rPr lang="en-US" sz="1200" spc="72" kern="0" dirty="0">
                <a:solidFill>
                  <a:srgbClr val="6B7771"/>
                </a:solidFill>
                <a:latin typeface="Courier New" pitchFamily="34" charset="0"/>
                <a:ea typeface="Courier New" pitchFamily="34" charset="-122"/>
                <a:cs typeface="Courier New" pitchFamily="34" charset="-120"/>
              </a:rPr>
              <a:t>MODULE LẺ</a:t>
            </a:r>
            <a:endParaRPr lang="en-US" sz="1200" dirty="0"/>
          </a:p>
        </p:txBody>
      </p:sp>
      <p:sp>
        <p:nvSpPr>
          <p:cNvPr id="99" name="Shape 97"/>
          <p:cNvSpPr/>
          <p:nvPr/>
        </p:nvSpPr>
        <p:spPr>
          <a:xfrm>
            <a:off x="3610901" y="6203818"/>
            <a:ext cx="8113448" cy="10583"/>
          </a:xfrm>
          <a:prstGeom prst="rect">
            <a:avLst/>
          </a:prstGeom>
          <a:solidFill>
            <a:srgbClr val="E2E7E5"/>
          </a:solidFill>
          <a:ln/>
        </p:spPr>
      </p:sp>
      <p:sp>
        <p:nvSpPr>
          <p:cNvPr id="100" name="Shape 98"/>
          <p:cNvSpPr/>
          <p:nvPr/>
        </p:nvSpPr>
        <p:spPr>
          <a:xfrm>
            <a:off x="11713766" y="5526154"/>
            <a:ext cx="10583" cy="688247"/>
          </a:xfrm>
          <a:prstGeom prst="rect">
            <a:avLst/>
          </a:prstGeom>
          <a:solidFill>
            <a:srgbClr val="E2E7E5"/>
          </a:solidFill>
          <a:ln/>
        </p:spPr>
      </p:sp>
      <p:sp>
        <p:nvSpPr>
          <p:cNvPr id="101" name="Text 99"/>
          <p:cNvSpPr/>
          <p:nvPr/>
        </p:nvSpPr>
        <p:spPr>
          <a:xfrm>
            <a:off x="3763301" y="5611879"/>
            <a:ext cx="8041468"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TVAN direct · HSM ký số (từ Pro) · 500–10K HĐ/năm all-in</a:t>
            </a:r>
            <a:endParaRPr lang="en-US" sz="1425" dirty="0"/>
          </a:p>
        </p:txBody>
      </p:sp>
      <p:sp>
        <p:nvSpPr>
          <p:cNvPr id="102" name="Shape 100"/>
          <p:cNvSpPr/>
          <p:nvPr/>
        </p:nvSpPr>
        <p:spPr>
          <a:xfrm>
            <a:off x="11724349" y="6203818"/>
            <a:ext cx="1447767" cy="10583"/>
          </a:xfrm>
          <a:prstGeom prst="rect">
            <a:avLst/>
          </a:prstGeom>
          <a:solidFill>
            <a:srgbClr val="E2E7E5"/>
          </a:solidFill>
          <a:ln/>
        </p:spPr>
      </p:sp>
      <p:sp>
        <p:nvSpPr>
          <p:cNvPr id="103" name="Shape 101"/>
          <p:cNvSpPr/>
          <p:nvPr/>
        </p:nvSpPr>
        <p:spPr>
          <a:xfrm>
            <a:off x="13161533" y="5526154"/>
            <a:ext cx="10583" cy="688247"/>
          </a:xfrm>
          <a:prstGeom prst="rect">
            <a:avLst/>
          </a:prstGeom>
          <a:solidFill>
            <a:srgbClr val="E2E7E5"/>
          </a:solidFill>
          <a:ln/>
        </p:spPr>
      </p:sp>
      <p:sp>
        <p:nvSpPr>
          <p:cNvPr id="104" name="Text 102"/>
          <p:cNvSpPr/>
          <p:nvPr/>
        </p:nvSpPr>
        <p:spPr>
          <a:xfrm>
            <a:off x="11876749" y="5611879"/>
            <a:ext cx="1208584"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Per-key annual</a:t>
            </a:r>
            <a:endParaRPr lang="en-US" sz="1425" dirty="0"/>
          </a:p>
        </p:txBody>
      </p:sp>
      <p:sp>
        <p:nvSpPr>
          <p:cNvPr id="105" name="Shape 103"/>
          <p:cNvSpPr/>
          <p:nvPr/>
        </p:nvSpPr>
        <p:spPr>
          <a:xfrm>
            <a:off x="13172117" y="6203818"/>
            <a:ext cx="2095500" cy="10583"/>
          </a:xfrm>
          <a:prstGeom prst="rect">
            <a:avLst/>
          </a:prstGeom>
          <a:solidFill>
            <a:srgbClr val="E2E7E5"/>
          </a:solidFill>
          <a:ln/>
        </p:spPr>
      </p:sp>
      <p:sp>
        <p:nvSpPr>
          <p:cNvPr id="106" name="Shape 104"/>
          <p:cNvSpPr/>
          <p:nvPr/>
        </p:nvSpPr>
        <p:spPr>
          <a:xfrm>
            <a:off x="15257034" y="5526154"/>
            <a:ext cx="10583" cy="688247"/>
          </a:xfrm>
          <a:prstGeom prst="rect">
            <a:avLst/>
          </a:prstGeom>
          <a:solidFill>
            <a:srgbClr val="E2E7E5"/>
          </a:solidFill>
          <a:ln/>
        </p:spPr>
      </p:sp>
      <p:sp>
        <p:nvSpPr>
          <p:cNvPr id="107" name="Text 105"/>
          <p:cNvSpPr/>
          <p:nvPr/>
        </p:nvSpPr>
        <p:spPr>
          <a:xfrm>
            <a:off x="14000923" y="5628845"/>
            <a:ext cx="1180009" cy="270933"/>
          </a:xfrm>
          <a:prstGeom prst="rect">
            <a:avLst/>
          </a:prstGeom>
          <a:noFill/>
          <a:ln/>
        </p:spPr>
        <p:txBody>
          <a:bodyPr wrap="square" lIns="0" tIns="0" rIns="0" bIns="0" rtlCol="0" anchor="t">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690K–4,99M</a:t>
            </a:r>
            <a:endParaRPr lang="en-US" sz="1425" dirty="0"/>
          </a:p>
        </p:txBody>
      </p:sp>
      <p:sp>
        <p:nvSpPr>
          <p:cNvPr id="108" name="Text 106"/>
          <p:cNvSpPr/>
          <p:nvPr/>
        </p:nvSpPr>
        <p:spPr>
          <a:xfrm>
            <a:off x="13248217" y="5901035"/>
            <a:ext cx="1856515" cy="238026"/>
          </a:xfrm>
          <a:prstGeom prst="rect">
            <a:avLst/>
          </a:prstGeom>
          <a:noFill/>
          <a:ln/>
        </p:spPr>
        <p:txBody>
          <a:bodyPr wrap="square" lIns="25400" tIns="25400" rIns="25400" bIns="25400" rtlCol="0" anchor="t">
            <a:normAutofit/>
          </a:bodyPr>
          <a:lstStyle/>
          <a:p>
            <a:pPr algn="r" indent="0" marL="0">
              <a:lnSpc>
                <a:spcPct val="140000"/>
              </a:lnSpc>
              <a:buNone/>
            </a:pPr>
            <a:r>
              <a:rPr lang="en-US" sz="1125" dirty="0">
                <a:solidFill>
                  <a:srgbClr val="6B7771"/>
                </a:solidFill>
                <a:latin typeface="Courier New" pitchFamily="34" charset="0"/>
                <a:ea typeface="Courier New" pitchFamily="34" charset="-122"/>
                <a:cs typeface="Courier New" pitchFamily="34" charset="-120"/>
              </a:rPr>
              <a:t>~1.000đ / sự kiện</a:t>
            </a:r>
            <a:endParaRPr lang="en-US" sz="1125" dirty="0"/>
          </a:p>
        </p:txBody>
      </p:sp>
      <p:sp>
        <p:nvSpPr>
          <p:cNvPr id="109" name="Shape 107"/>
          <p:cNvSpPr/>
          <p:nvPr/>
        </p:nvSpPr>
        <p:spPr>
          <a:xfrm>
            <a:off x="15267617" y="5526154"/>
            <a:ext cx="1866801" cy="688247"/>
          </a:xfrm>
          <a:prstGeom prst="rect">
            <a:avLst/>
          </a:prstGeom>
          <a:solidFill>
            <a:srgbClr val="E6F8EF"/>
          </a:solidFill>
          <a:ln/>
        </p:spPr>
      </p:sp>
      <p:sp>
        <p:nvSpPr>
          <p:cNvPr id="110" name="Shape 108"/>
          <p:cNvSpPr/>
          <p:nvPr/>
        </p:nvSpPr>
        <p:spPr>
          <a:xfrm>
            <a:off x="15267617" y="6203818"/>
            <a:ext cx="1866801" cy="10583"/>
          </a:xfrm>
          <a:prstGeom prst="rect">
            <a:avLst/>
          </a:prstGeom>
          <a:solidFill>
            <a:srgbClr val="E2E7E5"/>
          </a:solidFill>
          <a:ln/>
        </p:spPr>
      </p:sp>
      <p:sp>
        <p:nvSpPr>
          <p:cNvPr id="111" name="Text 109"/>
          <p:cNvSpPr/>
          <p:nvPr/>
        </p:nvSpPr>
        <p:spPr>
          <a:xfrm>
            <a:off x="15343817" y="5611879"/>
            <a:ext cx="1638201" cy="544314"/>
          </a:xfrm>
          <a:prstGeom prst="rect">
            <a:avLst/>
          </a:prstGeom>
          <a:noFill/>
          <a:ln/>
        </p:spPr>
        <p:txBody>
          <a:bodyPr wrap="square" lIns="25400" tIns="25400" rIns="25400" bIns="25400" rtlCol="0" anchor="ctr">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483K–3,49M</a:t>
            </a:r>
            <a:endParaRPr lang="en-US" sz="1425" dirty="0"/>
          </a:p>
        </p:txBody>
      </p:sp>
      <p:sp>
        <p:nvSpPr>
          <p:cNvPr id="112" name="Shape 110"/>
          <p:cNvSpPr/>
          <p:nvPr/>
        </p:nvSpPr>
        <p:spPr>
          <a:xfrm>
            <a:off x="1153583" y="6214401"/>
            <a:ext cx="2457318" cy="688247"/>
          </a:xfrm>
          <a:prstGeom prst="rect">
            <a:avLst/>
          </a:prstGeom>
          <a:solidFill>
            <a:srgbClr val="00B26A">
              <a:alpha val="4000"/>
            </a:srgbClr>
          </a:solidFill>
          <a:ln/>
        </p:spPr>
      </p:sp>
      <p:sp>
        <p:nvSpPr>
          <p:cNvPr id="113" name="Shape 111"/>
          <p:cNvSpPr/>
          <p:nvPr/>
        </p:nvSpPr>
        <p:spPr>
          <a:xfrm>
            <a:off x="1153583" y="6892066"/>
            <a:ext cx="2457318" cy="10583"/>
          </a:xfrm>
          <a:prstGeom prst="rect">
            <a:avLst/>
          </a:prstGeom>
          <a:solidFill>
            <a:srgbClr val="E2E7E5"/>
          </a:solidFill>
          <a:ln/>
        </p:spPr>
      </p:sp>
      <p:sp>
        <p:nvSpPr>
          <p:cNvPr id="114" name="Shape 112"/>
          <p:cNvSpPr/>
          <p:nvPr/>
        </p:nvSpPr>
        <p:spPr>
          <a:xfrm>
            <a:off x="3600318" y="6214401"/>
            <a:ext cx="10583" cy="688247"/>
          </a:xfrm>
          <a:prstGeom prst="rect">
            <a:avLst/>
          </a:prstGeom>
          <a:solidFill>
            <a:srgbClr val="E2E7E5"/>
          </a:solidFill>
          <a:ln/>
        </p:spPr>
      </p:sp>
      <p:sp>
        <p:nvSpPr>
          <p:cNvPr id="115" name="Text 113"/>
          <p:cNvSpPr/>
          <p:nvPr/>
        </p:nvSpPr>
        <p:spPr>
          <a:xfrm>
            <a:off x="1305884" y="6303698"/>
            <a:ext cx="2218333" cy="304668"/>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 kern="0" dirty="0">
                <a:solidFill>
                  <a:srgbClr val="006B40"/>
                </a:solidFill>
                <a:latin typeface="Arial" pitchFamily="34" charset="0"/>
                <a:ea typeface="Arial" pitchFamily="34" charset="-122"/>
                <a:cs typeface="Arial" pitchFamily="34" charset="-120"/>
              </a:rPr>
              <a:t>Bundle A — Sync ⭐</a:t>
            </a:r>
            <a:endParaRPr lang="en-US" sz="1500" dirty="0"/>
          </a:p>
        </p:txBody>
      </p:sp>
      <p:sp>
        <p:nvSpPr>
          <p:cNvPr id="116" name="Text 114"/>
          <p:cNvSpPr/>
          <p:nvPr/>
        </p:nvSpPr>
        <p:spPr>
          <a:xfrm>
            <a:off x="1305884" y="6589283"/>
            <a:ext cx="2218333" cy="251420"/>
          </a:xfrm>
          <a:prstGeom prst="rect">
            <a:avLst/>
          </a:prstGeom>
          <a:noFill/>
          <a:ln/>
        </p:spPr>
        <p:txBody>
          <a:bodyPr wrap="square" lIns="25400" tIns="25400" rIns="25400" bIns="25400" rtlCol="0" anchor="t">
            <a:normAutofit/>
          </a:bodyPr>
          <a:lstStyle/>
          <a:p>
            <a:pPr algn="l" indent="0" marL="0">
              <a:lnSpc>
                <a:spcPct val="140000"/>
              </a:lnSpc>
              <a:buNone/>
            </a:pPr>
            <a:r>
              <a:rPr lang="en-US" sz="1200" spc="72" kern="0" dirty="0">
                <a:solidFill>
                  <a:srgbClr val="6B7771"/>
                </a:solidFill>
                <a:latin typeface="Courier New" pitchFamily="34" charset="0"/>
                <a:ea typeface="Courier New" pitchFamily="34" charset="-122"/>
                <a:cs typeface="Courier New" pitchFamily="34" charset="-120"/>
              </a:rPr>
              <a:t>M1 + M2</a:t>
            </a:r>
            <a:endParaRPr lang="en-US" sz="1200" dirty="0"/>
          </a:p>
        </p:txBody>
      </p:sp>
      <p:sp>
        <p:nvSpPr>
          <p:cNvPr id="117" name="Shape 115"/>
          <p:cNvSpPr/>
          <p:nvPr/>
        </p:nvSpPr>
        <p:spPr>
          <a:xfrm>
            <a:off x="3610901" y="6214401"/>
            <a:ext cx="8113448" cy="688247"/>
          </a:xfrm>
          <a:prstGeom prst="rect">
            <a:avLst/>
          </a:prstGeom>
          <a:solidFill>
            <a:srgbClr val="00B26A">
              <a:alpha val="4000"/>
            </a:srgbClr>
          </a:solidFill>
          <a:ln/>
        </p:spPr>
      </p:sp>
      <p:sp>
        <p:nvSpPr>
          <p:cNvPr id="118" name="Shape 116"/>
          <p:cNvSpPr/>
          <p:nvPr/>
        </p:nvSpPr>
        <p:spPr>
          <a:xfrm>
            <a:off x="3610901" y="6892066"/>
            <a:ext cx="8113448" cy="10583"/>
          </a:xfrm>
          <a:prstGeom prst="rect">
            <a:avLst/>
          </a:prstGeom>
          <a:solidFill>
            <a:srgbClr val="E2E7E5"/>
          </a:solidFill>
          <a:ln/>
        </p:spPr>
      </p:sp>
      <p:sp>
        <p:nvSpPr>
          <p:cNvPr id="119" name="Shape 117"/>
          <p:cNvSpPr/>
          <p:nvPr/>
        </p:nvSpPr>
        <p:spPr>
          <a:xfrm>
            <a:off x="11713766" y="6214401"/>
            <a:ext cx="10583" cy="688247"/>
          </a:xfrm>
          <a:prstGeom prst="rect">
            <a:avLst/>
          </a:prstGeom>
          <a:solidFill>
            <a:srgbClr val="E2E7E5"/>
          </a:solidFill>
          <a:ln/>
        </p:spPr>
      </p:sp>
      <p:sp>
        <p:nvSpPr>
          <p:cNvPr id="120" name="Text 118"/>
          <p:cNvSpPr/>
          <p:nvPr/>
        </p:nvSpPr>
        <p:spPr>
          <a:xfrm>
            <a:off x="3763301" y="6300126"/>
            <a:ext cx="8041468"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Bank Sync + GDT Pull · Tiết kiệm 15–17% vs lẻ · Volume discount batch ≥5 · Sweet spot SME audit</a:t>
            </a:r>
            <a:endParaRPr lang="en-US" sz="1425" dirty="0"/>
          </a:p>
        </p:txBody>
      </p:sp>
      <p:sp>
        <p:nvSpPr>
          <p:cNvPr id="121" name="Shape 119"/>
          <p:cNvSpPr/>
          <p:nvPr/>
        </p:nvSpPr>
        <p:spPr>
          <a:xfrm>
            <a:off x="11724349" y="6214401"/>
            <a:ext cx="1447767" cy="688247"/>
          </a:xfrm>
          <a:prstGeom prst="rect">
            <a:avLst/>
          </a:prstGeom>
          <a:solidFill>
            <a:srgbClr val="00B26A">
              <a:alpha val="4000"/>
            </a:srgbClr>
          </a:solidFill>
          <a:ln/>
        </p:spPr>
      </p:sp>
      <p:sp>
        <p:nvSpPr>
          <p:cNvPr id="122" name="Shape 120"/>
          <p:cNvSpPr/>
          <p:nvPr/>
        </p:nvSpPr>
        <p:spPr>
          <a:xfrm>
            <a:off x="11724349" y="6892066"/>
            <a:ext cx="1447767" cy="10583"/>
          </a:xfrm>
          <a:prstGeom prst="rect">
            <a:avLst/>
          </a:prstGeom>
          <a:solidFill>
            <a:srgbClr val="E2E7E5"/>
          </a:solidFill>
          <a:ln/>
        </p:spPr>
      </p:sp>
      <p:sp>
        <p:nvSpPr>
          <p:cNvPr id="123" name="Shape 121"/>
          <p:cNvSpPr/>
          <p:nvPr/>
        </p:nvSpPr>
        <p:spPr>
          <a:xfrm>
            <a:off x="13161533" y="6214401"/>
            <a:ext cx="10583" cy="688247"/>
          </a:xfrm>
          <a:prstGeom prst="rect">
            <a:avLst/>
          </a:prstGeom>
          <a:solidFill>
            <a:srgbClr val="E2E7E5"/>
          </a:solidFill>
          <a:ln/>
        </p:spPr>
      </p:sp>
      <p:sp>
        <p:nvSpPr>
          <p:cNvPr id="124" name="Text 122"/>
          <p:cNvSpPr/>
          <p:nvPr/>
        </p:nvSpPr>
        <p:spPr>
          <a:xfrm>
            <a:off x="11876749" y="6300126"/>
            <a:ext cx="1208584"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Per-key annual</a:t>
            </a:r>
            <a:endParaRPr lang="en-US" sz="1425" dirty="0"/>
          </a:p>
        </p:txBody>
      </p:sp>
      <p:sp>
        <p:nvSpPr>
          <p:cNvPr id="125" name="Shape 123"/>
          <p:cNvSpPr/>
          <p:nvPr/>
        </p:nvSpPr>
        <p:spPr>
          <a:xfrm>
            <a:off x="13172117" y="6214401"/>
            <a:ext cx="2095500" cy="688247"/>
          </a:xfrm>
          <a:prstGeom prst="rect">
            <a:avLst/>
          </a:prstGeom>
          <a:solidFill>
            <a:srgbClr val="00B26A">
              <a:alpha val="4000"/>
            </a:srgbClr>
          </a:solidFill>
          <a:ln/>
        </p:spPr>
      </p:sp>
      <p:sp>
        <p:nvSpPr>
          <p:cNvPr id="126" name="Shape 124"/>
          <p:cNvSpPr/>
          <p:nvPr/>
        </p:nvSpPr>
        <p:spPr>
          <a:xfrm>
            <a:off x="13172117" y="6892066"/>
            <a:ext cx="2095500" cy="10583"/>
          </a:xfrm>
          <a:prstGeom prst="rect">
            <a:avLst/>
          </a:prstGeom>
          <a:solidFill>
            <a:srgbClr val="E2E7E5"/>
          </a:solidFill>
          <a:ln/>
        </p:spPr>
      </p:sp>
      <p:sp>
        <p:nvSpPr>
          <p:cNvPr id="127" name="Shape 125"/>
          <p:cNvSpPr/>
          <p:nvPr/>
        </p:nvSpPr>
        <p:spPr>
          <a:xfrm>
            <a:off x="15257034" y="6214401"/>
            <a:ext cx="10583" cy="688247"/>
          </a:xfrm>
          <a:prstGeom prst="rect">
            <a:avLst/>
          </a:prstGeom>
          <a:solidFill>
            <a:srgbClr val="E2E7E5"/>
          </a:solidFill>
          <a:ln/>
        </p:spPr>
      </p:sp>
      <p:sp>
        <p:nvSpPr>
          <p:cNvPr id="128" name="Text 126"/>
          <p:cNvSpPr/>
          <p:nvPr/>
        </p:nvSpPr>
        <p:spPr>
          <a:xfrm>
            <a:off x="13904847" y="6317093"/>
            <a:ext cx="1276086" cy="270933"/>
          </a:xfrm>
          <a:prstGeom prst="rect">
            <a:avLst/>
          </a:prstGeom>
          <a:noFill/>
          <a:ln/>
        </p:spPr>
        <p:txBody>
          <a:bodyPr wrap="square" lIns="0" tIns="0" rIns="0" bIns="0" rtlCol="0" anchor="t">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1,39M–14,5M</a:t>
            </a:r>
            <a:endParaRPr lang="en-US" sz="1425" dirty="0"/>
          </a:p>
        </p:txBody>
      </p:sp>
      <p:sp>
        <p:nvSpPr>
          <p:cNvPr id="129" name="Text 127"/>
          <p:cNvSpPr/>
          <p:nvPr/>
        </p:nvSpPr>
        <p:spPr>
          <a:xfrm>
            <a:off x="13248217" y="6589283"/>
            <a:ext cx="1856515" cy="238026"/>
          </a:xfrm>
          <a:prstGeom prst="rect">
            <a:avLst/>
          </a:prstGeom>
          <a:noFill/>
          <a:ln/>
        </p:spPr>
        <p:txBody>
          <a:bodyPr wrap="square" lIns="25400" tIns="25400" rIns="25400" bIns="25400" rtlCol="0" anchor="t">
            <a:normAutofit/>
          </a:bodyPr>
          <a:lstStyle/>
          <a:p>
            <a:pPr algn="r" indent="0" marL="0">
              <a:lnSpc>
                <a:spcPct val="140000"/>
              </a:lnSpc>
              <a:buNone/>
            </a:pPr>
            <a:r>
              <a:rPr lang="en-US" sz="1125" dirty="0">
                <a:solidFill>
                  <a:srgbClr val="6B7771"/>
                </a:solidFill>
                <a:latin typeface="Courier New" pitchFamily="34" charset="0"/>
                <a:ea typeface="Courier New" pitchFamily="34" charset="-122"/>
                <a:cs typeface="Courier New" pitchFamily="34" charset="-120"/>
              </a:rPr>
              <a:t>2ksk–20ksk / năm</a:t>
            </a:r>
            <a:endParaRPr lang="en-US" sz="1125" dirty="0"/>
          </a:p>
        </p:txBody>
      </p:sp>
      <p:sp>
        <p:nvSpPr>
          <p:cNvPr id="130" name="Shape 128"/>
          <p:cNvSpPr/>
          <p:nvPr/>
        </p:nvSpPr>
        <p:spPr>
          <a:xfrm>
            <a:off x="15267617" y="6214401"/>
            <a:ext cx="1866801" cy="688247"/>
          </a:xfrm>
          <a:prstGeom prst="rect">
            <a:avLst/>
          </a:prstGeom>
          <a:solidFill>
            <a:srgbClr val="00B26A">
              <a:alpha val="4000"/>
            </a:srgbClr>
          </a:solidFill>
          <a:ln/>
        </p:spPr>
      </p:sp>
      <p:sp>
        <p:nvSpPr>
          <p:cNvPr id="131" name="Shape 129"/>
          <p:cNvSpPr/>
          <p:nvPr/>
        </p:nvSpPr>
        <p:spPr>
          <a:xfrm>
            <a:off x="15267617" y="6892066"/>
            <a:ext cx="1866801" cy="10583"/>
          </a:xfrm>
          <a:prstGeom prst="rect">
            <a:avLst/>
          </a:prstGeom>
          <a:solidFill>
            <a:srgbClr val="E2E7E5"/>
          </a:solidFill>
          <a:ln/>
        </p:spPr>
      </p:sp>
      <p:sp>
        <p:nvSpPr>
          <p:cNvPr id="132" name="Text 130"/>
          <p:cNvSpPr/>
          <p:nvPr/>
        </p:nvSpPr>
        <p:spPr>
          <a:xfrm>
            <a:off x="15343817" y="6300126"/>
            <a:ext cx="1638201" cy="544314"/>
          </a:xfrm>
          <a:prstGeom prst="rect">
            <a:avLst/>
          </a:prstGeom>
          <a:noFill/>
          <a:ln/>
        </p:spPr>
        <p:txBody>
          <a:bodyPr wrap="square" lIns="25400" tIns="25400" rIns="25400" bIns="25400" rtlCol="0" anchor="ctr">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973K–10,15M</a:t>
            </a:r>
            <a:endParaRPr lang="en-US" sz="1425" dirty="0"/>
          </a:p>
        </p:txBody>
      </p:sp>
      <p:sp>
        <p:nvSpPr>
          <p:cNvPr id="133" name="Shape 131"/>
          <p:cNvSpPr/>
          <p:nvPr/>
        </p:nvSpPr>
        <p:spPr>
          <a:xfrm>
            <a:off x="1153583" y="6902649"/>
            <a:ext cx="2457318" cy="688247"/>
          </a:xfrm>
          <a:prstGeom prst="rect">
            <a:avLst/>
          </a:prstGeom>
          <a:solidFill>
            <a:srgbClr val="00B26A">
              <a:alpha val="4000"/>
            </a:srgbClr>
          </a:solidFill>
          <a:ln/>
        </p:spPr>
      </p:sp>
      <p:sp>
        <p:nvSpPr>
          <p:cNvPr id="134" name="Shape 132"/>
          <p:cNvSpPr/>
          <p:nvPr/>
        </p:nvSpPr>
        <p:spPr>
          <a:xfrm>
            <a:off x="1153583" y="7580313"/>
            <a:ext cx="2457318" cy="10583"/>
          </a:xfrm>
          <a:prstGeom prst="rect">
            <a:avLst/>
          </a:prstGeom>
          <a:solidFill>
            <a:srgbClr val="E2E7E5"/>
          </a:solidFill>
          <a:ln/>
        </p:spPr>
      </p:sp>
      <p:sp>
        <p:nvSpPr>
          <p:cNvPr id="135" name="Shape 133"/>
          <p:cNvSpPr/>
          <p:nvPr/>
        </p:nvSpPr>
        <p:spPr>
          <a:xfrm>
            <a:off x="3600318" y="6902649"/>
            <a:ext cx="10583" cy="688247"/>
          </a:xfrm>
          <a:prstGeom prst="rect">
            <a:avLst/>
          </a:prstGeom>
          <a:solidFill>
            <a:srgbClr val="E2E7E5"/>
          </a:solidFill>
          <a:ln/>
        </p:spPr>
      </p:sp>
      <p:sp>
        <p:nvSpPr>
          <p:cNvPr id="136" name="Text 134"/>
          <p:cNvSpPr/>
          <p:nvPr/>
        </p:nvSpPr>
        <p:spPr>
          <a:xfrm>
            <a:off x="1305884" y="6991946"/>
            <a:ext cx="2218333" cy="304668"/>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 kern="0" dirty="0">
                <a:solidFill>
                  <a:srgbClr val="006B40"/>
                </a:solidFill>
                <a:latin typeface="Arial" pitchFamily="34" charset="0"/>
                <a:ea typeface="Arial" pitchFamily="34" charset="-122"/>
                <a:cs typeface="Arial" pitchFamily="34" charset="-120"/>
              </a:rPr>
              <a:t>Bundle B — Execute ⭐</a:t>
            </a:r>
            <a:endParaRPr lang="en-US" sz="1500" dirty="0"/>
          </a:p>
        </p:txBody>
      </p:sp>
      <p:sp>
        <p:nvSpPr>
          <p:cNvPr id="137" name="Text 135"/>
          <p:cNvSpPr/>
          <p:nvPr/>
        </p:nvSpPr>
        <p:spPr>
          <a:xfrm>
            <a:off x="1305884" y="7277530"/>
            <a:ext cx="2218333" cy="251420"/>
          </a:xfrm>
          <a:prstGeom prst="rect">
            <a:avLst/>
          </a:prstGeom>
          <a:noFill/>
          <a:ln/>
        </p:spPr>
        <p:txBody>
          <a:bodyPr wrap="square" lIns="25400" tIns="25400" rIns="25400" bIns="25400" rtlCol="0" anchor="t">
            <a:normAutofit/>
          </a:bodyPr>
          <a:lstStyle/>
          <a:p>
            <a:pPr algn="l" indent="0" marL="0">
              <a:lnSpc>
                <a:spcPct val="140000"/>
              </a:lnSpc>
              <a:buNone/>
            </a:pPr>
            <a:r>
              <a:rPr lang="en-US" sz="1200" spc="72" kern="0" dirty="0">
                <a:solidFill>
                  <a:srgbClr val="6B7771"/>
                </a:solidFill>
                <a:latin typeface="Courier New" pitchFamily="34" charset="0"/>
                <a:ea typeface="Courier New" pitchFamily="34" charset="-122"/>
                <a:cs typeface="Courier New" pitchFamily="34" charset="-120"/>
              </a:rPr>
              <a:t>M3 + M4</a:t>
            </a:r>
            <a:endParaRPr lang="en-US" sz="1200" dirty="0"/>
          </a:p>
        </p:txBody>
      </p:sp>
      <p:sp>
        <p:nvSpPr>
          <p:cNvPr id="138" name="Shape 136"/>
          <p:cNvSpPr/>
          <p:nvPr/>
        </p:nvSpPr>
        <p:spPr>
          <a:xfrm>
            <a:off x="3610901" y="6902649"/>
            <a:ext cx="8113448" cy="688247"/>
          </a:xfrm>
          <a:prstGeom prst="rect">
            <a:avLst/>
          </a:prstGeom>
          <a:solidFill>
            <a:srgbClr val="00B26A">
              <a:alpha val="4000"/>
            </a:srgbClr>
          </a:solidFill>
          <a:ln/>
        </p:spPr>
      </p:sp>
      <p:sp>
        <p:nvSpPr>
          <p:cNvPr id="139" name="Shape 137"/>
          <p:cNvSpPr/>
          <p:nvPr/>
        </p:nvSpPr>
        <p:spPr>
          <a:xfrm>
            <a:off x="3610901" y="7580313"/>
            <a:ext cx="8113448" cy="10583"/>
          </a:xfrm>
          <a:prstGeom prst="rect">
            <a:avLst/>
          </a:prstGeom>
          <a:solidFill>
            <a:srgbClr val="E2E7E5"/>
          </a:solidFill>
          <a:ln/>
        </p:spPr>
      </p:sp>
      <p:sp>
        <p:nvSpPr>
          <p:cNvPr id="140" name="Shape 138"/>
          <p:cNvSpPr/>
          <p:nvPr/>
        </p:nvSpPr>
        <p:spPr>
          <a:xfrm>
            <a:off x="11713766" y="6902649"/>
            <a:ext cx="10583" cy="688247"/>
          </a:xfrm>
          <a:prstGeom prst="rect">
            <a:avLst/>
          </a:prstGeom>
          <a:solidFill>
            <a:srgbClr val="E2E7E5"/>
          </a:solidFill>
          <a:ln/>
        </p:spPr>
      </p:sp>
      <p:sp>
        <p:nvSpPr>
          <p:cNvPr id="141" name="Text 139"/>
          <p:cNvSpPr/>
          <p:nvPr/>
        </p:nvSpPr>
        <p:spPr>
          <a:xfrm>
            <a:off x="3763301" y="6988374"/>
            <a:ext cx="8041468"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Payout + E-Invoice · Tiết kiệm 14–18% vs lẻ · Volume discount batch ≥5 · Compliance-ready</a:t>
            </a:r>
            <a:endParaRPr lang="en-US" sz="1425" dirty="0"/>
          </a:p>
        </p:txBody>
      </p:sp>
      <p:sp>
        <p:nvSpPr>
          <p:cNvPr id="142" name="Shape 140"/>
          <p:cNvSpPr/>
          <p:nvPr/>
        </p:nvSpPr>
        <p:spPr>
          <a:xfrm>
            <a:off x="11724349" y="6902649"/>
            <a:ext cx="1447767" cy="688247"/>
          </a:xfrm>
          <a:prstGeom prst="rect">
            <a:avLst/>
          </a:prstGeom>
          <a:solidFill>
            <a:srgbClr val="00B26A">
              <a:alpha val="4000"/>
            </a:srgbClr>
          </a:solidFill>
          <a:ln/>
        </p:spPr>
      </p:sp>
      <p:sp>
        <p:nvSpPr>
          <p:cNvPr id="143" name="Shape 141"/>
          <p:cNvSpPr/>
          <p:nvPr/>
        </p:nvSpPr>
        <p:spPr>
          <a:xfrm>
            <a:off x="11724349" y="7580313"/>
            <a:ext cx="1447767" cy="10583"/>
          </a:xfrm>
          <a:prstGeom prst="rect">
            <a:avLst/>
          </a:prstGeom>
          <a:solidFill>
            <a:srgbClr val="E2E7E5"/>
          </a:solidFill>
          <a:ln/>
        </p:spPr>
      </p:sp>
      <p:sp>
        <p:nvSpPr>
          <p:cNvPr id="144" name="Shape 142"/>
          <p:cNvSpPr/>
          <p:nvPr/>
        </p:nvSpPr>
        <p:spPr>
          <a:xfrm>
            <a:off x="13161533" y="6902649"/>
            <a:ext cx="10583" cy="688247"/>
          </a:xfrm>
          <a:prstGeom prst="rect">
            <a:avLst/>
          </a:prstGeom>
          <a:solidFill>
            <a:srgbClr val="E2E7E5"/>
          </a:solidFill>
          <a:ln/>
        </p:spPr>
      </p:sp>
      <p:sp>
        <p:nvSpPr>
          <p:cNvPr id="145" name="Text 143"/>
          <p:cNvSpPr/>
          <p:nvPr/>
        </p:nvSpPr>
        <p:spPr>
          <a:xfrm>
            <a:off x="11876749" y="6988374"/>
            <a:ext cx="1208584"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Per-key annual</a:t>
            </a:r>
            <a:endParaRPr lang="en-US" sz="1425" dirty="0"/>
          </a:p>
        </p:txBody>
      </p:sp>
      <p:sp>
        <p:nvSpPr>
          <p:cNvPr id="146" name="Shape 144"/>
          <p:cNvSpPr/>
          <p:nvPr/>
        </p:nvSpPr>
        <p:spPr>
          <a:xfrm>
            <a:off x="13172117" y="6902649"/>
            <a:ext cx="2095500" cy="688247"/>
          </a:xfrm>
          <a:prstGeom prst="rect">
            <a:avLst/>
          </a:prstGeom>
          <a:solidFill>
            <a:srgbClr val="00B26A">
              <a:alpha val="4000"/>
            </a:srgbClr>
          </a:solidFill>
          <a:ln/>
        </p:spPr>
      </p:sp>
      <p:sp>
        <p:nvSpPr>
          <p:cNvPr id="147" name="Shape 145"/>
          <p:cNvSpPr/>
          <p:nvPr/>
        </p:nvSpPr>
        <p:spPr>
          <a:xfrm>
            <a:off x="13172117" y="7580313"/>
            <a:ext cx="2095500" cy="10583"/>
          </a:xfrm>
          <a:prstGeom prst="rect">
            <a:avLst/>
          </a:prstGeom>
          <a:solidFill>
            <a:srgbClr val="E2E7E5"/>
          </a:solidFill>
          <a:ln/>
        </p:spPr>
      </p:sp>
      <p:sp>
        <p:nvSpPr>
          <p:cNvPr id="148" name="Shape 146"/>
          <p:cNvSpPr/>
          <p:nvPr/>
        </p:nvSpPr>
        <p:spPr>
          <a:xfrm>
            <a:off x="15257034" y="6902649"/>
            <a:ext cx="10583" cy="688247"/>
          </a:xfrm>
          <a:prstGeom prst="rect">
            <a:avLst/>
          </a:prstGeom>
          <a:solidFill>
            <a:srgbClr val="E2E7E5"/>
          </a:solidFill>
          <a:ln/>
        </p:spPr>
      </p:sp>
      <p:sp>
        <p:nvSpPr>
          <p:cNvPr id="149" name="Text 147"/>
          <p:cNvSpPr/>
          <p:nvPr/>
        </p:nvSpPr>
        <p:spPr>
          <a:xfrm>
            <a:off x="13904847" y="7005340"/>
            <a:ext cx="1276086" cy="270933"/>
          </a:xfrm>
          <a:prstGeom prst="rect">
            <a:avLst/>
          </a:prstGeom>
          <a:noFill/>
          <a:ln/>
        </p:spPr>
        <p:txBody>
          <a:bodyPr wrap="square" lIns="0" tIns="0" rIns="0" bIns="0" rtlCol="0" anchor="t">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1,29M–12,9M</a:t>
            </a:r>
            <a:endParaRPr lang="en-US" sz="1425" dirty="0"/>
          </a:p>
        </p:txBody>
      </p:sp>
      <p:sp>
        <p:nvSpPr>
          <p:cNvPr id="150" name="Text 148"/>
          <p:cNvSpPr/>
          <p:nvPr/>
        </p:nvSpPr>
        <p:spPr>
          <a:xfrm>
            <a:off x="13248217" y="7277530"/>
            <a:ext cx="1856515" cy="238026"/>
          </a:xfrm>
          <a:prstGeom prst="rect">
            <a:avLst/>
          </a:prstGeom>
          <a:noFill/>
          <a:ln/>
        </p:spPr>
        <p:txBody>
          <a:bodyPr wrap="square" lIns="25400" tIns="25400" rIns="25400" bIns="25400" rtlCol="0" anchor="t">
            <a:normAutofit/>
          </a:bodyPr>
          <a:lstStyle/>
          <a:p>
            <a:pPr algn="r" indent="0" marL="0">
              <a:lnSpc>
                <a:spcPct val="140000"/>
              </a:lnSpc>
              <a:buNone/>
            </a:pPr>
            <a:r>
              <a:rPr lang="en-US" sz="1125" dirty="0">
                <a:solidFill>
                  <a:srgbClr val="6B7771"/>
                </a:solidFill>
                <a:latin typeface="Courier New" pitchFamily="34" charset="0"/>
                <a:ea typeface="Courier New" pitchFamily="34" charset="-122"/>
                <a:cs typeface="Courier New" pitchFamily="34" charset="-120"/>
              </a:rPr>
              <a:t>2ksk–20ksk / năm</a:t>
            </a:r>
            <a:endParaRPr lang="en-US" sz="1125" dirty="0"/>
          </a:p>
        </p:txBody>
      </p:sp>
      <p:sp>
        <p:nvSpPr>
          <p:cNvPr id="151" name="Shape 149"/>
          <p:cNvSpPr/>
          <p:nvPr/>
        </p:nvSpPr>
        <p:spPr>
          <a:xfrm>
            <a:off x="15267617" y="6902649"/>
            <a:ext cx="1866801" cy="688247"/>
          </a:xfrm>
          <a:prstGeom prst="rect">
            <a:avLst/>
          </a:prstGeom>
          <a:solidFill>
            <a:srgbClr val="00B26A">
              <a:alpha val="4000"/>
            </a:srgbClr>
          </a:solidFill>
          <a:ln/>
        </p:spPr>
      </p:sp>
      <p:sp>
        <p:nvSpPr>
          <p:cNvPr id="152" name="Shape 150"/>
          <p:cNvSpPr/>
          <p:nvPr/>
        </p:nvSpPr>
        <p:spPr>
          <a:xfrm>
            <a:off x="15267617" y="7580313"/>
            <a:ext cx="1866801" cy="10583"/>
          </a:xfrm>
          <a:prstGeom prst="rect">
            <a:avLst/>
          </a:prstGeom>
          <a:solidFill>
            <a:srgbClr val="E2E7E5"/>
          </a:solidFill>
          <a:ln/>
        </p:spPr>
      </p:sp>
      <p:sp>
        <p:nvSpPr>
          <p:cNvPr id="153" name="Text 151"/>
          <p:cNvSpPr/>
          <p:nvPr/>
        </p:nvSpPr>
        <p:spPr>
          <a:xfrm>
            <a:off x="15343817" y="6988374"/>
            <a:ext cx="1638201" cy="544314"/>
          </a:xfrm>
          <a:prstGeom prst="rect">
            <a:avLst/>
          </a:prstGeom>
          <a:noFill/>
          <a:ln/>
        </p:spPr>
        <p:txBody>
          <a:bodyPr wrap="square" lIns="25400" tIns="25400" rIns="25400" bIns="25400" rtlCol="0" anchor="ctr">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903K–9,03M</a:t>
            </a:r>
            <a:endParaRPr lang="en-US" sz="1425" dirty="0"/>
          </a:p>
        </p:txBody>
      </p:sp>
      <p:sp>
        <p:nvSpPr>
          <p:cNvPr id="154" name="Shape 152"/>
          <p:cNvSpPr/>
          <p:nvPr/>
        </p:nvSpPr>
        <p:spPr>
          <a:xfrm>
            <a:off x="1153583" y="7590896"/>
            <a:ext cx="2457318" cy="688247"/>
          </a:xfrm>
          <a:prstGeom prst="rect">
            <a:avLst/>
          </a:prstGeom>
          <a:solidFill>
            <a:srgbClr val="001A12"/>
          </a:solidFill>
          <a:ln/>
        </p:spPr>
      </p:sp>
      <p:sp>
        <p:nvSpPr>
          <p:cNvPr id="155" name="Shape 153"/>
          <p:cNvSpPr/>
          <p:nvPr/>
        </p:nvSpPr>
        <p:spPr>
          <a:xfrm>
            <a:off x="1153583" y="8268560"/>
            <a:ext cx="2457318" cy="10583"/>
          </a:xfrm>
          <a:prstGeom prst="rect">
            <a:avLst/>
          </a:prstGeom>
          <a:solidFill>
            <a:srgbClr val="FFFFFF">
              <a:alpha val="8000"/>
            </a:srgbClr>
          </a:solidFill>
          <a:ln/>
        </p:spPr>
      </p:sp>
      <p:sp>
        <p:nvSpPr>
          <p:cNvPr id="156" name="Shape 154"/>
          <p:cNvSpPr/>
          <p:nvPr/>
        </p:nvSpPr>
        <p:spPr>
          <a:xfrm>
            <a:off x="3600318" y="7590896"/>
            <a:ext cx="10583" cy="688247"/>
          </a:xfrm>
          <a:prstGeom prst="rect">
            <a:avLst/>
          </a:prstGeom>
          <a:solidFill>
            <a:srgbClr val="FFFFFF">
              <a:alpha val="8000"/>
            </a:srgbClr>
          </a:solidFill>
          <a:ln/>
        </p:spPr>
      </p:sp>
      <p:sp>
        <p:nvSpPr>
          <p:cNvPr id="157" name="Text 155"/>
          <p:cNvSpPr/>
          <p:nvPr/>
        </p:nvSpPr>
        <p:spPr>
          <a:xfrm>
            <a:off x="1305884" y="7680193"/>
            <a:ext cx="2218333" cy="304668"/>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 kern="0" dirty="0">
                <a:solidFill>
                  <a:srgbClr val="FFFFFF"/>
                </a:solidFill>
                <a:latin typeface="Arial" pitchFamily="34" charset="0"/>
                <a:ea typeface="Arial" pitchFamily="34" charset="-122"/>
                <a:cs typeface="Arial" pitchFamily="34" charset="-120"/>
              </a:rPr>
              <a:t>Full Suite A+B</a:t>
            </a:r>
            <a:endParaRPr lang="en-US" sz="1500" dirty="0"/>
          </a:p>
        </p:txBody>
      </p:sp>
      <p:sp>
        <p:nvSpPr>
          <p:cNvPr id="158" name="Text 156"/>
          <p:cNvSpPr/>
          <p:nvPr/>
        </p:nvSpPr>
        <p:spPr>
          <a:xfrm>
            <a:off x="1305884" y="7965778"/>
            <a:ext cx="2218333" cy="251420"/>
          </a:xfrm>
          <a:prstGeom prst="rect">
            <a:avLst/>
          </a:prstGeom>
          <a:noFill/>
          <a:ln/>
        </p:spPr>
        <p:txBody>
          <a:bodyPr wrap="square" lIns="25400" tIns="25400" rIns="25400" bIns="25400" rtlCol="0" anchor="t">
            <a:normAutofit/>
          </a:bodyPr>
          <a:lstStyle/>
          <a:p>
            <a:pPr algn="l" indent="0" marL="0">
              <a:lnSpc>
                <a:spcPct val="140000"/>
              </a:lnSpc>
              <a:buNone/>
            </a:pPr>
            <a:r>
              <a:rPr lang="en-US" sz="1200" spc="72" kern="0" dirty="0">
                <a:solidFill>
                  <a:srgbClr val="66D59C"/>
                </a:solidFill>
                <a:latin typeface="Courier New" pitchFamily="34" charset="0"/>
                <a:ea typeface="Courier New" pitchFamily="34" charset="-122"/>
                <a:cs typeface="Courier New" pitchFamily="34" charset="-120"/>
              </a:rPr>
              <a:t>FLAGSHIP</a:t>
            </a:r>
            <a:endParaRPr lang="en-US" sz="1200" dirty="0"/>
          </a:p>
        </p:txBody>
      </p:sp>
      <p:sp>
        <p:nvSpPr>
          <p:cNvPr id="159" name="Shape 157"/>
          <p:cNvSpPr/>
          <p:nvPr/>
        </p:nvSpPr>
        <p:spPr>
          <a:xfrm>
            <a:off x="3610901" y="7590896"/>
            <a:ext cx="8113448" cy="688247"/>
          </a:xfrm>
          <a:prstGeom prst="rect">
            <a:avLst/>
          </a:prstGeom>
          <a:solidFill>
            <a:srgbClr val="001A12"/>
          </a:solidFill>
          <a:ln/>
        </p:spPr>
      </p:sp>
      <p:sp>
        <p:nvSpPr>
          <p:cNvPr id="160" name="Shape 158"/>
          <p:cNvSpPr/>
          <p:nvPr/>
        </p:nvSpPr>
        <p:spPr>
          <a:xfrm>
            <a:off x="3610901" y="8268560"/>
            <a:ext cx="8113448" cy="10583"/>
          </a:xfrm>
          <a:prstGeom prst="rect">
            <a:avLst/>
          </a:prstGeom>
          <a:solidFill>
            <a:srgbClr val="FFFFFF">
              <a:alpha val="8000"/>
            </a:srgbClr>
          </a:solidFill>
          <a:ln/>
        </p:spPr>
      </p:sp>
      <p:sp>
        <p:nvSpPr>
          <p:cNvPr id="161" name="Shape 159"/>
          <p:cNvSpPr/>
          <p:nvPr/>
        </p:nvSpPr>
        <p:spPr>
          <a:xfrm>
            <a:off x="11713766" y="7590896"/>
            <a:ext cx="10583" cy="688247"/>
          </a:xfrm>
          <a:prstGeom prst="rect">
            <a:avLst/>
          </a:prstGeom>
          <a:solidFill>
            <a:srgbClr val="FFFFFF">
              <a:alpha val="8000"/>
            </a:srgbClr>
          </a:solidFill>
          <a:ln/>
        </p:spPr>
      </p:sp>
      <p:sp>
        <p:nvSpPr>
          <p:cNvPr id="162" name="Text 160"/>
          <p:cNvSpPr/>
          <p:nvPr/>
        </p:nvSpPr>
        <p:spPr>
          <a:xfrm>
            <a:off x="3763301" y="7676621"/>
            <a:ext cx="8041468"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FFFFFF">
                    <a:alpha val="75000"/>
                  </a:srgbClr>
                </a:solidFill>
                <a:latin typeface="Arial" pitchFamily="34" charset="0"/>
                <a:ea typeface="Arial" pitchFamily="34" charset="-122"/>
                <a:cs typeface="Arial" pitchFamily="34" charset="-120"/>
              </a:rPr>
              <a:t>4 modules · Tiết kiệm 9–11% vs A+B · SLA + dedicated support · Audit Pack option</a:t>
            </a:r>
            <a:endParaRPr lang="en-US" sz="1425" dirty="0"/>
          </a:p>
        </p:txBody>
      </p:sp>
      <p:sp>
        <p:nvSpPr>
          <p:cNvPr id="163" name="Shape 161"/>
          <p:cNvSpPr/>
          <p:nvPr/>
        </p:nvSpPr>
        <p:spPr>
          <a:xfrm>
            <a:off x="11724349" y="7590896"/>
            <a:ext cx="1447767" cy="688247"/>
          </a:xfrm>
          <a:prstGeom prst="rect">
            <a:avLst/>
          </a:prstGeom>
          <a:solidFill>
            <a:srgbClr val="001A12"/>
          </a:solidFill>
          <a:ln/>
        </p:spPr>
      </p:sp>
      <p:sp>
        <p:nvSpPr>
          <p:cNvPr id="164" name="Shape 162"/>
          <p:cNvSpPr/>
          <p:nvPr/>
        </p:nvSpPr>
        <p:spPr>
          <a:xfrm>
            <a:off x="11724349" y="8268560"/>
            <a:ext cx="1447767" cy="10583"/>
          </a:xfrm>
          <a:prstGeom prst="rect">
            <a:avLst/>
          </a:prstGeom>
          <a:solidFill>
            <a:srgbClr val="FFFFFF">
              <a:alpha val="8000"/>
            </a:srgbClr>
          </a:solidFill>
          <a:ln/>
        </p:spPr>
      </p:sp>
      <p:sp>
        <p:nvSpPr>
          <p:cNvPr id="165" name="Shape 163"/>
          <p:cNvSpPr/>
          <p:nvPr/>
        </p:nvSpPr>
        <p:spPr>
          <a:xfrm>
            <a:off x="13161533" y="7590896"/>
            <a:ext cx="10583" cy="688247"/>
          </a:xfrm>
          <a:prstGeom prst="rect">
            <a:avLst/>
          </a:prstGeom>
          <a:solidFill>
            <a:srgbClr val="FFFFFF">
              <a:alpha val="8000"/>
            </a:srgbClr>
          </a:solidFill>
          <a:ln/>
        </p:spPr>
      </p:sp>
      <p:sp>
        <p:nvSpPr>
          <p:cNvPr id="166" name="Text 164"/>
          <p:cNvSpPr/>
          <p:nvPr/>
        </p:nvSpPr>
        <p:spPr>
          <a:xfrm>
            <a:off x="11876749" y="7676621"/>
            <a:ext cx="1208584"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FFFFFF">
                    <a:alpha val="75000"/>
                  </a:srgbClr>
                </a:solidFill>
                <a:latin typeface="Arial" pitchFamily="34" charset="0"/>
                <a:ea typeface="Arial" pitchFamily="34" charset="-122"/>
                <a:cs typeface="Arial" pitchFamily="34" charset="-120"/>
              </a:rPr>
              <a:t>Per-key · Custom ≥10</a:t>
            </a:r>
            <a:endParaRPr lang="en-US" sz="1425" dirty="0"/>
          </a:p>
        </p:txBody>
      </p:sp>
      <p:sp>
        <p:nvSpPr>
          <p:cNvPr id="167" name="Shape 165"/>
          <p:cNvSpPr/>
          <p:nvPr/>
        </p:nvSpPr>
        <p:spPr>
          <a:xfrm>
            <a:off x="13172117" y="7590896"/>
            <a:ext cx="2095500" cy="688247"/>
          </a:xfrm>
          <a:prstGeom prst="rect">
            <a:avLst/>
          </a:prstGeom>
          <a:solidFill>
            <a:srgbClr val="001A12"/>
          </a:solidFill>
          <a:ln/>
        </p:spPr>
      </p:sp>
      <p:sp>
        <p:nvSpPr>
          <p:cNvPr id="168" name="Shape 166"/>
          <p:cNvSpPr/>
          <p:nvPr/>
        </p:nvSpPr>
        <p:spPr>
          <a:xfrm>
            <a:off x="13172117" y="8268560"/>
            <a:ext cx="2095500" cy="10583"/>
          </a:xfrm>
          <a:prstGeom prst="rect">
            <a:avLst/>
          </a:prstGeom>
          <a:solidFill>
            <a:srgbClr val="FFFFFF">
              <a:alpha val="8000"/>
            </a:srgbClr>
          </a:solidFill>
          <a:ln/>
        </p:spPr>
      </p:sp>
      <p:sp>
        <p:nvSpPr>
          <p:cNvPr id="169" name="Shape 167"/>
          <p:cNvSpPr/>
          <p:nvPr/>
        </p:nvSpPr>
        <p:spPr>
          <a:xfrm>
            <a:off x="15257034" y="7590896"/>
            <a:ext cx="10583" cy="688247"/>
          </a:xfrm>
          <a:prstGeom prst="rect">
            <a:avLst/>
          </a:prstGeom>
          <a:solidFill>
            <a:srgbClr val="FFFFFF">
              <a:alpha val="8000"/>
            </a:srgbClr>
          </a:solidFill>
          <a:ln/>
        </p:spPr>
      </p:sp>
      <p:sp>
        <p:nvSpPr>
          <p:cNvPr id="170" name="Text 168"/>
          <p:cNvSpPr/>
          <p:nvPr/>
        </p:nvSpPr>
        <p:spPr>
          <a:xfrm>
            <a:off x="13904847" y="7693587"/>
            <a:ext cx="1276086" cy="270933"/>
          </a:xfrm>
          <a:prstGeom prst="rect">
            <a:avLst/>
          </a:prstGeom>
          <a:noFill/>
          <a:ln/>
        </p:spPr>
        <p:txBody>
          <a:bodyPr wrap="square" lIns="0" tIns="0" rIns="0" bIns="0" rtlCol="0" anchor="t">
            <a:normAutofit/>
          </a:bodyPr>
          <a:lstStyle/>
          <a:p>
            <a:pPr algn="r" indent="0" marL="0">
              <a:lnSpc>
                <a:spcPct val="140000"/>
              </a:lnSpc>
              <a:buNone/>
            </a:pPr>
            <a:r>
              <a:rPr lang="en-US" sz="1425" b="1" dirty="0">
                <a:solidFill>
                  <a:srgbClr val="FFFFFF"/>
                </a:solidFill>
                <a:latin typeface="Arial" pitchFamily="34" charset="0"/>
                <a:ea typeface="Arial" pitchFamily="34" charset="-122"/>
                <a:cs typeface="Arial" pitchFamily="34" charset="-120"/>
              </a:rPr>
              <a:t>2,39M–24,9M</a:t>
            </a:r>
            <a:endParaRPr lang="en-US" sz="1425" dirty="0"/>
          </a:p>
        </p:txBody>
      </p:sp>
      <p:sp>
        <p:nvSpPr>
          <p:cNvPr id="171" name="Text 169"/>
          <p:cNvSpPr/>
          <p:nvPr/>
        </p:nvSpPr>
        <p:spPr>
          <a:xfrm>
            <a:off x="13248217" y="7965778"/>
            <a:ext cx="1856515" cy="238026"/>
          </a:xfrm>
          <a:prstGeom prst="rect">
            <a:avLst/>
          </a:prstGeom>
          <a:noFill/>
          <a:ln/>
        </p:spPr>
        <p:txBody>
          <a:bodyPr wrap="square" lIns="25400" tIns="25400" rIns="25400" bIns="25400" rtlCol="0" anchor="t">
            <a:normAutofit/>
          </a:bodyPr>
          <a:lstStyle/>
          <a:p>
            <a:pPr algn="r" indent="0" marL="0">
              <a:lnSpc>
                <a:spcPct val="140000"/>
              </a:lnSpc>
              <a:buNone/>
            </a:pPr>
            <a:r>
              <a:rPr lang="en-US" sz="1125" dirty="0">
                <a:solidFill>
                  <a:srgbClr val="FFFFFF">
                    <a:alpha val="40000"/>
                  </a:srgbClr>
                </a:solidFill>
                <a:latin typeface="Courier New" pitchFamily="34" charset="0"/>
                <a:ea typeface="Courier New" pitchFamily="34" charset="-122"/>
                <a:cs typeface="Courier New" pitchFamily="34" charset="-120"/>
              </a:rPr>
              <a:t>4ksk–40ksk / năm</a:t>
            </a:r>
            <a:endParaRPr lang="en-US" sz="1125" dirty="0"/>
          </a:p>
        </p:txBody>
      </p:sp>
      <p:sp>
        <p:nvSpPr>
          <p:cNvPr id="172" name="Shape 170"/>
          <p:cNvSpPr/>
          <p:nvPr/>
        </p:nvSpPr>
        <p:spPr>
          <a:xfrm>
            <a:off x="15267617" y="7590896"/>
            <a:ext cx="1866801" cy="688247"/>
          </a:xfrm>
          <a:prstGeom prst="rect">
            <a:avLst/>
          </a:prstGeom>
          <a:solidFill>
            <a:srgbClr val="00B26A">
              <a:alpha val="18000"/>
            </a:srgbClr>
          </a:solidFill>
          <a:ln/>
        </p:spPr>
      </p:sp>
      <p:sp>
        <p:nvSpPr>
          <p:cNvPr id="173" name="Shape 171"/>
          <p:cNvSpPr/>
          <p:nvPr/>
        </p:nvSpPr>
        <p:spPr>
          <a:xfrm>
            <a:off x="15267617" y="8268560"/>
            <a:ext cx="1866801" cy="10583"/>
          </a:xfrm>
          <a:prstGeom prst="rect">
            <a:avLst/>
          </a:prstGeom>
          <a:solidFill>
            <a:srgbClr val="FFFFFF">
              <a:alpha val="8000"/>
            </a:srgbClr>
          </a:solidFill>
          <a:ln/>
        </p:spPr>
      </p:sp>
      <p:sp>
        <p:nvSpPr>
          <p:cNvPr id="174" name="Text 172"/>
          <p:cNvSpPr/>
          <p:nvPr/>
        </p:nvSpPr>
        <p:spPr>
          <a:xfrm>
            <a:off x="15343817" y="7676621"/>
            <a:ext cx="1638201" cy="544314"/>
          </a:xfrm>
          <a:prstGeom prst="rect">
            <a:avLst/>
          </a:prstGeom>
          <a:noFill/>
          <a:ln/>
        </p:spPr>
        <p:txBody>
          <a:bodyPr wrap="square" lIns="25400" tIns="25400" rIns="25400" bIns="25400" rtlCol="0" anchor="ctr">
            <a:normAutofit/>
          </a:bodyPr>
          <a:lstStyle/>
          <a:p>
            <a:pPr algn="r" indent="0" marL="0">
              <a:lnSpc>
                <a:spcPct val="140000"/>
              </a:lnSpc>
              <a:buNone/>
            </a:pPr>
            <a:r>
              <a:rPr lang="en-US" sz="1425" b="1" dirty="0">
                <a:solidFill>
                  <a:srgbClr val="66D59C"/>
                </a:solidFill>
                <a:latin typeface="Arial" pitchFamily="34" charset="0"/>
                <a:ea typeface="Arial" pitchFamily="34" charset="-122"/>
                <a:cs typeface="Arial" pitchFamily="34" charset="-120"/>
              </a:rPr>
              <a:t>1,67M–17,43M</a:t>
            </a:r>
            <a:endParaRPr lang="en-US" sz="1425" dirty="0"/>
          </a:p>
        </p:txBody>
      </p:sp>
      <p:sp>
        <p:nvSpPr>
          <p:cNvPr id="175" name="Shape 173"/>
          <p:cNvSpPr/>
          <p:nvPr/>
        </p:nvSpPr>
        <p:spPr>
          <a:xfrm>
            <a:off x="1153583" y="8279143"/>
            <a:ext cx="2457318" cy="677664"/>
          </a:xfrm>
          <a:prstGeom prst="rect">
            <a:avLst/>
          </a:prstGeom>
          <a:solidFill>
            <a:srgbClr val="F7F9F8"/>
          </a:solidFill>
          <a:ln/>
        </p:spPr>
      </p:sp>
      <p:sp>
        <p:nvSpPr>
          <p:cNvPr id="176" name="Shape 174"/>
          <p:cNvSpPr/>
          <p:nvPr/>
        </p:nvSpPr>
        <p:spPr>
          <a:xfrm>
            <a:off x="3600318" y="8279143"/>
            <a:ext cx="10583" cy="677664"/>
          </a:xfrm>
          <a:prstGeom prst="rect">
            <a:avLst/>
          </a:prstGeom>
          <a:solidFill>
            <a:srgbClr val="E2E7E5"/>
          </a:solidFill>
          <a:ln/>
        </p:spPr>
      </p:sp>
      <p:sp>
        <p:nvSpPr>
          <p:cNvPr id="177" name="Text 175"/>
          <p:cNvSpPr/>
          <p:nvPr/>
        </p:nvSpPr>
        <p:spPr>
          <a:xfrm>
            <a:off x="1305884" y="8368440"/>
            <a:ext cx="2218333" cy="304668"/>
          </a:xfrm>
          <a:prstGeom prst="rect">
            <a:avLst/>
          </a:prstGeom>
          <a:noFill/>
          <a:ln/>
        </p:spPr>
        <p:txBody>
          <a:bodyPr wrap="square" lIns="25400" tIns="25400" rIns="25400" bIns="25400" rtlCol="0" anchor="t">
            <a:normAutofit/>
          </a:bodyPr>
          <a:lstStyle/>
          <a:p>
            <a:pPr algn="l" indent="0" marL="0">
              <a:lnSpc>
                <a:spcPct val="140000"/>
              </a:lnSpc>
              <a:buNone/>
            </a:pPr>
            <a:r>
              <a:rPr lang="en-US" sz="1500" b="1" i="1" spc="-15" kern="0" dirty="0">
                <a:solidFill>
                  <a:srgbClr val="0F1311"/>
                </a:solidFill>
                <a:latin typeface="Arial" pitchFamily="34" charset="0"/>
                <a:ea typeface="Arial" pitchFamily="34" charset="-122"/>
                <a:cs typeface="Arial" pitchFamily="34" charset="-120"/>
              </a:rPr>
              <a:t>Enterprise OEM</a:t>
            </a:r>
            <a:endParaRPr lang="en-US" sz="1500" dirty="0"/>
          </a:p>
        </p:txBody>
      </p:sp>
      <p:sp>
        <p:nvSpPr>
          <p:cNvPr id="178" name="Text 176"/>
          <p:cNvSpPr/>
          <p:nvPr/>
        </p:nvSpPr>
        <p:spPr>
          <a:xfrm>
            <a:off x="1305884" y="8654025"/>
            <a:ext cx="2218333" cy="251420"/>
          </a:xfrm>
          <a:prstGeom prst="rect">
            <a:avLst/>
          </a:prstGeom>
          <a:noFill/>
          <a:ln/>
        </p:spPr>
        <p:txBody>
          <a:bodyPr wrap="square" lIns="25400" tIns="25400" rIns="25400" bIns="25400" rtlCol="0" anchor="t">
            <a:normAutofit/>
          </a:bodyPr>
          <a:lstStyle/>
          <a:p>
            <a:pPr algn="l" indent="0" marL="0">
              <a:lnSpc>
                <a:spcPct val="140000"/>
              </a:lnSpc>
              <a:buNone/>
            </a:pPr>
            <a:r>
              <a:rPr lang="en-US" sz="1200" spc="72" kern="0" dirty="0">
                <a:solidFill>
                  <a:srgbClr val="6B7771"/>
                </a:solidFill>
                <a:latin typeface="Courier New" pitchFamily="34" charset="0"/>
                <a:ea typeface="Courier New" pitchFamily="34" charset="-122"/>
                <a:cs typeface="Courier New" pitchFamily="34" charset="-120"/>
              </a:rPr>
              <a:t>CUSTOM</a:t>
            </a:r>
            <a:endParaRPr lang="en-US" sz="1200" dirty="0"/>
          </a:p>
        </p:txBody>
      </p:sp>
      <p:sp>
        <p:nvSpPr>
          <p:cNvPr id="179" name="Shape 177"/>
          <p:cNvSpPr/>
          <p:nvPr/>
        </p:nvSpPr>
        <p:spPr>
          <a:xfrm>
            <a:off x="3610901" y="8279143"/>
            <a:ext cx="8113448" cy="677664"/>
          </a:xfrm>
          <a:prstGeom prst="rect">
            <a:avLst/>
          </a:prstGeom>
          <a:solidFill>
            <a:srgbClr val="F7F9F8"/>
          </a:solidFill>
          <a:ln/>
        </p:spPr>
      </p:sp>
      <p:sp>
        <p:nvSpPr>
          <p:cNvPr id="180" name="Shape 178"/>
          <p:cNvSpPr/>
          <p:nvPr/>
        </p:nvSpPr>
        <p:spPr>
          <a:xfrm>
            <a:off x="11713766" y="8279143"/>
            <a:ext cx="10583" cy="677664"/>
          </a:xfrm>
          <a:prstGeom prst="rect">
            <a:avLst/>
          </a:prstGeom>
          <a:solidFill>
            <a:srgbClr val="E2E7E5"/>
          </a:solidFill>
          <a:ln/>
        </p:spPr>
      </p:sp>
      <p:sp>
        <p:nvSpPr>
          <p:cNvPr id="181" name="Text 179"/>
          <p:cNvSpPr/>
          <p:nvPr/>
        </p:nvSpPr>
        <p:spPr>
          <a:xfrm>
            <a:off x="3763301" y="8364868"/>
            <a:ext cx="8041468"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White-label API · Custom domain · Unlimited events · SLA 99,9% · Dedicated onboarding</a:t>
            </a:r>
            <a:endParaRPr lang="en-US" sz="1425" dirty="0"/>
          </a:p>
        </p:txBody>
      </p:sp>
      <p:sp>
        <p:nvSpPr>
          <p:cNvPr id="182" name="Shape 180"/>
          <p:cNvSpPr/>
          <p:nvPr/>
        </p:nvSpPr>
        <p:spPr>
          <a:xfrm>
            <a:off x="11724349" y="8279143"/>
            <a:ext cx="1447767" cy="677664"/>
          </a:xfrm>
          <a:prstGeom prst="rect">
            <a:avLst/>
          </a:prstGeom>
          <a:solidFill>
            <a:srgbClr val="F7F9F8"/>
          </a:solidFill>
          <a:ln/>
        </p:spPr>
      </p:sp>
      <p:sp>
        <p:nvSpPr>
          <p:cNvPr id="183" name="Shape 181"/>
          <p:cNvSpPr/>
          <p:nvPr/>
        </p:nvSpPr>
        <p:spPr>
          <a:xfrm>
            <a:off x="13161533" y="8279143"/>
            <a:ext cx="10583" cy="677664"/>
          </a:xfrm>
          <a:prstGeom prst="rect">
            <a:avLst/>
          </a:prstGeom>
          <a:solidFill>
            <a:srgbClr val="E2E7E5"/>
          </a:solidFill>
          <a:ln/>
        </p:spPr>
      </p:sp>
      <p:sp>
        <p:nvSpPr>
          <p:cNvPr id="184" name="Text 182"/>
          <p:cNvSpPr/>
          <p:nvPr/>
        </p:nvSpPr>
        <p:spPr>
          <a:xfrm>
            <a:off x="11876749" y="8364868"/>
            <a:ext cx="1208584" cy="544314"/>
          </a:xfrm>
          <a:prstGeom prst="rect">
            <a:avLst/>
          </a:prstGeom>
          <a:noFill/>
          <a:ln/>
        </p:spPr>
        <p:txBody>
          <a:bodyPr wrap="square" lIns="25400" tIns="25400" rIns="25400" bIns="25400" rtlCol="0" anchor="ctr">
            <a:normAutofit/>
          </a:bodyPr>
          <a:lstStyle/>
          <a:p>
            <a:pPr algn="l" indent="0" marL="0">
              <a:lnSpc>
                <a:spcPct val="140000"/>
              </a:lnSpc>
              <a:buNone/>
            </a:pPr>
            <a:r>
              <a:rPr lang="en-US" sz="1425" dirty="0">
                <a:solidFill>
                  <a:srgbClr val="323A36"/>
                </a:solidFill>
                <a:latin typeface="Arial" pitchFamily="34" charset="0"/>
                <a:ea typeface="Arial" pitchFamily="34" charset="-122"/>
                <a:cs typeface="Arial" pitchFamily="34" charset="-120"/>
              </a:rPr>
              <a:t>Monthly retainer</a:t>
            </a:r>
            <a:endParaRPr lang="en-US" sz="1425" dirty="0"/>
          </a:p>
        </p:txBody>
      </p:sp>
      <p:sp>
        <p:nvSpPr>
          <p:cNvPr id="185" name="Shape 183"/>
          <p:cNvSpPr/>
          <p:nvPr/>
        </p:nvSpPr>
        <p:spPr>
          <a:xfrm>
            <a:off x="13172117" y="8279143"/>
            <a:ext cx="2095500" cy="677664"/>
          </a:xfrm>
          <a:prstGeom prst="rect">
            <a:avLst/>
          </a:prstGeom>
          <a:solidFill>
            <a:srgbClr val="F7F9F8"/>
          </a:solidFill>
          <a:ln/>
        </p:spPr>
      </p:sp>
      <p:sp>
        <p:nvSpPr>
          <p:cNvPr id="186" name="Shape 184"/>
          <p:cNvSpPr/>
          <p:nvPr/>
        </p:nvSpPr>
        <p:spPr>
          <a:xfrm>
            <a:off x="15257034" y="8279143"/>
            <a:ext cx="10583" cy="677664"/>
          </a:xfrm>
          <a:prstGeom prst="rect">
            <a:avLst/>
          </a:prstGeom>
          <a:solidFill>
            <a:srgbClr val="E2E7E5"/>
          </a:solidFill>
          <a:ln/>
        </p:spPr>
      </p:sp>
      <p:sp>
        <p:nvSpPr>
          <p:cNvPr id="187" name="Text 185"/>
          <p:cNvSpPr/>
          <p:nvPr/>
        </p:nvSpPr>
        <p:spPr>
          <a:xfrm>
            <a:off x="13248317" y="8364868"/>
            <a:ext cx="1856317" cy="544314"/>
          </a:xfrm>
          <a:prstGeom prst="rect">
            <a:avLst/>
          </a:prstGeom>
          <a:noFill/>
          <a:ln/>
        </p:spPr>
        <p:txBody>
          <a:bodyPr wrap="square" lIns="25400" tIns="25400" rIns="25400" bIns="25400" rtlCol="0" anchor="ctr">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Từ 25M / tháng</a:t>
            </a:r>
            <a:endParaRPr lang="en-US" sz="1425" dirty="0"/>
          </a:p>
        </p:txBody>
      </p:sp>
      <p:sp>
        <p:nvSpPr>
          <p:cNvPr id="188" name="Shape 186"/>
          <p:cNvSpPr/>
          <p:nvPr/>
        </p:nvSpPr>
        <p:spPr>
          <a:xfrm>
            <a:off x="15267617" y="8279143"/>
            <a:ext cx="1866801" cy="677664"/>
          </a:xfrm>
          <a:prstGeom prst="rect">
            <a:avLst/>
          </a:prstGeom>
          <a:solidFill>
            <a:srgbClr val="F7F9F8"/>
          </a:solidFill>
          <a:ln/>
        </p:spPr>
      </p:sp>
      <p:sp>
        <p:nvSpPr>
          <p:cNvPr id="189" name="Text 187"/>
          <p:cNvSpPr/>
          <p:nvPr/>
        </p:nvSpPr>
        <p:spPr>
          <a:xfrm>
            <a:off x="15343817" y="8364868"/>
            <a:ext cx="1638201" cy="544314"/>
          </a:xfrm>
          <a:prstGeom prst="rect">
            <a:avLst/>
          </a:prstGeom>
          <a:noFill/>
          <a:ln/>
        </p:spPr>
        <p:txBody>
          <a:bodyPr wrap="square" lIns="25400" tIns="25400" rIns="25400" bIns="25400" rtlCol="0" anchor="ctr">
            <a:normAutofit/>
          </a:bodyPr>
          <a:lstStyle/>
          <a:p>
            <a:pPr algn="r" indent="0" marL="0">
              <a:lnSpc>
                <a:spcPct val="140000"/>
              </a:lnSpc>
              <a:buNone/>
            </a:pPr>
            <a:r>
              <a:rPr lang="en-US" sz="1425" b="1" dirty="0">
                <a:solidFill>
                  <a:srgbClr val="323A36"/>
                </a:solidFill>
                <a:latin typeface="Arial" pitchFamily="34" charset="0"/>
                <a:ea typeface="Arial" pitchFamily="34" charset="-122"/>
                <a:cs typeface="Arial" pitchFamily="34" charset="-120"/>
              </a:rPr>
              <a:t>Custom</a:t>
            </a:r>
            <a:endParaRPr lang="en-US" sz="1425" dirty="0"/>
          </a:p>
        </p:txBody>
      </p:sp>
      <p:sp>
        <p:nvSpPr>
          <p:cNvPr id="190" name="Text 188"/>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17 / 24</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6F8E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C · 04 · PACKAGING STRATEGY</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3 cách đóng gói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module — mỗi cách phục vụ một giai đoạn buying.</a:t>
            </a:r>
            <a:endParaRPr lang="en-US" sz="5400" dirty="0"/>
          </a:p>
        </p:txBody>
      </p:sp>
      <p:sp>
        <p:nvSpPr>
          <p:cNvPr id="4" name="Shape 2"/>
          <p:cNvSpPr/>
          <p:nvPr/>
        </p:nvSpPr>
        <p:spPr>
          <a:xfrm>
            <a:off x="1143000" y="3359712"/>
            <a:ext cx="5105466" cy="4224238"/>
          </a:xfrm>
          <a:prstGeom prst="roundRect">
            <a:avLst>
              <a:gd name="adj" fmla="val 4510"/>
            </a:avLst>
          </a:prstGeom>
          <a:solidFill>
            <a:srgbClr val="FFFFFF"/>
          </a:solidFill>
          <a:ln w="10583">
            <a:solidFill>
              <a:srgbClr val="E2E7E5"/>
            </a:solidFill>
            <a:prstDash val="solid"/>
          </a:ln>
        </p:spPr>
      </p:sp>
      <p:sp>
        <p:nvSpPr>
          <p:cNvPr id="5" name="Text 3"/>
          <p:cNvSpPr/>
          <p:nvPr/>
        </p:nvSpPr>
        <p:spPr>
          <a:xfrm>
            <a:off x="1534583" y="3713097"/>
            <a:ext cx="445196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PACK · A</a:t>
            </a:r>
            <a:endParaRPr lang="en-US" sz="1800" dirty="0"/>
          </a:p>
        </p:txBody>
      </p:sp>
      <p:sp>
        <p:nvSpPr>
          <p:cNvPr id="6" name="Text 4"/>
          <p:cNvSpPr/>
          <p:nvPr/>
        </p:nvSpPr>
        <p:spPr>
          <a:xfrm>
            <a:off x="1534583" y="4204229"/>
            <a:ext cx="445196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Module lẻ</a:t>
            </a:r>
            <a:endParaRPr lang="en-US" sz="2400" dirty="0"/>
          </a:p>
        </p:txBody>
      </p:sp>
      <p:sp>
        <p:nvSpPr>
          <p:cNvPr id="7" name="Text 5"/>
          <p:cNvSpPr/>
          <p:nvPr/>
        </p:nvSpPr>
        <p:spPr>
          <a:xfrm>
            <a:off x="1534583" y="4725955"/>
            <a:ext cx="4451969" cy="380901"/>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0F1311"/>
                </a:solidFill>
                <a:latin typeface="Arial" pitchFamily="34" charset="0"/>
                <a:ea typeface="Arial" pitchFamily="34" charset="-122"/>
                <a:cs typeface="Arial" pitchFamily="34" charset="-120"/>
              </a:rPr>
              <a:t>Bán từng module độc lập.</a:t>
            </a:r>
            <a:endParaRPr lang="en-US" sz="1800" dirty="0"/>
          </a:p>
        </p:txBody>
      </p:sp>
      <p:sp>
        <p:nvSpPr>
          <p:cNvPr id="8" name="Text 6"/>
          <p:cNvSpPr/>
          <p:nvPr/>
        </p:nvSpPr>
        <p:spPr>
          <a:xfrm>
            <a:off x="1374563" y="5240073"/>
            <a:ext cx="4558520" cy="1336377"/>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Bank Connector</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Tax / E-Invoice Connector</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Reconciliation Engine</a:t>
            </a:r>
            <a:endParaRPr lang="en-US" sz="1800" dirty="0"/>
          </a:p>
        </p:txBody>
      </p:sp>
      <p:sp>
        <p:nvSpPr>
          <p:cNvPr id="9" name="Shape 7"/>
          <p:cNvSpPr/>
          <p:nvPr/>
        </p:nvSpPr>
        <p:spPr>
          <a:xfrm>
            <a:off x="1534583" y="6709668"/>
            <a:ext cx="4322300" cy="10583"/>
          </a:xfrm>
          <a:prstGeom prst="rect">
            <a:avLst/>
          </a:prstGeom>
          <a:solidFill>
            <a:srgbClr val="E2E7E5"/>
          </a:solidFill>
          <a:ln/>
        </p:spPr>
      </p:sp>
      <p:sp>
        <p:nvSpPr>
          <p:cNvPr id="10" name="Text 8"/>
          <p:cNvSpPr/>
          <p:nvPr/>
        </p:nvSpPr>
        <p:spPr>
          <a:xfrm>
            <a:off x="1534583" y="6910752"/>
            <a:ext cx="445196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KHÁCH DỄ THỬ, LOW COMMITMENT</a:t>
            </a:r>
            <a:endParaRPr lang="en-US" sz="1800" dirty="0"/>
          </a:p>
        </p:txBody>
      </p:sp>
      <p:sp>
        <p:nvSpPr>
          <p:cNvPr id="11" name="Shape 9"/>
          <p:cNvSpPr/>
          <p:nvPr/>
        </p:nvSpPr>
        <p:spPr>
          <a:xfrm>
            <a:off x="6591267" y="3359712"/>
            <a:ext cx="5105466" cy="4403163"/>
          </a:xfrm>
          <a:prstGeom prst="roundRect">
            <a:avLst>
              <a:gd name="adj" fmla="val 4326"/>
            </a:avLst>
          </a:prstGeom>
          <a:solidFill>
            <a:srgbClr val="001A12"/>
          </a:solidFill>
          <a:ln w="10583">
            <a:solidFill>
              <a:srgbClr val="006B40"/>
            </a:solidFill>
            <a:prstDash val="solid"/>
          </a:ln>
        </p:spPr>
      </p:sp>
      <p:sp>
        <p:nvSpPr>
          <p:cNvPr id="12" name="Text 10"/>
          <p:cNvSpPr/>
          <p:nvPr/>
        </p:nvSpPr>
        <p:spPr>
          <a:xfrm>
            <a:off x="6982851" y="3713097"/>
            <a:ext cx="445196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66D59C"/>
                </a:solidFill>
                <a:latin typeface="Courier New" pitchFamily="34" charset="0"/>
                <a:ea typeface="Courier New" pitchFamily="34" charset="-122"/>
                <a:cs typeface="Courier New" pitchFamily="34" charset="-120"/>
              </a:rPr>
              <a:t>PACK · B · RECOMMENDED</a:t>
            </a:r>
            <a:endParaRPr lang="en-US" sz="1800" dirty="0"/>
          </a:p>
        </p:txBody>
      </p:sp>
      <p:sp>
        <p:nvSpPr>
          <p:cNvPr id="13" name="Text 11"/>
          <p:cNvSpPr/>
          <p:nvPr/>
        </p:nvSpPr>
        <p:spPr>
          <a:xfrm>
            <a:off x="6982851" y="4204229"/>
            <a:ext cx="445196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FFFFFF"/>
                </a:solidFill>
                <a:latin typeface="Arial" pitchFamily="34" charset="0"/>
                <a:ea typeface="Arial" pitchFamily="34" charset="-122"/>
                <a:cs typeface="Arial" pitchFamily="34" charset="-120"/>
              </a:rPr>
              <a:t>Combo nhu cầu</a:t>
            </a:r>
            <a:endParaRPr lang="en-US" sz="2400" dirty="0"/>
          </a:p>
        </p:txBody>
      </p:sp>
      <p:sp>
        <p:nvSpPr>
          <p:cNvPr id="14" name="Text 12"/>
          <p:cNvSpPr/>
          <p:nvPr/>
        </p:nvSpPr>
        <p:spPr>
          <a:xfrm>
            <a:off x="6982851" y="4725955"/>
            <a:ext cx="4451969" cy="380901"/>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90000"/>
                  </a:srgbClr>
                </a:solidFill>
                <a:latin typeface="Arial" pitchFamily="34" charset="0"/>
                <a:ea typeface="Arial" pitchFamily="34" charset="-122"/>
                <a:cs typeface="Arial" pitchFamily="34" charset="-120"/>
              </a:rPr>
              <a:t>2 combo theo job-to-be-done.</a:t>
            </a:r>
            <a:endParaRPr lang="en-US" sz="1800" dirty="0"/>
          </a:p>
        </p:txBody>
      </p:sp>
      <p:sp>
        <p:nvSpPr>
          <p:cNvPr id="15" name="Text 13"/>
          <p:cNvSpPr/>
          <p:nvPr/>
        </p:nvSpPr>
        <p:spPr>
          <a:xfrm>
            <a:off x="7344669" y="5240073"/>
            <a:ext cx="1417472" cy="700551"/>
          </a:xfrm>
          <a:prstGeom prst="rect">
            <a:avLst/>
          </a:prstGeom>
          <a:noFill/>
          <a:ln/>
        </p:spPr>
        <p:txBody>
          <a:bodyPr wrap="square" lIns="25400" tIns="25400" rIns="25400" bIns="25400" rtlCol="0" anchor="t">
            <a:normAutofit/>
          </a:bodyPr>
          <a:lstStyle/>
          <a:p>
            <a:pPr algn="l" indent="0" marL="0">
              <a:lnSpc>
                <a:spcPct val="145000"/>
              </a:lnSpc>
              <a:buNone/>
            </a:pPr>
            <a:r>
              <a:rPr lang="en-US" sz="1800" b="1" dirty="0">
                <a:solidFill>
                  <a:srgbClr val="FFFFFF">
                    <a:alpha val="85000"/>
                  </a:srgbClr>
                </a:solidFill>
                <a:latin typeface="Arial" pitchFamily="34" charset="0"/>
                <a:ea typeface="Arial" pitchFamily="34" charset="-122"/>
                <a:cs typeface="Arial" pitchFamily="34" charset="-120"/>
              </a:rPr>
              <a:t>Sync Combo</a:t>
            </a:r>
            <a:endParaRPr lang="en-US" sz="1800" dirty="0"/>
          </a:p>
        </p:txBody>
      </p:sp>
      <p:sp>
        <p:nvSpPr>
          <p:cNvPr id="16" name="Text 14"/>
          <p:cNvSpPr/>
          <p:nvPr/>
        </p:nvSpPr>
        <p:spPr>
          <a:xfrm>
            <a:off x="8819224" y="5271823"/>
            <a:ext cx="2161779" cy="633909"/>
          </a:xfrm>
          <a:prstGeom prst="rect">
            <a:avLst/>
          </a:prstGeom>
          <a:noFill/>
          <a:ln/>
        </p:spPr>
        <p:txBody>
          <a:bodyPr wrap="square" lIns="0" tIns="0" rIns="0" bIns="0" rtlCol="0" anchor="t">
            <a:normAutofit/>
          </a:bodyPr>
          <a:lstStyle/>
          <a:p>
            <a:pPr algn="l" indent="0" marL="0">
              <a:lnSpc>
                <a:spcPct val="145000"/>
              </a:lnSpc>
              <a:buNone/>
            </a:pPr>
            <a:r>
              <a:rPr lang="en-US" sz="1800" dirty="0">
                <a:solidFill>
                  <a:srgbClr val="FFFFFF">
                    <a:alpha val="85000"/>
                  </a:srgbClr>
                </a:solidFill>
                <a:latin typeface="Arial" pitchFamily="34" charset="0"/>
                <a:ea typeface="Arial" pitchFamily="34" charset="-122"/>
                <a:cs typeface="Arial" pitchFamily="34" charset="-120"/>
              </a:rPr>
              <a:t>· Bank + Tax sync tự động</a:t>
            </a:r>
            <a:endParaRPr lang="en-US" sz="1800" dirty="0"/>
          </a:p>
        </p:txBody>
      </p:sp>
      <p:sp>
        <p:nvSpPr>
          <p:cNvPr id="17" name="Text 15"/>
          <p:cNvSpPr/>
          <p:nvPr/>
        </p:nvSpPr>
        <p:spPr>
          <a:xfrm>
            <a:off x="7344669" y="6054825"/>
            <a:ext cx="1469893" cy="700551"/>
          </a:xfrm>
          <a:prstGeom prst="rect">
            <a:avLst/>
          </a:prstGeom>
          <a:noFill/>
          <a:ln/>
        </p:spPr>
        <p:txBody>
          <a:bodyPr wrap="square" lIns="25400" tIns="25400" rIns="25400" bIns="25400" rtlCol="0" anchor="t">
            <a:normAutofit/>
          </a:bodyPr>
          <a:lstStyle/>
          <a:p>
            <a:pPr algn="l" indent="0" marL="0">
              <a:lnSpc>
                <a:spcPct val="145000"/>
              </a:lnSpc>
              <a:buNone/>
            </a:pPr>
            <a:r>
              <a:rPr lang="en-US" sz="1800" b="1" dirty="0">
                <a:solidFill>
                  <a:srgbClr val="FFFFFF">
                    <a:alpha val="85000"/>
                  </a:srgbClr>
                </a:solidFill>
                <a:latin typeface="Arial" pitchFamily="34" charset="0"/>
                <a:ea typeface="Arial" pitchFamily="34" charset="-122"/>
                <a:cs typeface="Arial" pitchFamily="34" charset="-120"/>
              </a:rPr>
              <a:t>Action Combo</a:t>
            </a:r>
            <a:endParaRPr lang="en-US" sz="1800" dirty="0"/>
          </a:p>
        </p:txBody>
      </p:sp>
      <p:sp>
        <p:nvSpPr>
          <p:cNvPr id="18" name="Text 16"/>
          <p:cNvSpPr/>
          <p:nvPr/>
        </p:nvSpPr>
        <p:spPr>
          <a:xfrm>
            <a:off x="8871645" y="6086574"/>
            <a:ext cx="2013115" cy="633909"/>
          </a:xfrm>
          <a:prstGeom prst="rect">
            <a:avLst/>
          </a:prstGeom>
          <a:noFill/>
          <a:ln/>
        </p:spPr>
        <p:txBody>
          <a:bodyPr wrap="square" lIns="0" tIns="0" rIns="0" bIns="0" rtlCol="0" anchor="t">
            <a:normAutofit/>
          </a:bodyPr>
          <a:lstStyle/>
          <a:p>
            <a:pPr algn="l" indent="0" marL="0">
              <a:lnSpc>
                <a:spcPct val="145000"/>
              </a:lnSpc>
              <a:buNone/>
            </a:pPr>
            <a:r>
              <a:rPr lang="en-US" sz="1800" dirty="0">
                <a:solidFill>
                  <a:srgbClr val="FFFFFF">
                    <a:alpha val="85000"/>
                  </a:srgbClr>
                </a:solidFill>
                <a:latin typeface="Arial" pitchFamily="34" charset="0"/>
                <a:ea typeface="Arial" pitchFamily="34" charset="-122"/>
                <a:cs typeface="Arial" pitchFamily="34" charset="-120"/>
              </a:rPr>
              <a:t>· Reconcile + Auto-payment</a:t>
            </a:r>
            <a:endParaRPr lang="en-US" sz="1800" dirty="0"/>
          </a:p>
        </p:txBody>
      </p:sp>
      <p:sp>
        <p:nvSpPr>
          <p:cNvPr id="19" name="Shape 17"/>
          <p:cNvSpPr/>
          <p:nvPr/>
        </p:nvSpPr>
        <p:spPr>
          <a:xfrm>
            <a:off x="6982851" y="6888593"/>
            <a:ext cx="4322300" cy="10583"/>
          </a:xfrm>
          <a:prstGeom prst="rect">
            <a:avLst/>
          </a:prstGeom>
          <a:solidFill>
            <a:srgbClr val="FFFFFF">
              <a:alpha val="15000"/>
            </a:srgbClr>
          </a:solidFill>
          <a:ln/>
        </p:spPr>
      </p:sp>
      <p:sp>
        <p:nvSpPr>
          <p:cNvPr id="20" name="Text 18"/>
          <p:cNvSpPr/>
          <p:nvPr/>
        </p:nvSpPr>
        <p:spPr>
          <a:xfrm>
            <a:off x="6982851" y="7089676"/>
            <a:ext cx="445196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6D59C"/>
                </a:solidFill>
                <a:latin typeface="Courier New" pitchFamily="34" charset="0"/>
                <a:ea typeface="Courier New" pitchFamily="34" charset="-122"/>
                <a:cs typeface="Courier New" pitchFamily="34" charset="-120"/>
              </a:rPr>
              <a:t>UX TỐT HƠN, ARPU CAO HƠN</a:t>
            </a:r>
            <a:endParaRPr lang="en-US" sz="1800" dirty="0"/>
          </a:p>
        </p:txBody>
      </p:sp>
      <p:sp>
        <p:nvSpPr>
          <p:cNvPr id="21" name="Shape 19"/>
          <p:cNvSpPr/>
          <p:nvPr/>
        </p:nvSpPr>
        <p:spPr>
          <a:xfrm>
            <a:off x="12039535" y="3359712"/>
            <a:ext cx="5105466" cy="4544054"/>
          </a:xfrm>
          <a:prstGeom prst="roundRect">
            <a:avLst>
              <a:gd name="adj" fmla="val 4192"/>
            </a:avLst>
          </a:prstGeom>
          <a:solidFill>
            <a:srgbClr val="FFFFFF"/>
          </a:solidFill>
          <a:ln w="10583">
            <a:solidFill>
              <a:srgbClr val="E2E7E5"/>
            </a:solidFill>
            <a:prstDash val="solid"/>
          </a:ln>
        </p:spPr>
      </p:sp>
      <p:sp>
        <p:nvSpPr>
          <p:cNvPr id="22" name="Text 20"/>
          <p:cNvSpPr/>
          <p:nvPr/>
        </p:nvSpPr>
        <p:spPr>
          <a:xfrm>
            <a:off x="12431118" y="3713097"/>
            <a:ext cx="445196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PACK · C</a:t>
            </a:r>
            <a:endParaRPr lang="en-US" sz="1800" dirty="0"/>
          </a:p>
        </p:txBody>
      </p:sp>
      <p:sp>
        <p:nvSpPr>
          <p:cNvPr id="23" name="Text 21"/>
          <p:cNvSpPr/>
          <p:nvPr/>
        </p:nvSpPr>
        <p:spPr>
          <a:xfrm>
            <a:off x="12431118" y="4204229"/>
            <a:ext cx="445196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Full Enterprise</a:t>
            </a:r>
            <a:endParaRPr lang="en-US" sz="2400" dirty="0"/>
          </a:p>
        </p:txBody>
      </p:sp>
      <p:sp>
        <p:nvSpPr>
          <p:cNvPr id="24" name="Text 22"/>
          <p:cNvSpPr/>
          <p:nvPr/>
        </p:nvSpPr>
        <p:spPr>
          <a:xfrm>
            <a:off x="12431118" y="4725955"/>
            <a:ext cx="4451969" cy="380901"/>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0F1311"/>
                </a:solidFill>
                <a:latin typeface="Arial" pitchFamily="34" charset="0"/>
                <a:ea typeface="Arial" pitchFamily="34" charset="-122"/>
                <a:cs typeface="Arial" pitchFamily="34" charset="-120"/>
              </a:rPr>
              <a:t>Trọn bộ, khỏi nghĩ nhiều.</a:t>
            </a:r>
            <a:endParaRPr lang="en-US" sz="1800" dirty="0"/>
          </a:p>
        </p:txBody>
      </p:sp>
      <p:sp>
        <p:nvSpPr>
          <p:cNvPr id="25" name="Text 23"/>
          <p:cNvSpPr/>
          <p:nvPr/>
        </p:nvSpPr>
        <p:spPr>
          <a:xfrm>
            <a:off x="12271098" y="5240073"/>
            <a:ext cx="4558520" cy="1336377"/>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Tất cả module hiện tại + tương lai</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SLA, dedicated support</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Audit-trail compliance-grade</a:t>
            </a:r>
            <a:endParaRPr lang="en-US" sz="1800" dirty="0"/>
          </a:p>
        </p:txBody>
      </p:sp>
      <p:sp>
        <p:nvSpPr>
          <p:cNvPr id="26" name="Shape 24"/>
          <p:cNvSpPr/>
          <p:nvPr/>
        </p:nvSpPr>
        <p:spPr>
          <a:xfrm>
            <a:off x="12431118" y="6709668"/>
            <a:ext cx="4322300" cy="10583"/>
          </a:xfrm>
          <a:prstGeom prst="rect">
            <a:avLst/>
          </a:prstGeom>
          <a:solidFill>
            <a:srgbClr val="E2E7E5"/>
          </a:solidFill>
          <a:ln/>
        </p:spPr>
      </p:sp>
      <p:sp>
        <p:nvSpPr>
          <p:cNvPr id="27" name="Text 25"/>
          <p:cNvSpPr/>
          <p:nvPr/>
        </p:nvSpPr>
        <p:spPr>
          <a:xfrm>
            <a:off x="12431118" y="6910752"/>
            <a:ext cx="4451969" cy="677730"/>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KHÁCH LỚN, WILLINGNESS-TO-PAY CAO</a:t>
            </a:r>
            <a:endParaRPr lang="en-US" sz="1800" dirty="0"/>
          </a:p>
        </p:txBody>
      </p:sp>
      <p:sp>
        <p:nvSpPr>
          <p:cNvPr id="28" name="Text 26"/>
          <p:cNvSpPr/>
          <p:nvPr/>
        </p:nvSpPr>
        <p:spPr>
          <a:xfrm>
            <a:off x="1143000" y="8170334"/>
            <a:ext cx="16482061" cy="368498"/>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B7771"/>
                </a:solidFill>
                <a:latin typeface="Arial" pitchFamily="34" charset="0"/>
                <a:ea typeface="Arial" pitchFamily="34" charset="-122"/>
                <a:cs typeface="Arial" pitchFamily="34" charset="-120"/>
              </a:rPr>
              <a:t>Cả 3 cùng tồn tại. Module lẻ làm </a:t>
            </a:r>
            <a:pPr algn="l" indent="0" marL="0">
              <a:lnSpc>
                <a:spcPct val="140000"/>
              </a:lnSpc>
              <a:buNone/>
            </a:pPr>
            <a:r>
              <a:rPr lang="en-US" sz="1800" b="1" dirty="0">
                <a:solidFill>
                  <a:srgbClr val="6B7771"/>
                </a:solidFill>
                <a:latin typeface="Arial" pitchFamily="34" charset="0"/>
                <a:ea typeface="Arial" pitchFamily="34" charset="-122"/>
                <a:cs typeface="Arial" pitchFamily="34" charset="-120"/>
              </a:rPr>
              <a:t>entry-point</a:t>
            </a:r>
            <a:pPr algn="l" indent="0" marL="0">
              <a:lnSpc>
                <a:spcPct val="140000"/>
              </a:lnSpc>
              <a:buNone/>
            </a:pPr>
            <a:r>
              <a:rPr lang="en-US" sz="1800" dirty="0">
                <a:solidFill>
                  <a:srgbClr val="6B7771"/>
                </a:solidFill>
                <a:latin typeface="Arial" pitchFamily="34" charset="0"/>
                <a:ea typeface="Arial" pitchFamily="34" charset="-122"/>
                <a:cs typeface="Arial" pitchFamily="34" charset="-120"/>
              </a:rPr>
              <a:t>; Combo làm </a:t>
            </a:r>
            <a:pPr algn="l" indent="0" marL="0">
              <a:lnSpc>
                <a:spcPct val="140000"/>
              </a:lnSpc>
              <a:buNone/>
            </a:pPr>
            <a:r>
              <a:rPr lang="en-US" sz="1800" b="1" dirty="0">
                <a:solidFill>
                  <a:srgbClr val="6B7771"/>
                </a:solidFill>
                <a:latin typeface="Arial" pitchFamily="34" charset="0"/>
                <a:ea typeface="Arial" pitchFamily="34" charset="-122"/>
                <a:cs typeface="Arial" pitchFamily="34" charset="-120"/>
              </a:rPr>
              <a:t>upsell</a:t>
            </a:r>
            <a:pPr algn="l" indent="0" marL="0">
              <a:lnSpc>
                <a:spcPct val="140000"/>
              </a:lnSpc>
              <a:buNone/>
            </a:pPr>
            <a:r>
              <a:rPr lang="en-US" sz="1800" dirty="0">
                <a:solidFill>
                  <a:srgbClr val="6B7771"/>
                </a:solidFill>
                <a:latin typeface="Arial" pitchFamily="34" charset="0"/>
                <a:ea typeface="Arial" pitchFamily="34" charset="-122"/>
                <a:cs typeface="Arial" pitchFamily="34" charset="-120"/>
              </a:rPr>
              <a:t>; Full Enterprise là </a:t>
            </a:r>
            <a:pPr algn="l" indent="0" marL="0">
              <a:lnSpc>
                <a:spcPct val="140000"/>
              </a:lnSpc>
              <a:buNone/>
            </a:pPr>
            <a:r>
              <a:rPr lang="en-US" sz="1800" b="1" dirty="0">
                <a:solidFill>
                  <a:srgbClr val="6B7771"/>
                </a:solidFill>
                <a:latin typeface="Arial" pitchFamily="34" charset="0"/>
                <a:ea typeface="Arial" pitchFamily="34" charset="-122"/>
                <a:cs typeface="Arial" pitchFamily="34" charset="-120"/>
              </a:rPr>
              <a:t>terminal value</a:t>
            </a:r>
            <a:pPr algn="l" indent="0" marL="0">
              <a:lnSpc>
                <a:spcPct val="140000"/>
              </a:lnSpc>
              <a:buNone/>
            </a:pPr>
            <a:r>
              <a:rPr lang="en-US" sz="1800" dirty="0">
                <a:solidFill>
                  <a:srgbClr val="6B7771"/>
                </a:solidFill>
                <a:latin typeface="Arial" pitchFamily="34" charset="0"/>
                <a:ea typeface="Arial" pitchFamily="34" charset="-122"/>
                <a:cs typeface="Arial" pitchFamily="34" charset="-120"/>
              </a:rPr>
              <a:t>.</a:t>
            </a:r>
            <a:endParaRPr lang="en-US" sz="1800" dirty="0"/>
          </a:p>
        </p:txBody>
      </p:sp>
      <p:sp>
        <p:nvSpPr>
          <p:cNvPr id="29" name="Text 27"/>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18 / 24</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C · 05 · PRICING TIERS — PARTNER</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Tiers cho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Odoo Partner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 3 bậc, theo số khách triển khai.</a:t>
            </a:r>
            <a:endParaRPr lang="en-US" sz="5400" dirty="0"/>
          </a:p>
        </p:txBody>
      </p:sp>
      <p:sp>
        <p:nvSpPr>
          <p:cNvPr id="4" name="Shape 2"/>
          <p:cNvSpPr/>
          <p:nvPr/>
        </p:nvSpPr>
        <p:spPr>
          <a:xfrm>
            <a:off x="1143000" y="3359712"/>
            <a:ext cx="16002001" cy="5283564"/>
          </a:xfrm>
          <a:prstGeom prst="roundRect">
            <a:avLst>
              <a:gd name="adj" fmla="val 3245"/>
            </a:avLst>
          </a:prstGeom>
          <a:solidFill>
            <a:srgbClr val="FFFFFF"/>
          </a:solidFill>
          <a:ln w="10583">
            <a:solidFill>
              <a:srgbClr val="E2E7E5"/>
            </a:solidFill>
            <a:prstDash val="solid"/>
          </a:ln>
        </p:spPr>
      </p:sp>
      <p:sp>
        <p:nvSpPr>
          <p:cNvPr id="5" name="Shape 3"/>
          <p:cNvSpPr/>
          <p:nvPr/>
        </p:nvSpPr>
        <p:spPr>
          <a:xfrm>
            <a:off x="1153583" y="3370296"/>
            <a:ext cx="3676385" cy="776387"/>
          </a:xfrm>
          <a:prstGeom prst="rect">
            <a:avLst/>
          </a:prstGeom>
          <a:solidFill>
            <a:srgbClr val="F7F9F8"/>
          </a:solidFill>
          <a:ln/>
        </p:spPr>
      </p:sp>
      <p:sp>
        <p:nvSpPr>
          <p:cNvPr id="6" name="Shape 4"/>
          <p:cNvSpPr/>
          <p:nvPr/>
        </p:nvSpPr>
        <p:spPr>
          <a:xfrm>
            <a:off x="1153583" y="4136099"/>
            <a:ext cx="3676385" cy="10583"/>
          </a:xfrm>
          <a:prstGeom prst="rect">
            <a:avLst/>
          </a:prstGeom>
          <a:solidFill>
            <a:srgbClr val="E2E7E5"/>
          </a:solidFill>
          <a:ln/>
        </p:spPr>
      </p:sp>
      <p:sp>
        <p:nvSpPr>
          <p:cNvPr id="7" name="Shape 5"/>
          <p:cNvSpPr/>
          <p:nvPr/>
        </p:nvSpPr>
        <p:spPr>
          <a:xfrm>
            <a:off x="4829969" y="3370296"/>
            <a:ext cx="3282983" cy="776387"/>
          </a:xfrm>
          <a:prstGeom prst="rect">
            <a:avLst/>
          </a:prstGeom>
          <a:solidFill>
            <a:srgbClr val="F7F9F8"/>
          </a:solidFill>
          <a:ln/>
        </p:spPr>
      </p:sp>
      <p:sp>
        <p:nvSpPr>
          <p:cNvPr id="8" name="Shape 6"/>
          <p:cNvSpPr/>
          <p:nvPr/>
        </p:nvSpPr>
        <p:spPr>
          <a:xfrm>
            <a:off x="4829969" y="4136099"/>
            <a:ext cx="3282983" cy="10583"/>
          </a:xfrm>
          <a:prstGeom prst="rect">
            <a:avLst/>
          </a:prstGeom>
          <a:solidFill>
            <a:srgbClr val="E2E7E5"/>
          </a:solidFill>
          <a:ln/>
        </p:spPr>
      </p:sp>
      <p:sp>
        <p:nvSpPr>
          <p:cNvPr id="9" name="Text 7"/>
          <p:cNvSpPr/>
          <p:nvPr/>
        </p:nvSpPr>
        <p:spPr>
          <a:xfrm>
            <a:off x="5058569" y="3579846"/>
            <a:ext cx="2924273" cy="384803"/>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0F1311"/>
                </a:solidFill>
                <a:latin typeface="Arial" pitchFamily="34" charset="0"/>
                <a:ea typeface="Arial" pitchFamily="34" charset="-122"/>
                <a:cs typeface="Arial" pitchFamily="34" charset="-120"/>
              </a:rPr>
              <a:t>Starter</a:t>
            </a:r>
            <a:endParaRPr lang="en-US" sz="1950" dirty="0"/>
          </a:p>
        </p:txBody>
      </p:sp>
      <p:sp>
        <p:nvSpPr>
          <p:cNvPr id="10" name="Shape 8"/>
          <p:cNvSpPr/>
          <p:nvPr/>
        </p:nvSpPr>
        <p:spPr>
          <a:xfrm>
            <a:off x="8112952" y="3370296"/>
            <a:ext cx="4652698" cy="776387"/>
          </a:xfrm>
          <a:prstGeom prst="rect">
            <a:avLst/>
          </a:prstGeom>
          <a:solidFill>
            <a:srgbClr val="001A12"/>
          </a:solidFill>
          <a:ln/>
        </p:spPr>
      </p:sp>
      <p:sp>
        <p:nvSpPr>
          <p:cNvPr id="11" name="Shape 9"/>
          <p:cNvSpPr/>
          <p:nvPr/>
        </p:nvSpPr>
        <p:spPr>
          <a:xfrm>
            <a:off x="8112952" y="4136099"/>
            <a:ext cx="4652698" cy="10583"/>
          </a:xfrm>
          <a:prstGeom prst="rect">
            <a:avLst/>
          </a:prstGeom>
          <a:solidFill>
            <a:srgbClr val="E2E7E5"/>
          </a:solidFill>
          <a:ln/>
        </p:spPr>
      </p:sp>
      <p:sp>
        <p:nvSpPr>
          <p:cNvPr id="12" name="Text 10"/>
          <p:cNvSpPr/>
          <p:nvPr/>
        </p:nvSpPr>
        <p:spPr>
          <a:xfrm>
            <a:off x="8341552" y="3579846"/>
            <a:ext cx="4335079" cy="384803"/>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FFFFFF"/>
                </a:solidFill>
                <a:latin typeface="Arial" pitchFamily="34" charset="0"/>
                <a:ea typeface="Arial" pitchFamily="34" charset="-122"/>
                <a:cs typeface="Arial" pitchFamily="34" charset="-120"/>
              </a:rPr>
              <a:t>Growth · recommended</a:t>
            </a:r>
            <a:endParaRPr lang="en-US" sz="1950" dirty="0"/>
          </a:p>
        </p:txBody>
      </p:sp>
      <p:sp>
        <p:nvSpPr>
          <p:cNvPr id="13" name="Shape 11"/>
          <p:cNvSpPr/>
          <p:nvPr/>
        </p:nvSpPr>
        <p:spPr>
          <a:xfrm>
            <a:off x="12765650" y="3370296"/>
            <a:ext cx="4368767" cy="776387"/>
          </a:xfrm>
          <a:prstGeom prst="rect">
            <a:avLst/>
          </a:prstGeom>
          <a:solidFill>
            <a:srgbClr val="F7F9F8"/>
          </a:solidFill>
          <a:ln/>
        </p:spPr>
      </p:sp>
      <p:sp>
        <p:nvSpPr>
          <p:cNvPr id="14" name="Shape 12"/>
          <p:cNvSpPr/>
          <p:nvPr/>
        </p:nvSpPr>
        <p:spPr>
          <a:xfrm>
            <a:off x="12765650" y="4136099"/>
            <a:ext cx="4368767" cy="10583"/>
          </a:xfrm>
          <a:prstGeom prst="rect">
            <a:avLst/>
          </a:prstGeom>
          <a:solidFill>
            <a:srgbClr val="E2E7E5"/>
          </a:solidFill>
          <a:ln/>
        </p:spPr>
      </p:sp>
      <p:sp>
        <p:nvSpPr>
          <p:cNvPr id="15" name="Text 13"/>
          <p:cNvSpPr/>
          <p:nvPr/>
        </p:nvSpPr>
        <p:spPr>
          <a:xfrm>
            <a:off x="12994250" y="3579846"/>
            <a:ext cx="4042630" cy="384803"/>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0F1311"/>
                </a:solidFill>
                <a:latin typeface="Arial" pitchFamily="34" charset="0"/>
                <a:ea typeface="Arial" pitchFamily="34" charset="-122"/>
                <a:cs typeface="Arial" pitchFamily="34" charset="-120"/>
              </a:rPr>
              <a:t>Scale</a:t>
            </a:r>
            <a:endParaRPr lang="en-US" sz="1950" dirty="0"/>
          </a:p>
        </p:txBody>
      </p:sp>
      <p:sp>
        <p:nvSpPr>
          <p:cNvPr id="16" name="Shape 14"/>
          <p:cNvSpPr/>
          <p:nvPr/>
        </p:nvSpPr>
        <p:spPr>
          <a:xfrm>
            <a:off x="1153583" y="4146682"/>
            <a:ext cx="3676385" cy="749432"/>
          </a:xfrm>
          <a:prstGeom prst="rect">
            <a:avLst/>
          </a:prstGeom>
          <a:solidFill>
            <a:srgbClr val="F7F9F8"/>
          </a:solidFill>
          <a:ln/>
        </p:spPr>
      </p:sp>
      <p:sp>
        <p:nvSpPr>
          <p:cNvPr id="17" name="Shape 15"/>
          <p:cNvSpPr/>
          <p:nvPr/>
        </p:nvSpPr>
        <p:spPr>
          <a:xfrm>
            <a:off x="1153583" y="4885531"/>
            <a:ext cx="3676385" cy="10583"/>
          </a:xfrm>
          <a:prstGeom prst="rect">
            <a:avLst/>
          </a:prstGeom>
          <a:solidFill>
            <a:srgbClr val="E2E7E5"/>
          </a:solidFill>
          <a:ln/>
        </p:spPr>
      </p:sp>
      <p:sp>
        <p:nvSpPr>
          <p:cNvPr id="18" name="Text 16"/>
          <p:cNvSpPr/>
          <p:nvPr/>
        </p:nvSpPr>
        <p:spPr>
          <a:xfrm>
            <a:off x="1382183" y="4356232"/>
            <a:ext cx="3329477"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GIÁ</a:t>
            </a:r>
            <a:endParaRPr lang="en-US" sz="1800" dirty="0"/>
          </a:p>
        </p:txBody>
      </p:sp>
      <p:sp>
        <p:nvSpPr>
          <p:cNvPr id="19" name="Shape 17"/>
          <p:cNvSpPr/>
          <p:nvPr/>
        </p:nvSpPr>
        <p:spPr>
          <a:xfrm>
            <a:off x="4829969" y="4885531"/>
            <a:ext cx="3282983" cy="10583"/>
          </a:xfrm>
          <a:prstGeom prst="rect">
            <a:avLst/>
          </a:prstGeom>
          <a:solidFill>
            <a:srgbClr val="E2E7E5"/>
          </a:solidFill>
          <a:ln/>
        </p:spPr>
      </p:sp>
      <p:sp>
        <p:nvSpPr>
          <p:cNvPr id="20" name="Text 18"/>
          <p:cNvSpPr/>
          <p:nvPr/>
        </p:nvSpPr>
        <p:spPr>
          <a:xfrm>
            <a:off x="5058569" y="4356232"/>
            <a:ext cx="292427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 — / tháng</a:t>
            </a:r>
            <a:endParaRPr lang="en-US" sz="1800" dirty="0"/>
          </a:p>
        </p:txBody>
      </p:sp>
      <p:sp>
        <p:nvSpPr>
          <p:cNvPr id="21" name="Shape 19"/>
          <p:cNvSpPr/>
          <p:nvPr/>
        </p:nvSpPr>
        <p:spPr>
          <a:xfrm>
            <a:off x="8112952" y="4146682"/>
            <a:ext cx="4652698" cy="749432"/>
          </a:xfrm>
          <a:prstGeom prst="rect">
            <a:avLst/>
          </a:prstGeom>
          <a:solidFill>
            <a:srgbClr val="00B26A">
              <a:alpha val="6000"/>
            </a:srgbClr>
          </a:solidFill>
          <a:ln/>
        </p:spPr>
      </p:sp>
      <p:sp>
        <p:nvSpPr>
          <p:cNvPr id="22" name="Shape 20"/>
          <p:cNvSpPr/>
          <p:nvPr/>
        </p:nvSpPr>
        <p:spPr>
          <a:xfrm>
            <a:off x="8112952" y="4885531"/>
            <a:ext cx="4652698" cy="10583"/>
          </a:xfrm>
          <a:prstGeom prst="rect">
            <a:avLst/>
          </a:prstGeom>
          <a:solidFill>
            <a:srgbClr val="E2E7E5"/>
          </a:solidFill>
          <a:ln/>
        </p:spPr>
      </p:sp>
      <p:sp>
        <p:nvSpPr>
          <p:cNvPr id="23" name="Text 21"/>
          <p:cNvSpPr/>
          <p:nvPr/>
        </p:nvSpPr>
        <p:spPr>
          <a:xfrm>
            <a:off x="8341552" y="4356232"/>
            <a:ext cx="433507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 — / tháng</a:t>
            </a:r>
            <a:endParaRPr lang="en-US" sz="1800" dirty="0"/>
          </a:p>
        </p:txBody>
      </p:sp>
      <p:sp>
        <p:nvSpPr>
          <p:cNvPr id="24" name="Shape 22"/>
          <p:cNvSpPr/>
          <p:nvPr/>
        </p:nvSpPr>
        <p:spPr>
          <a:xfrm>
            <a:off x="12765650" y="4885531"/>
            <a:ext cx="4368767" cy="10583"/>
          </a:xfrm>
          <a:prstGeom prst="rect">
            <a:avLst/>
          </a:prstGeom>
          <a:solidFill>
            <a:srgbClr val="E2E7E5"/>
          </a:solidFill>
          <a:ln/>
        </p:spPr>
      </p:sp>
      <p:sp>
        <p:nvSpPr>
          <p:cNvPr id="25" name="Text 23"/>
          <p:cNvSpPr/>
          <p:nvPr/>
        </p:nvSpPr>
        <p:spPr>
          <a:xfrm>
            <a:off x="12994250" y="4356232"/>
            <a:ext cx="4042630"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Custom</a:t>
            </a:r>
            <a:endParaRPr lang="en-US" sz="1800" dirty="0"/>
          </a:p>
        </p:txBody>
      </p:sp>
      <p:sp>
        <p:nvSpPr>
          <p:cNvPr id="26" name="Shape 24"/>
          <p:cNvSpPr/>
          <p:nvPr/>
        </p:nvSpPr>
        <p:spPr>
          <a:xfrm>
            <a:off x="1153583" y="4896115"/>
            <a:ext cx="3676385" cy="749432"/>
          </a:xfrm>
          <a:prstGeom prst="rect">
            <a:avLst/>
          </a:prstGeom>
          <a:solidFill>
            <a:srgbClr val="F7F9F8"/>
          </a:solidFill>
          <a:ln/>
        </p:spPr>
      </p:sp>
      <p:sp>
        <p:nvSpPr>
          <p:cNvPr id="27" name="Shape 25"/>
          <p:cNvSpPr/>
          <p:nvPr/>
        </p:nvSpPr>
        <p:spPr>
          <a:xfrm>
            <a:off x="1153583" y="5634964"/>
            <a:ext cx="3676385" cy="10583"/>
          </a:xfrm>
          <a:prstGeom prst="rect">
            <a:avLst/>
          </a:prstGeom>
          <a:solidFill>
            <a:srgbClr val="E2E7E5"/>
          </a:solidFill>
          <a:ln/>
        </p:spPr>
      </p:sp>
      <p:sp>
        <p:nvSpPr>
          <p:cNvPr id="28" name="Text 26"/>
          <p:cNvSpPr/>
          <p:nvPr/>
        </p:nvSpPr>
        <p:spPr>
          <a:xfrm>
            <a:off x="1382183" y="5105665"/>
            <a:ext cx="3329477"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MODULE</a:t>
            </a:r>
            <a:endParaRPr lang="en-US" sz="1800" dirty="0"/>
          </a:p>
        </p:txBody>
      </p:sp>
      <p:sp>
        <p:nvSpPr>
          <p:cNvPr id="29" name="Shape 27"/>
          <p:cNvSpPr/>
          <p:nvPr/>
        </p:nvSpPr>
        <p:spPr>
          <a:xfrm>
            <a:off x="4829969" y="5634964"/>
            <a:ext cx="3282983" cy="10583"/>
          </a:xfrm>
          <a:prstGeom prst="rect">
            <a:avLst/>
          </a:prstGeom>
          <a:solidFill>
            <a:srgbClr val="E2E7E5"/>
          </a:solidFill>
          <a:ln/>
        </p:spPr>
      </p:sp>
      <p:sp>
        <p:nvSpPr>
          <p:cNvPr id="30" name="Text 28"/>
          <p:cNvSpPr/>
          <p:nvPr/>
        </p:nvSpPr>
        <p:spPr>
          <a:xfrm>
            <a:off x="5058569" y="5105665"/>
            <a:ext cx="292427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1 module Pack A</a:t>
            </a:r>
            <a:endParaRPr lang="en-US" sz="1800" dirty="0"/>
          </a:p>
        </p:txBody>
      </p:sp>
      <p:sp>
        <p:nvSpPr>
          <p:cNvPr id="31" name="Shape 29"/>
          <p:cNvSpPr/>
          <p:nvPr/>
        </p:nvSpPr>
        <p:spPr>
          <a:xfrm>
            <a:off x="8112952" y="4896115"/>
            <a:ext cx="4652698" cy="749432"/>
          </a:xfrm>
          <a:prstGeom prst="rect">
            <a:avLst/>
          </a:prstGeom>
          <a:solidFill>
            <a:srgbClr val="00B26A">
              <a:alpha val="6000"/>
            </a:srgbClr>
          </a:solidFill>
          <a:ln/>
        </p:spPr>
      </p:sp>
      <p:sp>
        <p:nvSpPr>
          <p:cNvPr id="32" name="Shape 30"/>
          <p:cNvSpPr/>
          <p:nvPr/>
        </p:nvSpPr>
        <p:spPr>
          <a:xfrm>
            <a:off x="8112952" y="5634964"/>
            <a:ext cx="4652698" cy="10583"/>
          </a:xfrm>
          <a:prstGeom prst="rect">
            <a:avLst/>
          </a:prstGeom>
          <a:solidFill>
            <a:srgbClr val="E2E7E5"/>
          </a:solidFill>
          <a:ln/>
        </p:spPr>
      </p:sp>
      <p:sp>
        <p:nvSpPr>
          <p:cNvPr id="33" name="Text 31"/>
          <p:cNvSpPr/>
          <p:nvPr/>
        </p:nvSpPr>
        <p:spPr>
          <a:xfrm>
            <a:off x="8341552" y="5105665"/>
            <a:ext cx="433507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2 combo (Sync + Action)</a:t>
            </a:r>
            <a:endParaRPr lang="en-US" sz="1800" dirty="0"/>
          </a:p>
        </p:txBody>
      </p:sp>
      <p:sp>
        <p:nvSpPr>
          <p:cNvPr id="34" name="Shape 32"/>
          <p:cNvSpPr/>
          <p:nvPr/>
        </p:nvSpPr>
        <p:spPr>
          <a:xfrm>
            <a:off x="12765650" y="5634964"/>
            <a:ext cx="4368767" cy="10583"/>
          </a:xfrm>
          <a:prstGeom prst="rect">
            <a:avLst/>
          </a:prstGeom>
          <a:solidFill>
            <a:srgbClr val="E2E7E5"/>
          </a:solidFill>
          <a:ln/>
        </p:spPr>
      </p:sp>
      <p:sp>
        <p:nvSpPr>
          <p:cNvPr id="35" name="Text 33"/>
          <p:cNvSpPr/>
          <p:nvPr/>
        </p:nvSpPr>
        <p:spPr>
          <a:xfrm>
            <a:off x="12994250" y="5105665"/>
            <a:ext cx="4042630"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Tất cả + roadmap ưu tiên</a:t>
            </a:r>
            <a:endParaRPr lang="en-US" sz="1800" dirty="0"/>
          </a:p>
        </p:txBody>
      </p:sp>
      <p:sp>
        <p:nvSpPr>
          <p:cNvPr id="36" name="Shape 34"/>
          <p:cNvSpPr/>
          <p:nvPr/>
        </p:nvSpPr>
        <p:spPr>
          <a:xfrm>
            <a:off x="1153583" y="5645547"/>
            <a:ext cx="3676385" cy="749432"/>
          </a:xfrm>
          <a:prstGeom prst="rect">
            <a:avLst/>
          </a:prstGeom>
          <a:solidFill>
            <a:srgbClr val="F7F9F8"/>
          </a:solidFill>
          <a:ln/>
        </p:spPr>
      </p:sp>
      <p:sp>
        <p:nvSpPr>
          <p:cNvPr id="37" name="Shape 35"/>
          <p:cNvSpPr/>
          <p:nvPr/>
        </p:nvSpPr>
        <p:spPr>
          <a:xfrm>
            <a:off x="1153583" y="6384396"/>
            <a:ext cx="3676385" cy="10583"/>
          </a:xfrm>
          <a:prstGeom prst="rect">
            <a:avLst/>
          </a:prstGeom>
          <a:solidFill>
            <a:srgbClr val="E2E7E5"/>
          </a:solidFill>
          <a:ln/>
        </p:spPr>
      </p:sp>
      <p:sp>
        <p:nvSpPr>
          <p:cNvPr id="38" name="Text 36"/>
          <p:cNvSpPr/>
          <p:nvPr/>
        </p:nvSpPr>
        <p:spPr>
          <a:xfrm>
            <a:off x="1382183" y="5855097"/>
            <a:ext cx="3329477"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KHÁCH TRIỂN KHAI</a:t>
            </a:r>
            <a:endParaRPr lang="en-US" sz="1800" dirty="0"/>
          </a:p>
        </p:txBody>
      </p:sp>
      <p:sp>
        <p:nvSpPr>
          <p:cNvPr id="39" name="Shape 37"/>
          <p:cNvSpPr/>
          <p:nvPr/>
        </p:nvSpPr>
        <p:spPr>
          <a:xfrm>
            <a:off x="4829969" y="6384396"/>
            <a:ext cx="3282983" cy="10583"/>
          </a:xfrm>
          <a:prstGeom prst="rect">
            <a:avLst/>
          </a:prstGeom>
          <a:solidFill>
            <a:srgbClr val="E2E7E5"/>
          </a:solidFill>
          <a:ln/>
        </p:spPr>
      </p:sp>
      <p:sp>
        <p:nvSpPr>
          <p:cNvPr id="40" name="Text 38"/>
          <p:cNvSpPr/>
          <p:nvPr/>
        </p:nvSpPr>
        <p:spPr>
          <a:xfrm>
            <a:off x="5058569" y="5855097"/>
            <a:ext cx="292427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Đến 5 đồng thời</a:t>
            </a:r>
            <a:endParaRPr lang="en-US" sz="1800" dirty="0"/>
          </a:p>
        </p:txBody>
      </p:sp>
      <p:sp>
        <p:nvSpPr>
          <p:cNvPr id="41" name="Shape 39"/>
          <p:cNvSpPr/>
          <p:nvPr/>
        </p:nvSpPr>
        <p:spPr>
          <a:xfrm>
            <a:off x="8112952" y="5645547"/>
            <a:ext cx="4652698" cy="749432"/>
          </a:xfrm>
          <a:prstGeom prst="rect">
            <a:avLst/>
          </a:prstGeom>
          <a:solidFill>
            <a:srgbClr val="00B26A">
              <a:alpha val="6000"/>
            </a:srgbClr>
          </a:solidFill>
          <a:ln/>
        </p:spPr>
      </p:sp>
      <p:sp>
        <p:nvSpPr>
          <p:cNvPr id="42" name="Shape 40"/>
          <p:cNvSpPr/>
          <p:nvPr/>
        </p:nvSpPr>
        <p:spPr>
          <a:xfrm>
            <a:off x="8112952" y="6384396"/>
            <a:ext cx="4652698" cy="10583"/>
          </a:xfrm>
          <a:prstGeom prst="rect">
            <a:avLst/>
          </a:prstGeom>
          <a:solidFill>
            <a:srgbClr val="E2E7E5"/>
          </a:solidFill>
          <a:ln/>
        </p:spPr>
      </p:sp>
      <p:sp>
        <p:nvSpPr>
          <p:cNvPr id="43" name="Text 41"/>
          <p:cNvSpPr/>
          <p:nvPr/>
        </p:nvSpPr>
        <p:spPr>
          <a:xfrm>
            <a:off x="8341552" y="5855097"/>
            <a:ext cx="433507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Đến 30 đồng thời</a:t>
            </a:r>
            <a:endParaRPr lang="en-US" sz="1800" dirty="0"/>
          </a:p>
        </p:txBody>
      </p:sp>
      <p:sp>
        <p:nvSpPr>
          <p:cNvPr id="44" name="Shape 42"/>
          <p:cNvSpPr/>
          <p:nvPr/>
        </p:nvSpPr>
        <p:spPr>
          <a:xfrm>
            <a:off x="12765650" y="6384396"/>
            <a:ext cx="4368767" cy="10583"/>
          </a:xfrm>
          <a:prstGeom prst="rect">
            <a:avLst/>
          </a:prstGeom>
          <a:solidFill>
            <a:srgbClr val="E2E7E5"/>
          </a:solidFill>
          <a:ln/>
        </p:spPr>
      </p:sp>
      <p:sp>
        <p:nvSpPr>
          <p:cNvPr id="45" name="Text 43"/>
          <p:cNvSpPr/>
          <p:nvPr/>
        </p:nvSpPr>
        <p:spPr>
          <a:xfrm>
            <a:off x="12994250" y="5855097"/>
            <a:ext cx="4042630"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Không giới hạn</a:t>
            </a:r>
            <a:endParaRPr lang="en-US" sz="1800" dirty="0"/>
          </a:p>
        </p:txBody>
      </p:sp>
      <p:sp>
        <p:nvSpPr>
          <p:cNvPr id="46" name="Shape 44"/>
          <p:cNvSpPr/>
          <p:nvPr/>
        </p:nvSpPr>
        <p:spPr>
          <a:xfrm>
            <a:off x="1153583" y="6394979"/>
            <a:ext cx="3676385" cy="749432"/>
          </a:xfrm>
          <a:prstGeom prst="rect">
            <a:avLst/>
          </a:prstGeom>
          <a:solidFill>
            <a:srgbClr val="F7F9F8"/>
          </a:solidFill>
          <a:ln/>
        </p:spPr>
      </p:sp>
      <p:sp>
        <p:nvSpPr>
          <p:cNvPr id="47" name="Shape 45"/>
          <p:cNvSpPr/>
          <p:nvPr/>
        </p:nvSpPr>
        <p:spPr>
          <a:xfrm>
            <a:off x="1153583" y="7133828"/>
            <a:ext cx="3676385" cy="10583"/>
          </a:xfrm>
          <a:prstGeom prst="rect">
            <a:avLst/>
          </a:prstGeom>
          <a:solidFill>
            <a:srgbClr val="E2E7E5"/>
          </a:solidFill>
          <a:ln/>
        </p:spPr>
      </p:sp>
      <p:sp>
        <p:nvSpPr>
          <p:cNvPr id="48" name="Text 46"/>
          <p:cNvSpPr/>
          <p:nvPr/>
        </p:nvSpPr>
        <p:spPr>
          <a:xfrm>
            <a:off x="1382183" y="6604529"/>
            <a:ext cx="3329477"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SUPPORT</a:t>
            </a:r>
            <a:endParaRPr lang="en-US" sz="1800" dirty="0"/>
          </a:p>
        </p:txBody>
      </p:sp>
      <p:sp>
        <p:nvSpPr>
          <p:cNvPr id="49" name="Shape 47"/>
          <p:cNvSpPr/>
          <p:nvPr/>
        </p:nvSpPr>
        <p:spPr>
          <a:xfrm>
            <a:off x="4829969" y="7133828"/>
            <a:ext cx="3282983" cy="10583"/>
          </a:xfrm>
          <a:prstGeom prst="rect">
            <a:avLst/>
          </a:prstGeom>
          <a:solidFill>
            <a:srgbClr val="E2E7E5"/>
          </a:solidFill>
          <a:ln/>
        </p:spPr>
      </p:sp>
      <p:sp>
        <p:nvSpPr>
          <p:cNvPr id="50" name="Text 48"/>
          <p:cNvSpPr/>
          <p:nvPr/>
        </p:nvSpPr>
        <p:spPr>
          <a:xfrm>
            <a:off x="5058569" y="6604529"/>
            <a:ext cx="292427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Community + email</a:t>
            </a:r>
            <a:endParaRPr lang="en-US" sz="1800" dirty="0"/>
          </a:p>
        </p:txBody>
      </p:sp>
      <p:sp>
        <p:nvSpPr>
          <p:cNvPr id="51" name="Shape 49"/>
          <p:cNvSpPr/>
          <p:nvPr/>
        </p:nvSpPr>
        <p:spPr>
          <a:xfrm>
            <a:off x="8112952" y="6394979"/>
            <a:ext cx="4652698" cy="749432"/>
          </a:xfrm>
          <a:prstGeom prst="rect">
            <a:avLst/>
          </a:prstGeom>
          <a:solidFill>
            <a:srgbClr val="00B26A">
              <a:alpha val="6000"/>
            </a:srgbClr>
          </a:solidFill>
          <a:ln/>
        </p:spPr>
      </p:sp>
      <p:sp>
        <p:nvSpPr>
          <p:cNvPr id="52" name="Shape 50"/>
          <p:cNvSpPr/>
          <p:nvPr/>
        </p:nvSpPr>
        <p:spPr>
          <a:xfrm>
            <a:off x="8112952" y="7133828"/>
            <a:ext cx="4652698" cy="10583"/>
          </a:xfrm>
          <a:prstGeom prst="rect">
            <a:avLst/>
          </a:prstGeom>
          <a:solidFill>
            <a:srgbClr val="E2E7E5"/>
          </a:solidFill>
          <a:ln/>
        </p:spPr>
      </p:sp>
      <p:sp>
        <p:nvSpPr>
          <p:cNvPr id="53" name="Text 51"/>
          <p:cNvSpPr/>
          <p:nvPr/>
        </p:nvSpPr>
        <p:spPr>
          <a:xfrm>
            <a:off x="8341552" y="6604529"/>
            <a:ext cx="433507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Partner Success Manager</a:t>
            </a:r>
            <a:endParaRPr lang="en-US" sz="1800" dirty="0"/>
          </a:p>
        </p:txBody>
      </p:sp>
      <p:sp>
        <p:nvSpPr>
          <p:cNvPr id="54" name="Shape 52"/>
          <p:cNvSpPr/>
          <p:nvPr/>
        </p:nvSpPr>
        <p:spPr>
          <a:xfrm>
            <a:off x="12765650" y="7133828"/>
            <a:ext cx="4368767" cy="10583"/>
          </a:xfrm>
          <a:prstGeom prst="rect">
            <a:avLst/>
          </a:prstGeom>
          <a:solidFill>
            <a:srgbClr val="E2E7E5"/>
          </a:solidFill>
          <a:ln/>
        </p:spPr>
      </p:sp>
      <p:sp>
        <p:nvSpPr>
          <p:cNvPr id="55" name="Text 53"/>
          <p:cNvSpPr/>
          <p:nvPr/>
        </p:nvSpPr>
        <p:spPr>
          <a:xfrm>
            <a:off x="12994250" y="6604529"/>
            <a:ext cx="4042630"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SLA 99.9% + dedicated CSM</a:t>
            </a:r>
            <a:endParaRPr lang="en-US" sz="1800" dirty="0"/>
          </a:p>
        </p:txBody>
      </p:sp>
      <p:sp>
        <p:nvSpPr>
          <p:cNvPr id="56" name="Shape 54"/>
          <p:cNvSpPr/>
          <p:nvPr/>
        </p:nvSpPr>
        <p:spPr>
          <a:xfrm>
            <a:off x="1153583" y="7144412"/>
            <a:ext cx="3676385" cy="749432"/>
          </a:xfrm>
          <a:prstGeom prst="rect">
            <a:avLst/>
          </a:prstGeom>
          <a:solidFill>
            <a:srgbClr val="F7F9F8"/>
          </a:solidFill>
          <a:ln/>
        </p:spPr>
      </p:sp>
      <p:sp>
        <p:nvSpPr>
          <p:cNvPr id="57" name="Shape 55"/>
          <p:cNvSpPr/>
          <p:nvPr/>
        </p:nvSpPr>
        <p:spPr>
          <a:xfrm>
            <a:off x="1153583" y="7883261"/>
            <a:ext cx="3676385" cy="10583"/>
          </a:xfrm>
          <a:prstGeom prst="rect">
            <a:avLst/>
          </a:prstGeom>
          <a:solidFill>
            <a:srgbClr val="E2E7E5"/>
          </a:solidFill>
          <a:ln/>
        </p:spPr>
      </p:sp>
      <p:sp>
        <p:nvSpPr>
          <p:cNvPr id="58" name="Text 56"/>
          <p:cNvSpPr/>
          <p:nvPr/>
        </p:nvSpPr>
        <p:spPr>
          <a:xfrm>
            <a:off x="1382183" y="7353962"/>
            <a:ext cx="3329477"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ĐẶC QUYỀN</a:t>
            </a:r>
            <a:endParaRPr lang="en-US" sz="1800" dirty="0"/>
          </a:p>
        </p:txBody>
      </p:sp>
      <p:sp>
        <p:nvSpPr>
          <p:cNvPr id="59" name="Shape 57"/>
          <p:cNvSpPr/>
          <p:nvPr/>
        </p:nvSpPr>
        <p:spPr>
          <a:xfrm>
            <a:off x="4829969" y="7883261"/>
            <a:ext cx="3282983" cy="10583"/>
          </a:xfrm>
          <a:prstGeom prst="rect">
            <a:avLst/>
          </a:prstGeom>
          <a:solidFill>
            <a:srgbClr val="E2E7E5"/>
          </a:solidFill>
          <a:ln/>
        </p:spPr>
      </p:sp>
      <p:sp>
        <p:nvSpPr>
          <p:cNvPr id="60" name="Text 58"/>
          <p:cNvSpPr/>
          <p:nvPr/>
        </p:nvSpPr>
        <p:spPr>
          <a:xfrm>
            <a:off x="5058569" y="7353962"/>
            <a:ext cx="292427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a:t>
            </a:r>
            <a:endParaRPr lang="en-US" sz="1800" dirty="0"/>
          </a:p>
        </p:txBody>
      </p:sp>
      <p:sp>
        <p:nvSpPr>
          <p:cNvPr id="61" name="Shape 59"/>
          <p:cNvSpPr/>
          <p:nvPr/>
        </p:nvSpPr>
        <p:spPr>
          <a:xfrm>
            <a:off x="8112952" y="7144412"/>
            <a:ext cx="4652698" cy="749432"/>
          </a:xfrm>
          <a:prstGeom prst="rect">
            <a:avLst/>
          </a:prstGeom>
          <a:solidFill>
            <a:srgbClr val="00B26A">
              <a:alpha val="6000"/>
            </a:srgbClr>
          </a:solidFill>
          <a:ln/>
        </p:spPr>
      </p:sp>
      <p:sp>
        <p:nvSpPr>
          <p:cNvPr id="62" name="Shape 60"/>
          <p:cNvSpPr/>
          <p:nvPr/>
        </p:nvSpPr>
        <p:spPr>
          <a:xfrm>
            <a:off x="8112952" y="7883261"/>
            <a:ext cx="4652698" cy="10583"/>
          </a:xfrm>
          <a:prstGeom prst="rect">
            <a:avLst/>
          </a:prstGeom>
          <a:solidFill>
            <a:srgbClr val="E2E7E5"/>
          </a:solidFill>
          <a:ln/>
        </p:spPr>
      </p:sp>
      <p:sp>
        <p:nvSpPr>
          <p:cNvPr id="63" name="Text 61"/>
          <p:cNvSpPr/>
          <p:nvPr/>
        </p:nvSpPr>
        <p:spPr>
          <a:xfrm>
            <a:off x="8341552" y="7353962"/>
            <a:ext cx="433507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Co-marketing, API credit dev</a:t>
            </a:r>
            <a:endParaRPr lang="en-US" sz="1800" dirty="0"/>
          </a:p>
        </p:txBody>
      </p:sp>
      <p:sp>
        <p:nvSpPr>
          <p:cNvPr id="64" name="Shape 62"/>
          <p:cNvSpPr/>
          <p:nvPr/>
        </p:nvSpPr>
        <p:spPr>
          <a:xfrm>
            <a:off x="12765650" y="7883261"/>
            <a:ext cx="4368767" cy="10583"/>
          </a:xfrm>
          <a:prstGeom prst="rect">
            <a:avLst/>
          </a:prstGeom>
          <a:solidFill>
            <a:srgbClr val="E2E7E5"/>
          </a:solidFill>
          <a:ln/>
        </p:spPr>
      </p:sp>
      <p:sp>
        <p:nvSpPr>
          <p:cNvPr id="65" name="Text 63"/>
          <p:cNvSpPr/>
          <p:nvPr/>
        </p:nvSpPr>
        <p:spPr>
          <a:xfrm>
            <a:off x="12994250" y="7353962"/>
            <a:ext cx="4042630"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White-label, revenue share</a:t>
            </a:r>
            <a:endParaRPr lang="en-US" sz="1800" dirty="0"/>
          </a:p>
        </p:txBody>
      </p:sp>
      <p:sp>
        <p:nvSpPr>
          <p:cNvPr id="66" name="Shape 64"/>
          <p:cNvSpPr/>
          <p:nvPr/>
        </p:nvSpPr>
        <p:spPr>
          <a:xfrm>
            <a:off x="1153583" y="7893844"/>
            <a:ext cx="3676385" cy="738849"/>
          </a:xfrm>
          <a:prstGeom prst="rect">
            <a:avLst/>
          </a:prstGeom>
          <a:solidFill>
            <a:srgbClr val="F7F9F8"/>
          </a:solidFill>
          <a:ln/>
        </p:spPr>
      </p:sp>
      <p:sp>
        <p:nvSpPr>
          <p:cNvPr id="67" name="Text 65"/>
          <p:cNvSpPr/>
          <p:nvPr/>
        </p:nvSpPr>
        <p:spPr>
          <a:xfrm>
            <a:off x="1382183" y="8103394"/>
            <a:ext cx="3329477"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AUDIENCE</a:t>
            </a:r>
            <a:endParaRPr lang="en-US" sz="1800" dirty="0"/>
          </a:p>
        </p:txBody>
      </p:sp>
      <p:sp>
        <p:nvSpPr>
          <p:cNvPr id="68" name="Text 66"/>
          <p:cNvSpPr/>
          <p:nvPr/>
        </p:nvSpPr>
        <p:spPr>
          <a:xfrm>
            <a:off x="5058569" y="8103394"/>
            <a:ext cx="292427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Partner mới onboard</a:t>
            </a:r>
            <a:endParaRPr lang="en-US" sz="1800" dirty="0"/>
          </a:p>
        </p:txBody>
      </p:sp>
      <p:sp>
        <p:nvSpPr>
          <p:cNvPr id="69" name="Shape 67"/>
          <p:cNvSpPr/>
          <p:nvPr/>
        </p:nvSpPr>
        <p:spPr>
          <a:xfrm>
            <a:off x="8112952" y="7893844"/>
            <a:ext cx="4652698" cy="738849"/>
          </a:xfrm>
          <a:prstGeom prst="rect">
            <a:avLst/>
          </a:prstGeom>
          <a:solidFill>
            <a:srgbClr val="00B26A">
              <a:alpha val="6000"/>
            </a:srgbClr>
          </a:solidFill>
          <a:ln/>
        </p:spPr>
      </p:sp>
      <p:sp>
        <p:nvSpPr>
          <p:cNvPr id="70" name="Text 68"/>
          <p:cNvSpPr/>
          <p:nvPr/>
        </p:nvSpPr>
        <p:spPr>
          <a:xfrm>
            <a:off x="8341552" y="8103394"/>
            <a:ext cx="433507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Partner scale 10–30 khách</a:t>
            </a:r>
            <a:endParaRPr lang="en-US" sz="1800" dirty="0"/>
          </a:p>
        </p:txBody>
      </p:sp>
      <p:sp>
        <p:nvSpPr>
          <p:cNvPr id="71" name="Text 69"/>
          <p:cNvSpPr/>
          <p:nvPr/>
        </p:nvSpPr>
        <p:spPr>
          <a:xfrm>
            <a:off x="12994250" y="8103394"/>
            <a:ext cx="4042630"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Top 5 partner Odoo VN</a:t>
            </a:r>
            <a:endParaRPr lang="en-US" sz="1800" dirty="0"/>
          </a:p>
        </p:txBody>
      </p:sp>
      <p:sp>
        <p:nvSpPr>
          <p:cNvPr id="72" name="Text 70"/>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19 / 24</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C · 06 · PRICING TIERS — END-USER</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Tiers cho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End-user Enterprise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 3 bậc, theo nhu cầu compliance.</a:t>
            </a:r>
            <a:endParaRPr lang="en-US" sz="5400" dirty="0"/>
          </a:p>
        </p:txBody>
      </p:sp>
      <p:sp>
        <p:nvSpPr>
          <p:cNvPr id="4" name="Shape 2"/>
          <p:cNvSpPr/>
          <p:nvPr/>
        </p:nvSpPr>
        <p:spPr>
          <a:xfrm>
            <a:off x="1143000" y="3359712"/>
            <a:ext cx="16002001" cy="5283564"/>
          </a:xfrm>
          <a:prstGeom prst="roundRect">
            <a:avLst>
              <a:gd name="adj" fmla="val 3245"/>
            </a:avLst>
          </a:prstGeom>
          <a:solidFill>
            <a:srgbClr val="FFFFFF"/>
          </a:solidFill>
          <a:ln w="10583">
            <a:solidFill>
              <a:srgbClr val="E2E7E5"/>
            </a:solidFill>
            <a:prstDash val="solid"/>
          </a:ln>
        </p:spPr>
      </p:sp>
      <p:sp>
        <p:nvSpPr>
          <p:cNvPr id="5" name="Shape 3"/>
          <p:cNvSpPr/>
          <p:nvPr/>
        </p:nvSpPr>
        <p:spPr>
          <a:xfrm>
            <a:off x="1153583" y="3370296"/>
            <a:ext cx="2530244" cy="776387"/>
          </a:xfrm>
          <a:prstGeom prst="rect">
            <a:avLst/>
          </a:prstGeom>
          <a:solidFill>
            <a:srgbClr val="F7F9F8"/>
          </a:solidFill>
          <a:ln/>
        </p:spPr>
      </p:sp>
      <p:sp>
        <p:nvSpPr>
          <p:cNvPr id="6" name="Shape 4"/>
          <p:cNvSpPr/>
          <p:nvPr/>
        </p:nvSpPr>
        <p:spPr>
          <a:xfrm>
            <a:off x="1153583" y="4136099"/>
            <a:ext cx="2530244" cy="10583"/>
          </a:xfrm>
          <a:prstGeom prst="rect">
            <a:avLst/>
          </a:prstGeom>
          <a:solidFill>
            <a:srgbClr val="E2E7E5"/>
          </a:solidFill>
          <a:ln/>
        </p:spPr>
      </p:sp>
      <p:sp>
        <p:nvSpPr>
          <p:cNvPr id="7" name="Shape 5"/>
          <p:cNvSpPr/>
          <p:nvPr/>
        </p:nvSpPr>
        <p:spPr>
          <a:xfrm>
            <a:off x="3683827" y="3370296"/>
            <a:ext cx="4001162" cy="776387"/>
          </a:xfrm>
          <a:prstGeom prst="rect">
            <a:avLst/>
          </a:prstGeom>
          <a:solidFill>
            <a:srgbClr val="F7F9F8"/>
          </a:solidFill>
          <a:ln/>
        </p:spPr>
      </p:sp>
      <p:sp>
        <p:nvSpPr>
          <p:cNvPr id="8" name="Shape 6"/>
          <p:cNvSpPr/>
          <p:nvPr/>
        </p:nvSpPr>
        <p:spPr>
          <a:xfrm>
            <a:off x="3683827" y="4136099"/>
            <a:ext cx="4001162" cy="10583"/>
          </a:xfrm>
          <a:prstGeom prst="rect">
            <a:avLst/>
          </a:prstGeom>
          <a:solidFill>
            <a:srgbClr val="E2E7E5"/>
          </a:solidFill>
          <a:ln/>
        </p:spPr>
      </p:sp>
      <p:sp>
        <p:nvSpPr>
          <p:cNvPr id="9" name="Text 7"/>
          <p:cNvSpPr/>
          <p:nvPr/>
        </p:nvSpPr>
        <p:spPr>
          <a:xfrm>
            <a:off x="3912427" y="3579846"/>
            <a:ext cx="3663996" cy="384803"/>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0F1311"/>
                </a:solidFill>
                <a:latin typeface="Arial" pitchFamily="34" charset="0"/>
                <a:ea typeface="Arial" pitchFamily="34" charset="-122"/>
                <a:cs typeface="Arial" pitchFamily="34" charset="-120"/>
              </a:rPr>
              <a:t>Self-serve</a:t>
            </a:r>
            <a:endParaRPr lang="en-US" sz="1950" dirty="0"/>
          </a:p>
        </p:txBody>
      </p:sp>
      <p:sp>
        <p:nvSpPr>
          <p:cNvPr id="10" name="Shape 8"/>
          <p:cNvSpPr/>
          <p:nvPr/>
        </p:nvSpPr>
        <p:spPr>
          <a:xfrm>
            <a:off x="7684988" y="3370296"/>
            <a:ext cx="4532643" cy="776387"/>
          </a:xfrm>
          <a:prstGeom prst="rect">
            <a:avLst/>
          </a:prstGeom>
          <a:solidFill>
            <a:srgbClr val="001A12"/>
          </a:solidFill>
          <a:ln/>
        </p:spPr>
      </p:sp>
      <p:sp>
        <p:nvSpPr>
          <p:cNvPr id="11" name="Shape 9"/>
          <p:cNvSpPr/>
          <p:nvPr/>
        </p:nvSpPr>
        <p:spPr>
          <a:xfrm>
            <a:off x="7684988" y="4136099"/>
            <a:ext cx="4532643" cy="10583"/>
          </a:xfrm>
          <a:prstGeom prst="rect">
            <a:avLst/>
          </a:prstGeom>
          <a:solidFill>
            <a:srgbClr val="E2E7E5"/>
          </a:solidFill>
          <a:ln/>
        </p:spPr>
      </p:sp>
      <p:sp>
        <p:nvSpPr>
          <p:cNvPr id="12" name="Text 10"/>
          <p:cNvSpPr/>
          <p:nvPr/>
        </p:nvSpPr>
        <p:spPr>
          <a:xfrm>
            <a:off x="7913588" y="3579846"/>
            <a:ext cx="4211423" cy="384803"/>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FFFFFF"/>
                </a:solidFill>
                <a:latin typeface="Arial" pitchFamily="34" charset="0"/>
                <a:ea typeface="Arial" pitchFamily="34" charset="-122"/>
                <a:cs typeface="Arial" pitchFamily="34" charset="-120"/>
              </a:rPr>
              <a:t>Business · sweet spot</a:t>
            </a:r>
            <a:endParaRPr lang="en-US" sz="1950" dirty="0"/>
          </a:p>
        </p:txBody>
      </p:sp>
      <p:sp>
        <p:nvSpPr>
          <p:cNvPr id="13" name="Shape 11"/>
          <p:cNvSpPr/>
          <p:nvPr/>
        </p:nvSpPr>
        <p:spPr>
          <a:xfrm>
            <a:off x="12217632" y="3370296"/>
            <a:ext cx="4916785" cy="776387"/>
          </a:xfrm>
          <a:prstGeom prst="rect">
            <a:avLst/>
          </a:prstGeom>
          <a:solidFill>
            <a:srgbClr val="F7F9F8"/>
          </a:solidFill>
          <a:ln/>
        </p:spPr>
      </p:sp>
      <p:sp>
        <p:nvSpPr>
          <p:cNvPr id="14" name="Shape 12"/>
          <p:cNvSpPr/>
          <p:nvPr/>
        </p:nvSpPr>
        <p:spPr>
          <a:xfrm>
            <a:off x="12217632" y="4136099"/>
            <a:ext cx="4916785" cy="10583"/>
          </a:xfrm>
          <a:prstGeom prst="rect">
            <a:avLst/>
          </a:prstGeom>
          <a:solidFill>
            <a:srgbClr val="E2E7E5"/>
          </a:solidFill>
          <a:ln/>
        </p:spPr>
      </p:sp>
      <p:sp>
        <p:nvSpPr>
          <p:cNvPr id="15" name="Text 13"/>
          <p:cNvSpPr/>
          <p:nvPr/>
        </p:nvSpPr>
        <p:spPr>
          <a:xfrm>
            <a:off x="12446232" y="3579846"/>
            <a:ext cx="4607089" cy="384803"/>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0F1311"/>
                </a:solidFill>
                <a:latin typeface="Arial" pitchFamily="34" charset="0"/>
                <a:ea typeface="Arial" pitchFamily="34" charset="-122"/>
                <a:cs typeface="Arial" pitchFamily="34" charset="-120"/>
              </a:rPr>
              <a:t>Enterprise</a:t>
            </a:r>
            <a:endParaRPr lang="en-US" sz="1950" dirty="0"/>
          </a:p>
        </p:txBody>
      </p:sp>
      <p:sp>
        <p:nvSpPr>
          <p:cNvPr id="16" name="Shape 14"/>
          <p:cNvSpPr/>
          <p:nvPr/>
        </p:nvSpPr>
        <p:spPr>
          <a:xfrm>
            <a:off x="1153583" y="4146682"/>
            <a:ext cx="2530244" cy="749432"/>
          </a:xfrm>
          <a:prstGeom prst="rect">
            <a:avLst/>
          </a:prstGeom>
          <a:solidFill>
            <a:srgbClr val="F7F9F8"/>
          </a:solidFill>
          <a:ln/>
        </p:spPr>
      </p:sp>
      <p:sp>
        <p:nvSpPr>
          <p:cNvPr id="17" name="Shape 15"/>
          <p:cNvSpPr/>
          <p:nvPr/>
        </p:nvSpPr>
        <p:spPr>
          <a:xfrm>
            <a:off x="1153583" y="4885531"/>
            <a:ext cx="2530244" cy="10583"/>
          </a:xfrm>
          <a:prstGeom prst="rect">
            <a:avLst/>
          </a:prstGeom>
          <a:solidFill>
            <a:srgbClr val="E2E7E5"/>
          </a:solidFill>
          <a:ln/>
        </p:spPr>
      </p:sp>
      <p:sp>
        <p:nvSpPr>
          <p:cNvPr id="18" name="Text 16"/>
          <p:cNvSpPr/>
          <p:nvPr/>
        </p:nvSpPr>
        <p:spPr>
          <a:xfrm>
            <a:off x="1382183" y="4356232"/>
            <a:ext cx="2149244"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GIÁ</a:t>
            </a:r>
            <a:endParaRPr lang="en-US" sz="1800" dirty="0"/>
          </a:p>
        </p:txBody>
      </p:sp>
      <p:sp>
        <p:nvSpPr>
          <p:cNvPr id="19" name="Shape 17"/>
          <p:cNvSpPr/>
          <p:nvPr/>
        </p:nvSpPr>
        <p:spPr>
          <a:xfrm>
            <a:off x="3683827" y="4885531"/>
            <a:ext cx="4001162" cy="10583"/>
          </a:xfrm>
          <a:prstGeom prst="rect">
            <a:avLst/>
          </a:prstGeom>
          <a:solidFill>
            <a:srgbClr val="E2E7E5"/>
          </a:solidFill>
          <a:ln/>
        </p:spPr>
      </p:sp>
      <p:sp>
        <p:nvSpPr>
          <p:cNvPr id="20" name="Text 18"/>
          <p:cNvSpPr/>
          <p:nvPr/>
        </p:nvSpPr>
        <p:spPr>
          <a:xfrm>
            <a:off x="3912427" y="4356232"/>
            <a:ext cx="3663996"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 — / tháng</a:t>
            </a:r>
            <a:endParaRPr lang="en-US" sz="1800" dirty="0"/>
          </a:p>
        </p:txBody>
      </p:sp>
      <p:sp>
        <p:nvSpPr>
          <p:cNvPr id="21" name="Shape 19"/>
          <p:cNvSpPr/>
          <p:nvPr/>
        </p:nvSpPr>
        <p:spPr>
          <a:xfrm>
            <a:off x="7684988" y="4146682"/>
            <a:ext cx="4532643" cy="749432"/>
          </a:xfrm>
          <a:prstGeom prst="rect">
            <a:avLst/>
          </a:prstGeom>
          <a:solidFill>
            <a:srgbClr val="00B26A">
              <a:alpha val="6000"/>
            </a:srgbClr>
          </a:solidFill>
          <a:ln/>
        </p:spPr>
      </p:sp>
      <p:sp>
        <p:nvSpPr>
          <p:cNvPr id="22" name="Shape 20"/>
          <p:cNvSpPr/>
          <p:nvPr/>
        </p:nvSpPr>
        <p:spPr>
          <a:xfrm>
            <a:off x="7684988" y="4885531"/>
            <a:ext cx="4532643" cy="10583"/>
          </a:xfrm>
          <a:prstGeom prst="rect">
            <a:avLst/>
          </a:prstGeom>
          <a:solidFill>
            <a:srgbClr val="E2E7E5"/>
          </a:solidFill>
          <a:ln/>
        </p:spPr>
      </p:sp>
      <p:sp>
        <p:nvSpPr>
          <p:cNvPr id="23" name="Text 21"/>
          <p:cNvSpPr/>
          <p:nvPr/>
        </p:nvSpPr>
        <p:spPr>
          <a:xfrm>
            <a:off x="7913588" y="4356232"/>
            <a:ext cx="421142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 — / tháng</a:t>
            </a:r>
            <a:endParaRPr lang="en-US" sz="1800" dirty="0"/>
          </a:p>
        </p:txBody>
      </p:sp>
      <p:sp>
        <p:nvSpPr>
          <p:cNvPr id="24" name="Shape 22"/>
          <p:cNvSpPr/>
          <p:nvPr/>
        </p:nvSpPr>
        <p:spPr>
          <a:xfrm>
            <a:off x="12217632" y="4885531"/>
            <a:ext cx="4916785" cy="10583"/>
          </a:xfrm>
          <a:prstGeom prst="rect">
            <a:avLst/>
          </a:prstGeom>
          <a:solidFill>
            <a:srgbClr val="E2E7E5"/>
          </a:solidFill>
          <a:ln/>
        </p:spPr>
      </p:sp>
      <p:sp>
        <p:nvSpPr>
          <p:cNvPr id="25" name="Text 23"/>
          <p:cNvSpPr/>
          <p:nvPr/>
        </p:nvSpPr>
        <p:spPr>
          <a:xfrm>
            <a:off x="12446232" y="4356232"/>
            <a:ext cx="460708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Custom</a:t>
            </a:r>
            <a:endParaRPr lang="en-US" sz="1800" dirty="0"/>
          </a:p>
        </p:txBody>
      </p:sp>
      <p:sp>
        <p:nvSpPr>
          <p:cNvPr id="26" name="Shape 24"/>
          <p:cNvSpPr/>
          <p:nvPr/>
        </p:nvSpPr>
        <p:spPr>
          <a:xfrm>
            <a:off x="1153583" y="4896115"/>
            <a:ext cx="2530244" cy="749432"/>
          </a:xfrm>
          <a:prstGeom prst="rect">
            <a:avLst/>
          </a:prstGeom>
          <a:solidFill>
            <a:srgbClr val="F7F9F8"/>
          </a:solidFill>
          <a:ln/>
        </p:spPr>
      </p:sp>
      <p:sp>
        <p:nvSpPr>
          <p:cNvPr id="27" name="Shape 25"/>
          <p:cNvSpPr/>
          <p:nvPr/>
        </p:nvSpPr>
        <p:spPr>
          <a:xfrm>
            <a:off x="1153583" y="5634964"/>
            <a:ext cx="2530244" cy="10583"/>
          </a:xfrm>
          <a:prstGeom prst="rect">
            <a:avLst/>
          </a:prstGeom>
          <a:solidFill>
            <a:srgbClr val="E2E7E5"/>
          </a:solidFill>
          <a:ln/>
        </p:spPr>
      </p:sp>
      <p:sp>
        <p:nvSpPr>
          <p:cNvPr id="28" name="Text 26"/>
          <p:cNvSpPr/>
          <p:nvPr/>
        </p:nvSpPr>
        <p:spPr>
          <a:xfrm>
            <a:off x="1382183" y="5105665"/>
            <a:ext cx="2149244"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MODULE</a:t>
            </a:r>
            <a:endParaRPr lang="en-US" sz="1800" dirty="0"/>
          </a:p>
        </p:txBody>
      </p:sp>
      <p:sp>
        <p:nvSpPr>
          <p:cNvPr id="29" name="Shape 27"/>
          <p:cNvSpPr/>
          <p:nvPr/>
        </p:nvSpPr>
        <p:spPr>
          <a:xfrm>
            <a:off x="3683827" y="5634964"/>
            <a:ext cx="4001162" cy="10583"/>
          </a:xfrm>
          <a:prstGeom prst="rect">
            <a:avLst/>
          </a:prstGeom>
          <a:solidFill>
            <a:srgbClr val="E2E7E5"/>
          </a:solidFill>
          <a:ln/>
        </p:spPr>
      </p:sp>
      <p:sp>
        <p:nvSpPr>
          <p:cNvPr id="30" name="Text 28"/>
          <p:cNvSpPr/>
          <p:nvPr/>
        </p:nvSpPr>
        <p:spPr>
          <a:xfrm>
            <a:off x="3912427" y="5105665"/>
            <a:ext cx="3663996"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1 module (Bank hoặc Tax)</a:t>
            </a:r>
            <a:endParaRPr lang="en-US" sz="1800" dirty="0"/>
          </a:p>
        </p:txBody>
      </p:sp>
      <p:sp>
        <p:nvSpPr>
          <p:cNvPr id="31" name="Shape 29"/>
          <p:cNvSpPr/>
          <p:nvPr/>
        </p:nvSpPr>
        <p:spPr>
          <a:xfrm>
            <a:off x="7684988" y="4896115"/>
            <a:ext cx="4532643" cy="749432"/>
          </a:xfrm>
          <a:prstGeom prst="rect">
            <a:avLst/>
          </a:prstGeom>
          <a:solidFill>
            <a:srgbClr val="00B26A">
              <a:alpha val="6000"/>
            </a:srgbClr>
          </a:solidFill>
          <a:ln/>
        </p:spPr>
      </p:sp>
      <p:sp>
        <p:nvSpPr>
          <p:cNvPr id="32" name="Shape 30"/>
          <p:cNvSpPr/>
          <p:nvPr/>
        </p:nvSpPr>
        <p:spPr>
          <a:xfrm>
            <a:off x="7684988" y="5634964"/>
            <a:ext cx="4532643" cy="10583"/>
          </a:xfrm>
          <a:prstGeom prst="rect">
            <a:avLst/>
          </a:prstGeom>
          <a:solidFill>
            <a:srgbClr val="E2E7E5"/>
          </a:solidFill>
          <a:ln/>
        </p:spPr>
      </p:sp>
      <p:sp>
        <p:nvSpPr>
          <p:cNvPr id="33" name="Text 31"/>
          <p:cNvSpPr/>
          <p:nvPr/>
        </p:nvSpPr>
        <p:spPr>
          <a:xfrm>
            <a:off x="7913588" y="5105665"/>
            <a:ext cx="421142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Sync Combo (Bank + Tax)</a:t>
            </a:r>
            <a:endParaRPr lang="en-US" sz="1800" dirty="0"/>
          </a:p>
        </p:txBody>
      </p:sp>
      <p:sp>
        <p:nvSpPr>
          <p:cNvPr id="34" name="Shape 32"/>
          <p:cNvSpPr/>
          <p:nvPr/>
        </p:nvSpPr>
        <p:spPr>
          <a:xfrm>
            <a:off x="12217632" y="5634964"/>
            <a:ext cx="4916785" cy="10583"/>
          </a:xfrm>
          <a:prstGeom prst="rect">
            <a:avLst/>
          </a:prstGeom>
          <a:solidFill>
            <a:srgbClr val="E2E7E5"/>
          </a:solidFill>
          <a:ln/>
        </p:spPr>
      </p:sp>
      <p:sp>
        <p:nvSpPr>
          <p:cNvPr id="35" name="Text 33"/>
          <p:cNvSpPr/>
          <p:nvPr/>
        </p:nvSpPr>
        <p:spPr>
          <a:xfrm>
            <a:off x="12446232" y="5105665"/>
            <a:ext cx="460708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Full + Action Combo</a:t>
            </a:r>
            <a:endParaRPr lang="en-US" sz="1800" dirty="0"/>
          </a:p>
        </p:txBody>
      </p:sp>
      <p:sp>
        <p:nvSpPr>
          <p:cNvPr id="36" name="Shape 34"/>
          <p:cNvSpPr/>
          <p:nvPr/>
        </p:nvSpPr>
        <p:spPr>
          <a:xfrm>
            <a:off x="1153583" y="5645547"/>
            <a:ext cx="2530244" cy="749432"/>
          </a:xfrm>
          <a:prstGeom prst="rect">
            <a:avLst/>
          </a:prstGeom>
          <a:solidFill>
            <a:srgbClr val="F7F9F8"/>
          </a:solidFill>
          <a:ln/>
        </p:spPr>
      </p:sp>
      <p:sp>
        <p:nvSpPr>
          <p:cNvPr id="37" name="Shape 35"/>
          <p:cNvSpPr/>
          <p:nvPr/>
        </p:nvSpPr>
        <p:spPr>
          <a:xfrm>
            <a:off x="1153583" y="6384396"/>
            <a:ext cx="2530244" cy="10583"/>
          </a:xfrm>
          <a:prstGeom prst="rect">
            <a:avLst/>
          </a:prstGeom>
          <a:solidFill>
            <a:srgbClr val="E2E7E5"/>
          </a:solidFill>
          <a:ln/>
        </p:spPr>
      </p:sp>
      <p:sp>
        <p:nvSpPr>
          <p:cNvPr id="38" name="Text 36"/>
          <p:cNvSpPr/>
          <p:nvPr/>
        </p:nvSpPr>
        <p:spPr>
          <a:xfrm>
            <a:off x="1382183" y="5855097"/>
            <a:ext cx="2149244"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SCOPE</a:t>
            </a:r>
            <a:endParaRPr lang="en-US" sz="1800" dirty="0"/>
          </a:p>
        </p:txBody>
      </p:sp>
      <p:sp>
        <p:nvSpPr>
          <p:cNvPr id="39" name="Shape 37"/>
          <p:cNvSpPr/>
          <p:nvPr/>
        </p:nvSpPr>
        <p:spPr>
          <a:xfrm>
            <a:off x="3683827" y="6384396"/>
            <a:ext cx="4001162" cy="10583"/>
          </a:xfrm>
          <a:prstGeom prst="rect">
            <a:avLst/>
          </a:prstGeom>
          <a:solidFill>
            <a:srgbClr val="E2E7E5"/>
          </a:solidFill>
          <a:ln/>
        </p:spPr>
      </p:sp>
      <p:sp>
        <p:nvSpPr>
          <p:cNvPr id="40" name="Text 38"/>
          <p:cNvSpPr/>
          <p:nvPr/>
        </p:nvSpPr>
        <p:spPr>
          <a:xfrm>
            <a:off x="3912427" y="5855097"/>
            <a:ext cx="3663996"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1 ngân hàng / 1 MST</a:t>
            </a:r>
            <a:endParaRPr lang="en-US" sz="1800" dirty="0"/>
          </a:p>
        </p:txBody>
      </p:sp>
      <p:sp>
        <p:nvSpPr>
          <p:cNvPr id="41" name="Shape 39"/>
          <p:cNvSpPr/>
          <p:nvPr/>
        </p:nvSpPr>
        <p:spPr>
          <a:xfrm>
            <a:off x="7684988" y="5645547"/>
            <a:ext cx="4532643" cy="749432"/>
          </a:xfrm>
          <a:prstGeom prst="rect">
            <a:avLst/>
          </a:prstGeom>
          <a:solidFill>
            <a:srgbClr val="00B26A">
              <a:alpha val="6000"/>
            </a:srgbClr>
          </a:solidFill>
          <a:ln/>
        </p:spPr>
      </p:sp>
      <p:sp>
        <p:nvSpPr>
          <p:cNvPr id="42" name="Shape 40"/>
          <p:cNvSpPr/>
          <p:nvPr/>
        </p:nvSpPr>
        <p:spPr>
          <a:xfrm>
            <a:off x="7684988" y="6384396"/>
            <a:ext cx="4532643" cy="10583"/>
          </a:xfrm>
          <a:prstGeom prst="rect">
            <a:avLst/>
          </a:prstGeom>
          <a:solidFill>
            <a:srgbClr val="E2E7E5"/>
          </a:solidFill>
          <a:ln/>
        </p:spPr>
      </p:sp>
      <p:sp>
        <p:nvSpPr>
          <p:cNvPr id="43" name="Text 41"/>
          <p:cNvSpPr/>
          <p:nvPr/>
        </p:nvSpPr>
        <p:spPr>
          <a:xfrm>
            <a:off x="7913588" y="5855097"/>
            <a:ext cx="421142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Đến 5 ngân hàng, đa MST</a:t>
            </a:r>
            <a:endParaRPr lang="en-US" sz="1800" dirty="0"/>
          </a:p>
        </p:txBody>
      </p:sp>
      <p:sp>
        <p:nvSpPr>
          <p:cNvPr id="44" name="Shape 42"/>
          <p:cNvSpPr/>
          <p:nvPr/>
        </p:nvSpPr>
        <p:spPr>
          <a:xfrm>
            <a:off x="12217632" y="6384396"/>
            <a:ext cx="4916785" cy="10583"/>
          </a:xfrm>
          <a:prstGeom prst="rect">
            <a:avLst/>
          </a:prstGeom>
          <a:solidFill>
            <a:srgbClr val="E2E7E5"/>
          </a:solidFill>
          <a:ln/>
        </p:spPr>
      </p:sp>
      <p:sp>
        <p:nvSpPr>
          <p:cNvPr id="45" name="Text 43"/>
          <p:cNvSpPr/>
          <p:nvPr/>
        </p:nvSpPr>
        <p:spPr>
          <a:xfrm>
            <a:off x="12446232" y="5855097"/>
            <a:ext cx="460708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Không giới hạn</a:t>
            </a:r>
            <a:endParaRPr lang="en-US" sz="1800" dirty="0"/>
          </a:p>
        </p:txBody>
      </p:sp>
      <p:sp>
        <p:nvSpPr>
          <p:cNvPr id="46" name="Shape 44"/>
          <p:cNvSpPr/>
          <p:nvPr/>
        </p:nvSpPr>
        <p:spPr>
          <a:xfrm>
            <a:off x="1153583" y="6394979"/>
            <a:ext cx="2530244" cy="749432"/>
          </a:xfrm>
          <a:prstGeom prst="rect">
            <a:avLst/>
          </a:prstGeom>
          <a:solidFill>
            <a:srgbClr val="F7F9F8"/>
          </a:solidFill>
          <a:ln/>
        </p:spPr>
      </p:sp>
      <p:sp>
        <p:nvSpPr>
          <p:cNvPr id="47" name="Shape 45"/>
          <p:cNvSpPr/>
          <p:nvPr/>
        </p:nvSpPr>
        <p:spPr>
          <a:xfrm>
            <a:off x="1153583" y="7133828"/>
            <a:ext cx="2530244" cy="10583"/>
          </a:xfrm>
          <a:prstGeom prst="rect">
            <a:avLst/>
          </a:prstGeom>
          <a:solidFill>
            <a:srgbClr val="E2E7E5"/>
          </a:solidFill>
          <a:ln/>
        </p:spPr>
      </p:sp>
      <p:sp>
        <p:nvSpPr>
          <p:cNvPr id="48" name="Text 46"/>
          <p:cNvSpPr/>
          <p:nvPr/>
        </p:nvSpPr>
        <p:spPr>
          <a:xfrm>
            <a:off x="1382183" y="6604529"/>
            <a:ext cx="2149244"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AUTOMATION</a:t>
            </a:r>
            <a:endParaRPr lang="en-US" sz="1800" dirty="0"/>
          </a:p>
        </p:txBody>
      </p:sp>
      <p:sp>
        <p:nvSpPr>
          <p:cNvPr id="49" name="Shape 47"/>
          <p:cNvSpPr/>
          <p:nvPr/>
        </p:nvSpPr>
        <p:spPr>
          <a:xfrm>
            <a:off x="3683827" y="7133828"/>
            <a:ext cx="4001162" cy="10583"/>
          </a:xfrm>
          <a:prstGeom prst="rect">
            <a:avLst/>
          </a:prstGeom>
          <a:solidFill>
            <a:srgbClr val="E2E7E5"/>
          </a:solidFill>
          <a:ln/>
        </p:spPr>
      </p:sp>
      <p:sp>
        <p:nvSpPr>
          <p:cNvPr id="50" name="Text 48"/>
          <p:cNvSpPr/>
          <p:nvPr/>
        </p:nvSpPr>
        <p:spPr>
          <a:xfrm>
            <a:off x="3912427" y="6604529"/>
            <a:ext cx="3663996"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Sync cơ bản</a:t>
            </a:r>
            <a:endParaRPr lang="en-US" sz="1800" dirty="0"/>
          </a:p>
        </p:txBody>
      </p:sp>
      <p:sp>
        <p:nvSpPr>
          <p:cNvPr id="51" name="Shape 49"/>
          <p:cNvSpPr/>
          <p:nvPr/>
        </p:nvSpPr>
        <p:spPr>
          <a:xfrm>
            <a:off x="7684988" y="6394979"/>
            <a:ext cx="4532643" cy="749432"/>
          </a:xfrm>
          <a:prstGeom prst="rect">
            <a:avLst/>
          </a:prstGeom>
          <a:solidFill>
            <a:srgbClr val="00B26A">
              <a:alpha val="6000"/>
            </a:srgbClr>
          </a:solidFill>
          <a:ln/>
        </p:spPr>
      </p:sp>
      <p:sp>
        <p:nvSpPr>
          <p:cNvPr id="52" name="Shape 50"/>
          <p:cNvSpPr/>
          <p:nvPr/>
        </p:nvSpPr>
        <p:spPr>
          <a:xfrm>
            <a:off x="7684988" y="7133828"/>
            <a:ext cx="4532643" cy="10583"/>
          </a:xfrm>
          <a:prstGeom prst="rect">
            <a:avLst/>
          </a:prstGeom>
          <a:solidFill>
            <a:srgbClr val="E2E7E5"/>
          </a:solidFill>
          <a:ln/>
        </p:spPr>
      </p:sp>
      <p:sp>
        <p:nvSpPr>
          <p:cNvPr id="53" name="Text 51"/>
          <p:cNvSpPr/>
          <p:nvPr/>
        </p:nvSpPr>
        <p:spPr>
          <a:xfrm>
            <a:off x="7913588" y="6604529"/>
            <a:ext cx="421142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Đối soát + cảnh báo realtime</a:t>
            </a:r>
            <a:endParaRPr lang="en-US" sz="1800" dirty="0"/>
          </a:p>
        </p:txBody>
      </p:sp>
      <p:sp>
        <p:nvSpPr>
          <p:cNvPr id="54" name="Shape 52"/>
          <p:cNvSpPr/>
          <p:nvPr/>
        </p:nvSpPr>
        <p:spPr>
          <a:xfrm>
            <a:off x="12217632" y="7133828"/>
            <a:ext cx="4916785" cy="10583"/>
          </a:xfrm>
          <a:prstGeom prst="rect">
            <a:avLst/>
          </a:prstGeom>
          <a:solidFill>
            <a:srgbClr val="E2E7E5"/>
          </a:solidFill>
          <a:ln/>
        </p:spPr>
      </p:sp>
      <p:sp>
        <p:nvSpPr>
          <p:cNvPr id="55" name="Text 53"/>
          <p:cNvSpPr/>
          <p:nvPr/>
        </p:nvSpPr>
        <p:spPr>
          <a:xfrm>
            <a:off x="12446232" y="6604529"/>
            <a:ext cx="460708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 Auto-payment, workflow</a:t>
            </a:r>
            <a:endParaRPr lang="en-US" sz="1800" dirty="0"/>
          </a:p>
        </p:txBody>
      </p:sp>
      <p:sp>
        <p:nvSpPr>
          <p:cNvPr id="56" name="Shape 54"/>
          <p:cNvSpPr/>
          <p:nvPr/>
        </p:nvSpPr>
        <p:spPr>
          <a:xfrm>
            <a:off x="1153583" y="7144412"/>
            <a:ext cx="2530244" cy="749432"/>
          </a:xfrm>
          <a:prstGeom prst="rect">
            <a:avLst/>
          </a:prstGeom>
          <a:solidFill>
            <a:srgbClr val="F7F9F8"/>
          </a:solidFill>
          <a:ln/>
        </p:spPr>
      </p:sp>
      <p:sp>
        <p:nvSpPr>
          <p:cNvPr id="57" name="Shape 55"/>
          <p:cNvSpPr/>
          <p:nvPr/>
        </p:nvSpPr>
        <p:spPr>
          <a:xfrm>
            <a:off x="1153583" y="7883261"/>
            <a:ext cx="2530244" cy="10583"/>
          </a:xfrm>
          <a:prstGeom prst="rect">
            <a:avLst/>
          </a:prstGeom>
          <a:solidFill>
            <a:srgbClr val="E2E7E5"/>
          </a:solidFill>
          <a:ln/>
        </p:spPr>
      </p:sp>
      <p:sp>
        <p:nvSpPr>
          <p:cNvPr id="58" name="Text 56"/>
          <p:cNvSpPr/>
          <p:nvPr/>
        </p:nvSpPr>
        <p:spPr>
          <a:xfrm>
            <a:off x="1382183" y="7353962"/>
            <a:ext cx="2149244"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SUPPORT</a:t>
            </a:r>
            <a:endParaRPr lang="en-US" sz="1800" dirty="0"/>
          </a:p>
        </p:txBody>
      </p:sp>
      <p:sp>
        <p:nvSpPr>
          <p:cNvPr id="59" name="Shape 57"/>
          <p:cNvSpPr/>
          <p:nvPr/>
        </p:nvSpPr>
        <p:spPr>
          <a:xfrm>
            <a:off x="3683827" y="7883261"/>
            <a:ext cx="4001162" cy="10583"/>
          </a:xfrm>
          <a:prstGeom prst="rect">
            <a:avLst/>
          </a:prstGeom>
          <a:solidFill>
            <a:srgbClr val="E2E7E5"/>
          </a:solidFill>
          <a:ln/>
        </p:spPr>
      </p:sp>
      <p:sp>
        <p:nvSpPr>
          <p:cNvPr id="60" name="Text 58"/>
          <p:cNvSpPr/>
          <p:nvPr/>
        </p:nvSpPr>
        <p:spPr>
          <a:xfrm>
            <a:off x="3912427" y="7353962"/>
            <a:ext cx="3663996"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Docs + email</a:t>
            </a:r>
            <a:endParaRPr lang="en-US" sz="1800" dirty="0"/>
          </a:p>
        </p:txBody>
      </p:sp>
      <p:sp>
        <p:nvSpPr>
          <p:cNvPr id="61" name="Shape 59"/>
          <p:cNvSpPr/>
          <p:nvPr/>
        </p:nvSpPr>
        <p:spPr>
          <a:xfrm>
            <a:off x="7684988" y="7144412"/>
            <a:ext cx="4532643" cy="749432"/>
          </a:xfrm>
          <a:prstGeom prst="rect">
            <a:avLst/>
          </a:prstGeom>
          <a:solidFill>
            <a:srgbClr val="00B26A">
              <a:alpha val="6000"/>
            </a:srgbClr>
          </a:solidFill>
          <a:ln/>
        </p:spPr>
      </p:sp>
      <p:sp>
        <p:nvSpPr>
          <p:cNvPr id="62" name="Shape 60"/>
          <p:cNvSpPr/>
          <p:nvPr/>
        </p:nvSpPr>
        <p:spPr>
          <a:xfrm>
            <a:off x="7684988" y="7883261"/>
            <a:ext cx="4532643" cy="10583"/>
          </a:xfrm>
          <a:prstGeom prst="rect">
            <a:avLst/>
          </a:prstGeom>
          <a:solidFill>
            <a:srgbClr val="E2E7E5"/>
          </a:solidFill>
          <a:ln/>
        </p:spPr>
      </p:sp>
      <p:sp>
        <p:nvSpPr>
          <p:cNvPr id="63" name="Text 61"/>
          <p:cNvSpPr/>
          <p:nvPr/>
        </p:nvSpPr>
        <p:spPr>
          <a:xfrm>
            <a:off x="7913588" y="7353962"/>
            <a:ext cx="421142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Chat support giờ hành chính</a:t>
            </a:r>
            <a:endParaRPr lang="en-US" sz="1800" dirty="0"/>
          </a:p>
        </p:txBody>
      </p:sp>
      <p:sp>
        <p:nvSpPr>
          <p:cNvPr id="64" name="Shape 62"/>
          <p:cNvSpPr/>
          <p:nvPr/>
        </p:nvSpPr>
        <p:spPr>
          <a:xfrm>
            <a:off x="12217632" y="7883261"/>
            <a:ext cx="4916785" cy="10583"/>
          </a:xfrm>
          <a:prstGeom prst="rect">
            <a:avLst/>
          </a:prstGeom>
          <a:solidFill>
            <a:srgbClr val="E2E7E5"/>
          </a:solidFill>
          <a:ln/>
        </p:spPr>
      </p:sp>
      <p:sp>
        <p:nvSpPr>
          <p:cNvPr id="65" name="Text 63"/>
          <p:cNvSpPr/>
          <p:nvPr/>
        </p:nvSpPr>
        <p:spPr>
          <a:xfrm>
            <a:off x="12446232" y="7353962"/>
            <a:ext cx="460708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SLA 99.9%, 24/7 dedicated</a:t>
            </a:r>
            <a:endParaRPr lang="en-US" sz="1800" dirty="0"/>
          </a:p>
        </p:txBody>
      </p:sp>
      <p:sp>
        <p:nvSpPr>
          <p:cNvPr id="66" name="Shape 64"/>
          <p:cNvSpPr/>
          <p:nvPr/>
        </p:nvSpPr>
        <p:spPr>
          <a:xfrm>
            <a:off x="1153583" y="7893844"/>
            <a:ext cx="2530244" cy="738849"/>
          </a:xfrm>
          <a:prstGeom prst="rect">
            <a:avLst/>
          </a:prstGeom>
          <a:solidFill>
            <a:srgbClr val="F7F9F8"/>
          </a:solidFill>
          <a:ln/>
        </p:spPr>
      </p:sp>
      <p:sp>
        <p:nvSpPr>
          <p:cNvPr id="67" name="Text 65"/>
          <p:cNvSpPr/>
          <p:nvPr/>
        </p:nvSpPr>
        <p:spPr>
          <a:xfrm>
            <a:off x="1382183" y="8103394"/>
            <a:ext cx="2149244"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b="1" spc="108" kern="0" dirty="0">
                <a:solidFill>
                  <a:srgbClr val="6B7771"/>
                </a:solidFill>
                <a:latin typeface="Courier New" pitchFamily="34" charset="0"/>
                <a:ea typeface="Courier New" pitchFamily="34" charset="-122"/>
                <a:cs typeface="Courier New" pitchFamily="34" charset="-120"/>
              </a:rPr>
              <a:t>BẢO MẬT</a:t>
            </a:r>
            <a:endParaRPr lang="en-US" sz="1800" dirty="0"/>
          </a:p>
        </p:txBody>
      </p:sp>
      <p:sp>
        <p:nvSpPr>
          <p:cNvPr id="68" name="Text 66"/>
          <p:cNvSpPr/>
          <p:nvPr/>
        </p:nvSpPr>
        <p:spPr>
          <a:xfrm>
            <a:off x="3912427" y="8103394"/>
            <a:ext cx="3663996"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Mặc định</a:t>
            </a:r>
            <a:endParaRPr lang="en-US" sz="1800" dirty="0"/>
          </a:p>
        </p:txBody>
      </p:sp>
      <p:sp>
        <p:nvSpPr>
          <p:cNvPr id="69" name="Shape 67"/>
          <p:cNvSpPr/>
          <p:nvPr/>
        </p:nvSpPr>
        <p:spPr>
          <a:xfrm>
            <a:off x="7684988" y="7893844"/>
            <a:ext cx="4532643" cy="738849"/>
          </a:xfrm>
          <a:prstGeom prst="rect">
            <a:avLst/>
          </a:prstGeom>
          <a:solidFill>
            <a:srgbClr val="00B26A">
              <a:alpha val="6000"/>
            </a:srgbClr>
          </a:solidFill>
          <a:ln/>
        </p:spPr>
      </p:sp>
      <p:sp>
        <p:nvSpPr>
          <p:cNvPr id="70" name="Text 68"/>
          <p:cNvSpPr/>
          <p:nvPr/>
        </p:nvSpPr>
        <p:spPr>
          <a:xfrm>
            <a:off x="7913588" y="8103394"/>
            <a:ext cx="4211423"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F1311"/>
                </a:solidFill>
                <a:latin typeface="Arial" pitchFamily="34" charset="0"/>
                <a:ea typeface="Arial" pitchFamily="34" charset="-122"/>
                <a:cs typeface="Arial" pitchFamily="34" charset="-120"/>
              </a:rPr>
              <a:t>Mặc định + log audit</a:t>
            </a:r>
            <a:endParaRPr lang="en-US" sz="1800" dirty="0"/>
          </a:p>
        </p:txBody>
      </p:sp>
      <p:sp>
        <p:nvSpPr>
          <p:cNvPr id="71" name="Text 69"/>
          <p:cNvSpPr/>
          <p:nvPr/>
        </p:nvSpPr>
        <p:spPr>
          <a:xfrm>
            <a:off x="12446232" y="8103394"/>
            <a:ext cx="4607089" cy="357849"/>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23A36"/>
                </a:solidFill>
                <a:latin typeface="Arial" pitchFamily="34" charset="0"/>
                <a:ea typeface="Arial" pitchFamily="34" charset="-122"/>
                <a:cs typeface="Arial" pitchFamily="34" charset="-120"/>
              </a:rPr>
              <a:t>IP whitelist, SSO, on-prem option</a:t>
            </a:r>
            <a:endParaRPr lang="en-US" sz="1800" dirty="0"/>
          </a:p>
        </p:txBody>
      </p:sp>
      <p:sp>
        <p:nvSpPr>
          <p:cNvPr id="72" name="Text 70"/>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20 / 24</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1A12"/>
        </a:solidFill>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FFFFFF">
              <a:alpha val="4000"/>
            </a:srgbClr>
          </a:solidFill>
          <a:ln/>
        </p:spPr>
      </p:sp>
      <p:sp>
        <p:nvSpPr>
          <p:cNvPr id="3" name="Text 1"/>
          <p:cNvSpPr/>
          <p:nvPr/>
        </p:nvSpPr>
        <p:spPr>
          <a:xfrm>
            <a:off x="1143000" y="2885281"/>
            <a:ext cx="16482061" cy="464741"/>
          </a:xfrm>
          <a:prstGeom prst="rect">
            <a:avLst/>
          </a:prstGeom>
          <a:noFill/>
          <a:ln/>
        </p:spPr>
        <p:txBody>
          <a:bodyPr wrap="square" lIns="25400" tIns="25400" rIns="25400" bIns="25400" rtlCol="0" anchor="t">
            <a:normAutofit/>
          </a:bodyPr>
          <a:lstStyle/>
          <a:p>
            <a:pPr algn="l" indent="0" marL="0">
              <a:lnSpc>
                <a:spcPct val="140000"/>
              </a:lnSpc>
              <a:buNone/>
            </a:pPr>
            <a:r>
              <a:rPr lang="en-US" sz="2400" spc="432" kern="0" dirty="0">
                <a:solidFill>
                  <a:srgbClr val="66D59C"/>
                </a:solidFill>
                <a:latin typeface="Courier New" pitchFamily="34" charset="0"/>
                <a:ea typeface="Courier New" pitchFamily="34" charset="-122"/>
                <a:cs typeface="Courier New" pitchFamily="34" charset="-120"/>
              </a:rPr>
              <a:t>SECTION · D</a:t>
            </a:r>
            <a:endParaRPr lang="en-US" sz="2400" dirty="0"/>
          </a:p>
        </p:txBody>
      </p:sp>
      <p:sp>
        <p:nvSpPr>
          <p:cNvPr id="4" name="Text 2"/>
          <p:cNvSpPr/>
          <p:nvPr/>
        </p:nvSpPr>
        <p:spPr>
          <a:xfrm>
            <a:off x="1143000" y="3616689"/>
            <a:ext cx="14716126" cy="2788775"/>
          </a:xfrm>
          <a:prstGeom prst="rect">
            <a:avLst/>
          </a:prstGeom>
          <a:noFill/>
          <a:ln/>
        </p:spPr>
        <p:txBody>
          <a:bodyPr wrap="square" lIns="25400" tIns="25400" rIns="25400" bIns="25400" rtlCol="0" anchor="t">
            <a:normAutofit/>
          </a:bodyPr>
          <a:lstStyle/>
          <a:p>
            <a:pPr algn="l" indent="0" marL="0">
              <a:lnSpc>
                <a:spcPct val="95000"/>
              </a:lnSpc>
              <a:buNone/>
            </a:pPr>
            <a:r>
              <a:rPr lang="en-US" sz="11400" b="1" spc="-456" kern="0" dirty="0">
                <a:solidFill>
                  <a:srgbClr val="FFFFFF"/>
                </a:solidFill>
                <a:latin typeface="Arial" pitchFamily="34" charset="0"/>
                <a:ea typeface="Arial" pitchFamily="34" charset="-122"/>
                <a:cs typeface="Arial" pitchFamily="34" charset="-120"/>
              </a:rPr>
              <a:t>Validate &amp; </a:t>
            </a:r>
            <a:pPr algn="l" indent="0" marL="0">
              <a:lnSpc>
                <a:spcPct val="95000"/>
              </a:lnSpc>
              <a:buNone/>
            </a:pPr>
            <a:r>
              <a:rPr lang="en-US" sz="11400" b="1" spc="-456" kern="0" dirty="0">
                <a:solidFill>
                  <a:srgbClr val="66D59C"/>
                </a:solidFill>
                <a:latin typeface="Arial" pitchFamily="34" charset="0"/>
                <a:ea typeface="Arial" pitchFamily="34" charset="-122"/>
                <a:cs typeface="Arial" pitchFamily="34" charset="-120"/>
              </a:rPr>
              <a:t>Growth</a:t>
            </a:r>
            <a:pPr algn="l" indent="0" marL="0">
              <a:lnSpc>
                <a:spcPct val="95000"/>
              </a:lnSpc>
              <a:buNone/>
            </a:pPr>
            <a:r>
              <a:rPr lang="en-US" sz="11400" b="1" spc="-456" kern="0" dirty="0">
                <a:solidFill>
                  <a:srgbClr val="FFFFFF"/>
                </a:solidFill>
                <a:latin typeface="Arial" pitchFamily="34" charset="0"/>
                <a:ea typeface="Arial" pitchFamily="34" charset="-122"/>
                <a:cs typeface="Arial" pitchFamily="34" charset="-120"/>
              </a:rPr>
              <a:t>.</a:t>
            </a:r>
            <a:endParaRPr lang="en-US" sz="11400" dirty="0"/>
          </a:p>
        </p:txBody>
      </p:sp>
      <p:sp>
        <p:nvSpPr>
          <p:cNvPr id="5" name="Shape 3"/>
          <p:cNvSpPr/>
          <p:nvPr/>
        </p:nvSpPr>
        <p:spPr>
          <a:xfrm>
            <a:off x="1143000" y="6672131"/>
            <a:ext cx="914301" cy="38034"/>
          </a:xfrm>
          <a:prstGeom prst="rect">
            <a:avLst/>
          </a:prstGeom>
          <a:solidFill>
            <a:srgbClr val="00B26A"/>
          </a:solidFill>
          <a:ln/>
        </p:spPr>
      </p:sp>
      <p:sp>
        <p:nvSpPr>
          <p:cNvPr id="6" name="Text 4"/>
          <p:cNvSpPr/>
          <p:nvPr/>
        </p:nvSpPr>
        <p:spPr>
          <a:xfrm>
            <a:off x="1143000" y="7014931"/>
            <a:ext cx="11772900" cy="424722"/>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FFFFFF">
                    <a:alpha val="65000"/>
                  </a:srgbClr>
                </a:solidFill>
                <a:latin typeface="Arial" pitchFamily="34" charset="0"/>
                <a:ea typeface="Arial" pitchFamily="34" charset="-122"/>
                <a:cs typeface="Arial" pitchFamily="34" charset="-120"/>
              </a:rPr>
              <a:t>90 ngày kế tiếp: align internal → validate với partner → pilot → GA. Sau đó là cuộc chơi growth.</a:t>
            </a:r>
            <a:endParaRPr lang="en-US" sz="2100" dirty="0"/>
          </a:p>
        </p:txBody>
      </p:sp>
      <p:sp>
        <p:nvSpPr>
          <p:cNvPr id="7" name="Text 5"/>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FFFFFF">
                    <a:alpha val="40000"/>
                  </a:srgbClr>
                </a:solidFill>
                <a:latin typeface="Courier New" pitchFamily="34" charset="0"/>
                <a:ea typeface="Courier New" pitchFamily="34" charset="-122"/>
                <a:cs typeface="Courier New" pitchFamily="34" charset="-120"/>
              </a:rPr>
              <a:t>21 / 24</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D · 01 · 90-DAY ROADMAP</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Validate với partner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trước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 rồi mới mở rộng end-user.</a:t>
            </a:r>
            <a:endParaRPr lang="en-US" sz="5400" dirty="0"/>
          </a:p>
        </p:txBody>
      </p:sp>
      <p:sp>
        <p:nvSpPr>
          <p:cNvPr id="4" name="Shape 2"/>
          <p:cNvSpPr/>
          <p:nvPr/>
        </p:nvSpPr>
        <p:spPr>
          <a:xfrm>
            <a:off x="1143000" y="3359712"/>
            <a:ext cx="16002001" cy="1213280"/>
          </a:xfrm>
          <a:prstGeom prst="roundRect">
            <a:avLst>
              <a:gd name="adj" fmla="val 10991"/>
            </a:avLst>
          </a:prstGeom>
          <a:solidFill>
            <a:srgbClr val="FFFFFF"/>
          </a:solidFill>
          <a:ln w="10583">
            <a:solidFill>
              <a:srgbClr val="E2E7E5"/>
            </a:solidFill>
            <a:prstDash val="solid"/>
          </a:ln>
        </p:spPr>
      </p:sp>
      <p:sp>
        <p:nvSpPr>
          <p:cNvPr id="5" name="Text 3"/>
          <p:cNvSpPr/>
          <p:nvPr/>
        </p:nvSpPr>
        <p:spPr>
          <a:xfrm>
            <a:off x="1420151" y="3699537"/>
            <a:ext cx="838200" cy="571566"/>
          </a:xfrm>
          <a:prstGeom prst="rect">
            <a:avLst/>
          </a:prstGeom>
          <a:noFill/>
          <a:ln/>
        </p:spPr>
        <p:txBody>
          <a:bodyPr wrap="square" lIns="25400" tIns="25400" rIns="25400" bIns="25400" rtlCol="0" anchor="t">
            <a:normAutofit/>
          </a:bodyPr>
          <a:lstStyle/>
          <a:p>
            <a:pPr algn="l" indent="0" marL="0">
              <a:lnSpc>
                <a:spcPct val="100000"/>
              </a:lnSpc>
              <a:buNone/>
            </a:pPr>
            <a:r>
              <a:rPr lang="en-US" sz="4200" b="1" spc="-126" kern="0" dirty="0">
                <a:solidFill>
                  <a:srgbClr val="00B26A"/>
                </a:solidFill>
                <a:latin typeface="Arial" pitchFamily="34" charset="0"/>
                <a:ea typeface="Arial" pitchFamily="34" charset="-122"/>
                <a:cs typeface="Arial" pitchFamily="34" charset="-120"/>
              </a:rPr>
              <a:t>W1·2</a:t>
            </a:r>
            <a:endParaRPr lang="en-US" sz="4200" dirty="0"/>
          </a:p>
        </p:txBody>
      </p:sp>
      <p:sp>
        <p:nvSpPr>
          <p:cNvPr id="6" name="Text 4"/>
          <p:cNvSpPr/>
          <p:nvPr/>
        </p:nvSpPr>
        <p:spPr>
          <a:xfrm>
            <a:off x="2448719" y="3598829"/>
            <a:ext cx="14851704" cy="384870"/>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0F1311"/>
                </a:solidFill>
                <a:latin typeface="Arial" pitchFamily="34" charset="0"/>
                <a:ea typeface="Arial" pitchFamily="34" charset="-122"/>
                <a:cs typeface="Arial" pitchFamily="34" charset="-120"/>
              </a:rPr>
              <a:t>Internal align (2 tuần)</a:t>
            </a:r>
            <a:endParaRPr lang="en-US" sz="1950" dirty="0"/>
          </a:p>
        </p:txBody>
      </p:sp>
      <p:sp>
        <p:nvSpPr>
          <p:cNvPr id="7" name="Text 5"/>
          <p:cNvSpPr/>
          <p:nvPr/>
        </p:nvSpPr>
        <p:spPr>
          <a:xfrm>
            <a:off x="2448719" y="4002650"/>
            <a:ext cx="14851704" cy="369325"/>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Sign-off Value Prop, Segmentation, Packaging. Lock tier names. Build sales collateral nội bộ.</a:t>
            </a:r>
            <a:endParaRPr lang="en-US" sz="1800" dirty="0"/>
          </a:p>
        </p:txBody>
      </p:sp>
      <p:sp>
        <p:nvSpPr>
          <p:cNvPr id="8" name="Shape 6"/>
          <p:cNvSpPr/>
          <p:nvPr/>
        </p:nvSpPr>
        <p:spPr>
          <a:xfrm>
            <a:off x="1143000" y="4744310"/>
            <a:ext cx="16002001" cy="1213280"/>
          </a:xfrm>
          <a:prstGeom prst="roundRect">
            <a:avLst>
              <a:gd name="adj" fmla="val 10991"/>
            </a:avLst>
          </a:prstGeom>
          <a:solidFill>
            <a:srgbClr val="FFFFFF"/>
          </a:solidFill>
          <a:ln w="10583">
            <a:solidFill>
              <a:srgbClr val="E2E7E5"/>
            </a:solidFill>
            <a:prstDash val="solid"/>
          </a:ln>
        </p:spPr>
      </p:sp>
      <p:sp>
        <p:nvSpPr>
          <p:cNvPr id="9" name="Text 7"/>
          <p:cNvSpPr/>
          <p:nvPr/>
        </p:nvSpPr>
        <p:spPr>
          <a:xfrm>
            <a:off x="1420151" y="5084134"/>
            <a:ext cx="838200" cy="571566"/>
          </a:xfrm>
          <a:prstGeom prst="rect">
            <a:avLst/>
          </a:prstGeom>
          <a:noFill/>
          <a:ln/>
        </p:spPr>
        <p:txBody>
          <a:bodyPr wrap="square" lIns="25400" tIns="25400" rIns="25400" bIns="25400" rtlCol="0" anchor="t">
            <a:normAutofit/>
          </a:bodyPr>
          <a:lstStyle/>
          <a:p>
            <a:pPr algn="l" indent="0" marL="0">
              <a:lnSpc>
                <a:spcPct val="100000"/>
              </a:lnSpc>
              <a:buNone/>
            </a:pPr>
            <a:r>
              <a:rPr lang="en-US" sz="4200" b="1" spc="-126" kern="0" dirty="0">
                <a:solidFill>
                  <a:srgbClr val="00B26A"/>
                </a:solidFill>
                <a:latin typeface="Arial" pitchFamily="34" charset="0"/>
                <a:ea typeface="Arial" pitchFamily="34" charset="-122"/>
                <a:cs typeface="Arial" pitchFamily="34" charset="-120"/>
              </a:rPr>
              <a:t>W3·6</a:t>
            </a:r>
            <a:endParaRPr lang="en-US" sz="4200" dirty="0"/>
          </a:p>
        </p:txBody>
      </p:sp>
      <p:sp>
        <p:nvSpPr>
          <p:cNvPr id="10" name="Text 8"/>
          <p:cNvSpPr/>
          <p:nvPr/>
        </p:nvSpPr>
        <p:spPr>
          <a:xfrm>
            <a:off x="2448719" y="4983427"/>
            <a:ext cx="14851704" cy="384870"/>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0F1311"/>
                </a:solidFill>
                <a:latin typeface="Arial" pitchFamily="34" charset="0"/>
                <a:ea typeface="Arial" pitchFamily="34" charset="-122"/>
                <a:cs typeface="Arial" pitchFamily="34" charset="-120"/>
              </a:rPr>
              <a:t>Validate với 2–3 Odoo Partner (4 tuần)</a:t>
            </a:r>
            <a:endParaRPr lang="en-US" sz="1950" dirty="0"/>
          </a:p>
        </p:txBody>
      </p:sp>
      <p:sp>
        <p:nvSpPr>
          <p:cNvPr id="11" name="Text 9"/>
          <p:cNvSpPr/>
          <p:nvPr/>
        </p:nvSpPr>
        <p:spPr>
          <a:xfrm>
            <a:off x="2448719" y="5387248"/>
            <a:ext cx="14851704" cy="369325"/>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Interview Oris, Viindoo + 1 partner khác. Đề xuất pricing → thu feedback → adjust. Mục tiêu: chốt được con số cho Partner Tier 2 (Growth).</a:t>
            </a:r>
            <a:endParaRPr lang="en-US" sz="1800" dirty="0"/>
          </a:p>
        </p:txBody>
      </p:sp>
      <p:sp>
        <p:nvSpPr>
          <p:cNvPr id="12" name="Shape 10"/>
          <p:cNvSpPr/>
          <p:nvPr/>
        </p:nvSpPr>
        <p:spPr>
          <a:xfrm>
            <a:off x="1143000" y="6128908"/>
            <a:ext cx="16002001" cy="1213280"/>
          </a:xfrm>
          <a:prstGeom prst="roundRect">
            <a:avLst>
              <a:gd name="adj" fmla="val 10991"/>
            </a:avLst>
          </a:prstGeom>
          <a:solidFill>
            <a:srgbClr val="FFFFFF"/>
          </a:solidFill>
          <a:ln w="10583">
            <a:solidFill>
              <a:srgbClr val="E2E7E5"/>
            </a:solidFill>
            <a:prstDash val="solid"/>
          </a:ln>
        </p:spPr>
      </p:sp>
      <p:sp>
        <p:nvSpPr>
          <p:cNvPr id="13" name="Text 11"/>
          <p:cNvSpPr/>
          <p:nvPr/>
        </p:nvSpPr>
        <p:spPr>
          <a:xfrm>
            <a:off x="1420151" y="6468732"/>
            <a:ext cx="838200" cy="571566"/>
          </a:xfrm>
          <a:prstGeom prst="rect">
            <a:avLst/>
          </a:prstGeom>
          <a:noFill/>
          <a:ln/>
        </p:spPr>
        <p:txBody>
          <a:bodyPr wrap="square" lIns="25400" tIns="25400" rIns="25400" bIns="25400" rtlCol="0" anchor="t">
            <a:normAutofit/>
          </a:bodyPr>
          <a:lstStyle/>
          <a:p>
            <a:pPr algn="l" indent="0" marL="0">
              <a:lnSpc>
                <a:spcPct val="100000"/>
              </a:lnSpc>
              <a:buNone/>
            </a:pPr>
            <a:r>
              <a:rPr lang="en-US" sz="4200" b="1" spc="-126" kern="0" dirty="0">
                <a:solidFill>
                  <a:srgbClr val="00B26A"/>
                </a:solidFill>
                <a:latin typeface="Arial" pitchFamily="34" charset="0"/>
                <a:ea typeface="Arial" pitchFamily="34" charset="-122"/>
                <a:cs typeface="Arial" pitchFamily="34" charset="-120"/>
              </a:rPr>
              <a:t>W7·10</a:t>
            </a:r>
            <a:endParaRPr lang="en-US" sz="4200" dirty="0"/>
          </a:p>
        </p:txBody>
      </p:sp>
      <p:sp>
        <p:nvSpPr>
          <p:cNvPr id="14" name="Text 12"/>
          <p:cNvSpPr/>
          <p:nvPr/>
        </p:nvSpPr>
        <p:spPr>
          <a:xfrm>
            <a:off x="2448719" y="6368025"/>
            <a:ext cx="14851704" cy="384870"/>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0F1311"/>
                </a:solidFill>
                <a:latin typeface="Arial" pitchFamily="34" charset="0"/>
                <a:ea typeface="Arial" pitchFamily="34" charset="-122"/>
                <a:cs typeface="Arial" pitchFamily="34" charset="-120"/>
              </a:rPr>
              <a:t>Pilot có trả phí (4 tuần)</a:t>
            </a:r>
            <a:endParaRPr lang="en-US" sz="1950" dirty="0"/>
          </a:p>
        </p:txBody>
      </p:sp>
      <p:sp>
        <p:nvSpPr>
          <p:cNvPr id="15" name="Text 13"/>
          <p:cNvSpPr/>
          <p:nvPr/>
        </p:nvSpPr>
        <p:spPr>
          <a:xfrm>
            <a:off x="2448719" y="6771845"/>
            <a:ext cx="14851704" cy="369325"/>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1–2 partner pilot Growth tier với khách thật. 1 enterprise end-user pilot Business tier. Đo activation, time-to-value, NPS.</a:t>
            </a:r>
            <a:endParaRPr lang="en-US" sz="1800" dirty="0"/>
          </a:p>
        </p:txBody>
      </p:sp>
      <p:sp>
        <p:nvSpPr>
          <p:cNvPr id="16" name="Shape 14"/>
          <p:cNvSpPr/>
          <p:nvPr/>
        </p:nvSpPr>
        <p:spPr>
          <a:xfrm>
            <a:off x="1143000" y="7513505"/>
            <a:ext cx="16002001" cy="1213280"/>
          </a:xfrm>
          <a:prstGeom prst="roundRect">
            <a:avLst>
              <a:gd name="adj" fmla="val 10991"/>
            </a:avLst>
          </a:prstGeom>
          <a:solidFill>
            <a:srgbClr val="FFFFFF"/>
          </a:solidFill>
          <a:ln w="10583">
            <a:solidFill>
              <a:srgbClr val="E2E7E5"/>
            </a:solidFill>
            <a:prstDash val="solid"/>
          </a:ln>
        </p:spPr>
      </p:sp>
      <p:sp>
        <p:nvSpPr>
          <p:cNvPr id="17" name="Text 15"/>
          <p:cNvSpPr/>
          <p:nvPr/>
        </p:nvSpPr>
        <p:spPr>
          <a:xfrm>
            <a:off x="1420151" y="7853330"/>
            <a:ext cx="838200" cy="571566"/>
          </a:xfrm>
          <a:prstGeom prst="rect">
            <a:avLst/>
          </a:prstGeom>
          <a:noFill/>
          <a:ln/>
        </p:spPr>
        <p:txBody>
          <a:bodyPr wrap="square" lIns="25400" tIns="25400" rIns="25400" bIns="25400" rtlCol="0" anchor="t">
            <a:normAutofit/>
          </a:bodyPr>
          <a:lstStyle/>
          <a:p>
            <a:pPr algn="l" indent="0" marL="0">
              <a:lnSpc>
                <a:spcPct val="100000"/>
              </a:lnSpc>
              <a:buNone/>
            </a:pPr>
            <a:r>
              <a:rPr lang="en-US" sz="4200" b="1" spc="-126" kern="0" dirty="0">
                <a:solidFill>
                  <a:srgbClr val="00B26A"/>
                </a:solidFill>
                <a:latin typeface="Arial" pitchFamily="34" charset="0"/>
                <a:ea typeface="Arial" pitchFamily="34" charset="-122"/>
                <a:cs typeface="Arial" pitchFamily="34" charset="-120"/>
              </a:rPr>
              <a:t>W11·12</a:t>
            </a:r>
            <a:endParaRPr lang="en-US" sz="4200" dirty="0"/>
          </a:p>
        </p:txBody>
      </p:sp>
      <p:sp>
        <p:nvSpPr>
          <p:cNvPr id="18" name="Text 16"/>
          <p:cNvSpPr/>
          <p:nvPr/>
        </p:nvSpPr>
        <p:spPr>
          <a:xfrm>
            <a:off x="2448719" y="7752623"/>
            <a:ext cx="14851704" cy="384870"/>
          </a:xfrm>
          <a:prstGeom prst="rect">
            <a:avLst/>
          </a:prstGeom>
          <a:noFill/>
          <a:ln/>
        </p:spPr>
        <p:txBody>
          <a:bodyPr wrap="square" lIns="25400" tIns="25400" rIns="25400" bIns="25400" rtlCol="0" anchor="t">
            <a:normAutofit/>
          </a:bodyPr>
          <a:lstStyle/>
          <a:p>
            <a:pPr algn="l" indent="0" marL="0">
              <a:lnSpc>
                <a:spcPct val="140000"/>
              </a:lnSpc>
              <a:buNone/>
            </a:pPr>
            <a:r>
              <a:rPr lang="en-US" sz="1950" b="1" spc="-19" kern="0" dirty="0">
                <a:solidFill>
                  <a:srgbClr val="0F1311"/>
                </a:solidFill>
                <a:latin typeface="Arial" pitchFamily="34" charset="0"/>
                <a:ea typeface="Arial" pitchFamily="34" charset="-122"/>
                <a:cs typeface="Arial" pitchFamily="34" charset="-120"/>
              </a:rPr>
              <a:t>GA + chuẩn bị Third-Party Odoo (2 tuần)</a:t>
            </a:r>
            <a:endParaRPr lang="en-US" sz="1950" dirty="0"/>
          </a:p>
        </p:txBody>
      </p:sp>
      <p:sp>
        <p:nvSpPr>
          <p:cNvPr id="19" name="Text 17"/>
          <p:cNvSpPr/>
          <p:nvPr/>
        </p:nvSpPr>
        <p:spPr>
          <a:xfrm>
            <a:off x="2448719" y="8156443"/>
            <a:ext cx="14851704" cy="369325"/>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Public launch trên Odoo App Store. Submit hồ sơ Third-Party. Mở pipeline outbound đến 27 partner còn lại.</a:t>
            </a:r>
            <a:endParaRPr lang="en-US" sz="1800" dirty="0"/>
          </a:p>
        </p:txBody>
      </p:sp>
      <p:sp>
        <p:nvSpPr>
          <p:cNvPr id="20" name="Text 18"/>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22 / 24</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006B40"/>
                </a:solidFill>
                <a:latin typeface="Courier New" pitchFamily="34" charset="0"/>
                <a:ea typeface="Courier New" pitchFamily="34" charset="-122"/>
                <a:cs typeface="Courier New" pitchFamily="34" charset="-120"/>
              </a:rPr>
              <a:t>D · 02 · GROWTH</a:t>
            </a:r>
            <a:endParaRPr lang="en-US" sz="1800" dirty="0"/>
          </a:p>
        </p:txBody>
      </p:sp>
      <p:sp>
        <p:nvSpPr>
          <p:cNvPr id="3" name="Text 1"/>
          <p:cNvSpPr/>
          <p:nvPr/>
        </p:nvSpPr>
        <p:spPr>
          <a:xfrm>
            <a:off x="1143000" y="1386417"/>
            <a:ext cx="14716126" cy="1478095"/>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Growth = </a:t>
            </a:r>
            <a:pPr algn="l" indent="0" marL="0">
              <a:lnSpc>
                <a:spcPct val="105000"/>
              </a:lnSpc>
              <a:buNone/>
            </a:pPr>
            <a:r>
              <a:rPr lang="en-US" sz="5400" b="1" spc="-135" kern="0" dirty="0">
                <a:solidFill>
                  <a:srgbClr val="006B40"/>
                </a:solidFill>
                <a:latin typeface="Arial" pitchFamily="34" charset="0"/>
                <a:ea typeface="Arial" pitchFamily="34" charset="-122"/>
                <a:cs typeface="Arial" pitchFamily="34" charset="-120"/>
              </a:rPr>
              <a:t>upsell path </a:t>
            </a:r>
            <a:pPr algn="l" indent="0" marL="0">
              <a:lnSpc>
                <a:spcPct val="105000"/>
              </a:lnSpc>
              <a:buNone/>
            </a:pPr>
            <a:r>
              <a:rPr lang="en-US" sz="5400" b="1" spc="-135" kern="0" dirty="0">
                <a:solidFill>
                  <a:srgbClr val="0F1311"/>
                </a:solidFill>
                <a:latin typeface="Arial" pitchFamily="34" charset="0"/>
                <a:ea typeface="Arial" pitchFamily="34" charset="-122"/>
                <a:cs typeface="Arial" pitchFamily="34" charset="-120"/>
              </a:rPr>
              <a:t>rõ ràng + discount có chiến lược.</a:t>
            </a:r>
            <a:endParaRPr lang="en-US" sz="5400" dirty="0"/>
          </a:p>
        </p:txBody>
      </p:sp>
      <p:sp>
        <p:nvSpPr>
          <p:cNvPr id="4" name="Shape 2"/>
          <p:cNvSpPr/>
          <p:nvPr/>
        </p:nvSpPr>
        <p:spPr>
          <a:xfrm>
            <a:off x="1143000" y="3359712"/>
            <a:ext cx="7772466" cy="3874823"/>
          </a:xfrm>
          <a:prstGeom prst="roundRect">
            <a:avLst>
              <a:gd name="adj" fmla="val 4916"/>
            </a:avLst>
          </a:prstGeom>
          <a:solidFill>
            <a:srgbClr val="FFFFFF"/>
          </a:solidFill>
          <a:ln w="10583">
            <a:solidFill>
              <a:srgbClr val="E2E7E5"/>
            </a:solidFill>
            <a:prstDash val="solid"/>
          </a:ln>
        </p:spPr>
      </p:sp>
      <p:sp>
        <p:nvSpPr>
          <p:cNvPr id="5" name="Text 3"/>
          <p:cNvSpPr/>
          <p:nvPr/>
        </p:nvSpPr>
        <p:spPr>
          <a:xfrm>
            <a:off x="1534583" y="3713097"/>
            <a:ext cx="719897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PATH · 01</a:t>
            </a:r>
            <a:endParaRPr lang="en-US" sz="1800" dirty="0"/>
          </a:p>
        </p:txBody>
      </p:sp>
      <p:sp>
        <p:nvSpPr>
          <p:cNvPr id="6" name="Text 4"/>
          <p:cNvSpPr/>
          <p:nvPr/>
        </p:nvSpPr>
        <p:spPr>
          <a:xfrm>
            <a:off x="1534583" y="4204229"/>
            <a:ext cx="719897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Upsell — đi theo Packaging</a:t>
            </a:r>
            <a:endParaRPr lang="en-US" sz="2400" dirty="0"/>
          </a:p>
        </p:txBody>
      </p:sp>
      <p:sp>
        <p:nvSpPr>
          <p:cNvPr id="7" name="Text 5"/>
          <p:cNvSpPr/>
          <p:nvPr/>
        </p:nvSpPr>
        <p:spPr>
          <a:xfrm>
            <a:off x="1534583" y="4725955"/>
            <a:ext cx="7198979" cy="723702"/>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23A36"/>
                </a:solidFill>
                <a:latin typeface="Arial" pitchFamily="34" charset="0"/>
                <a:ea typeface="Arial" pitchFamily="34" charset="-122"/>
                <a:cs typeface="Arial" pitchFamily="34" charset="-120"/>
              </a:rPr>
              <a:t>Module lẻ → Combo nhu cầu → Full Enterprise. Mỗi bước là một quyết định nhỏ, dễ approve hơn 1 hợp đồng to.</a:t>
            </a:r>
            <a:endParaRPr lang="en-US" sz="1800" dirty="0"/>
          </a:p>
        </p:txBody>
      </p:sp>
      <p:sp>
        <p:nvSpPr>
          <p:cNvPr id="8" name="Text 6"/>
          <p:cNvSpPr/>
          <p:nvPr/>
        </p:nvSpPr>
        <p:spPr>
          <a:xfrm>
            <a:off x="1374563" y="5582874"/>
            <a:ext cx="7225520" cy="1336378"/>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Trigger: vượt ngưỡng dùng module lẻ.</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Trigger: thêm ngân hàng thứ 2 / MST thứ 2.</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Trigger: yêu cầu compliance trước audit năm.</a:t>
            </a:r>
            <a:endParaRPr lang="en-US" sz="1800" dirty="0"/>
          </a:p>
        </p:txBody>
      </p:sp>
      <p:sp>
        <p:nvSpPr>
          <p:cNvPr id="9" name="Shape 7"/>
          <p:cNvSpPr/>
          <p:nvPr/>
        </p:nvSpPr>
        <p:spPr>
          <a:xfrm>
            <a:off x="9372534" y="3359712"/>
            <a:ext cx="7772466" cy="3874823"/>
          </a:xfrm>
          <a:prstGeom prst="roundRect">
            <a:avLst>
              <a:gd name="adj" fmla="val 4916"/>
            </a:avLst>
          </a:prstGeom>
          <a:solidFill>
            <a:srgbClr val="FFFFFF"/>
          </a:solidFill>
          <a:ln w="10583">
            <a:solidFill>
              <a:srgbClr val="E2E7E5"/>
            </a:solidFill>
            <a:prstDash val="solid"/>
          </a:ln>
        </p:spPr>
      </p:sp>
      <p:sp>
        <p:nvSpPr>
          <p:cNvPr id="10" name="Text 8"/>
          <p:cNvSpPr/>
          <p:nvPr/>
        </p:nvSpPr>
        <p:spPr>
          <a:xfrm>
            <a:off x="9764118" y="3713097"/>
            <a:ext cx="719897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PATH · 02</a:t>
            </a:r>
            <a:endParaRPr lang="en-US" sz="1800" dirty="0"/>
          </a:p>
        </p:txBody>
      </p:sp>
      <p:sp>
        <p:nvSpPr>
          <p:cNvPr id="11" name="Text 9"/>
          <p:cNvSpPr/>
          <p:nvPr/>
        </p:nvSpPr>
        <p:spPr>
          <a:xfrm>
            <a:off x="9764118" y="4204229"/>
            <a:ext cx="719897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0F1311"/>
                </a:solidFill>
                <a:latin typeface="Arial" pitchFamily="34" charset="0"/>
                <a:ea typeface="Arial" pitchFamily="34" charset="-122"/>
                <a:cs typeface="Arial" pitchFamily="34" charset="-120"/>
              </a:rPr>
              <a:t>Cross-sell — đi theo Workflow</a:t>
            </a:r>
            <a:endParaRPr lang="en-US" sz="2400" dirty="0"/>
          </a:p>
        </p:txBody>
      </p:sp>
      <p:sp>
        <p:nvSpPr>
          <p:cNvPr id="12" name="Text 10"/>
          <p:cNvSpPr/>
          <p:nvPr/>
        </p:nvSpPr>
        <p:spPr>
          <a:xfrm>
            <a:off x="9764118" y="4725955"/>
            <a:ext cx="7198979" cy="723702"/>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23A36"/>
                </a:solidFill>
                <a:latin typeface="Arial" pitchFamily="34" charset="0"/>
                <a:ea typeface="Arial" pitchFamily="34" charset="-122"/>
                <a:cs typeface="Arial" pitchFamily="34" charset="-120"/>
              </a:rPr>
              <a:t>Bank Connector → Tax Connector → Reconciliation → Auto-payment. Khách hài lòng một module sẽ rất dễ mua module tiếp.</a:t>
            </a:r>
            <a:endParaRPr lang="en-US" sz="1800" dirty="0"/>
          </a:p>
        </p:txBody>
      </p:sp>
      <p:sp>
        <p:nvSpPr>
          <p:cNvPr id="13" name="Text 11"/>
          <p:cNvSpPr/>
          <p:nvPr/>
        </p:nvSpPr>
        <p:spPr>
          <a:xfrm>
            <a:off x="9604098" y="5582874"/>
            <a:ext cx="7225520" cy="1336378"/>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In-app prompt khi flow chạm pain mới.</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Quý business review với Partner Success Manager.</a:t>
            </a:r>
            <a:endParaRPr lang="en-US" sz="1800" dirty="0"/>
          </a:p>
          <a:p>
            <a:pPr algn="l" indent="0" marL="0">
              <a:lnSpc>
                <a:spcPct val="145000"/>
              </a:lnSpc>
              <a:buNone/>
            </a:pPr>
            <a:r>
              <a:rPr lang="en-US" sz="1800" dirty="0">
                <a:solidFill>
                  <a:srgbClr val="323A36"/>
                </a:solidFill>
                <a:latin typeface="Arial" pitchFamily="34" charset="0"/>
                <a:ea typeface="Arial" pitchFamily="34" charset="-122"/>
                <a:cs typeface="Arial" pitchFamily="34" charset="-120"/>
              </a:rPr>
              <a:t>Bundled discount khi mua module thứ 2 trong 90 ngày.</a:t>
            </a:r>
            <a:endParaRPr lang="en-US" sz="1800" dirty="0"/>
          </a:p>
        </p:txBody>
      </p:sp>
      <p:sp>
        <p:nvSpPr>
          <p:cNvPr id="14" name="Shape 12"/>
          <p:cNvSpPr/>
          <p:nvPr/>
        </p:nvSpPr>
        <p:spPr>
          <a:xfrm>
            <a:off x="1143000" y="7501103"/>
            <a:ext cx="16002001" cy="1676135"/>
          </a:xfrm>
          <a:prstGeom prst="roundRect">
            <a:avLst>
              <a:gd name="adj" fmla="val 11365"/>
            </a:avLst>
          </a:prstGeom>
          <a:solidFill>
            <a:srgbClr val="E6F8EF"/>
          </a:solidFill>
          <a:ln w="10583">
            <a:solidFill>
              <a:srgbClr val="CCF1DE"/>
            </a:solidFill>
            <a:prstDash val="solid"/>
          </a:ln>
        </p:spPr>
      </p:sp>
      <p:sp>
        <p:nvSpPr>
          <p:cNvPr id="15" name="Text 13"/>
          <p:cNvSpPr/>
          <p:nvPr/>
        </p:nvSpPr>
        <p:spPr>
          <a:xfrm>
            <a:off x="1458350" y="7740221"/>
            <a:ext cx="1583243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006B40"/>
                </a:solidFill>
                <a:latin typeface="Courier New" pitchFamily="34" charset="0"/>
                <a:ea typeface="Courier New" pitchFamily="34" charset="-122"/>
                <a:cs typeface="Courier New" pitchFamily="34" charset="-120"/>
              </a:rPr>
              <a:t>DISCOUNT POLICY</a:t>
            </a:r>
            <a:endParaRPr lang="en-US" sz="1800" dirty="0"/>
          </a:p>
        </p:txBody>
      </p:sp>
      <p:sp>
        <p:nvSpPr>
          <p:cNvPr id="16" name="Text 14"/>
          <p:cNvSpPr/>
          <p:nvPr/>
        </p:nvSpPr>
        <p:spPr>
          <a:xfrm>
            <a:off x="1458350" y="8231353"/>
            <a:ext cx="15832439" cy="744868"/>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0F1311"/>
                </a:solidFill>
                <a:latin typeface="Arial" pitchFamily="34" charset="0"/>
                <a:ea typeface="Arial" pitchFamily="34" charset="-122"/>
                <a:cs typeface="Arial" pitchFamily="34" charset="-120"/>
              </a:rPr>
              <a:t>Discount </a:t>
            </a:r>
            <a:pPr algn="l" indent="0" marL="0">
              <a:lnSpc>
                <a:spcPct val="150000"/>
              </a:lnSpc>
              <a:buNone/>
            </a:pPr>
            <a:r>
              <a:rPr lang="en-US" sz="1800" b="1" dirty="0">
                <a:solidFill>
                  <a:srgbClr val="0F1311"/>
                </a:solidFill>
                <a:latin typeface="Arial" pitchFamily="34" charset="0"/>
                <a:ea typeface="Arial" pitchFamily="34" charset="-122"/>
                <a:cs typeface="Arial" pitchFamily="34" charset="-120"/>
              </a:rPr>
              <a:t>có chiến lược</a:t>
            </a:r>
            <a:pPr algn="l" indent="0" marL="0">
              <a:lnSpc>
                <a:spcPct val="150000"/>
              </a:lnSpc>
              <a:buNone/>
            </a:pPr>
            <a:r>
              <a:rPr lang="en-US" sz="1800" dirty="0">
                <a:solidFill>
                  <a:srgbClr val="0F1311"/>
                </a:solidFill>
                <a:latin typeface="Arial" pitchFamily="34" charset="0"/>
                <a:ea typeface="Arial" pitchFamily="34" charset="-122"/>
                <a:cs typeface="Arial" pitchFamily="34" charset="-120"/>
              </a:rPr>
              <a:t>, không phải cuộc đua xuống đáy. Ưu tiên 2 nhóm: </a:t>
            </a:r>
            <a:pPr algn="l" indent="0" marL="0">
              <a:lnSpc>
                <a:spcPct val="150000"/>
              </a:lnSpc>
              <a:buNone/>
            </a:pPr>
            <a:r>
              <a:rPr lang="en-US" sz="1800" b="1" dirty="0">
                <a:solidFill>
                  <a:srgbClr val="0F1311"/>
                </a:solidFill>
                <a:latin typeface="Arial" pitchFamily="34" charset="0"/>
                <a:ea typeface="Arial" pitchFamily="34" charset="-122"/>
                <a:cs typeface="Arial" pitchFamily="34" charset="-120"/>
              </a:rPr>
              <a:t>Early-adopter Partner </a:t>
            </a:r>
            <a:pPr algn="l" indent="0" marL="0">
              <a:lnSpc>
                <a:spcPct val="150000"/>
              </a:lnSpc>
              <a:buNone/>
            </a:pPr>
            <a:r>
              <a:rPr lang="en-US" sz="1800" dirty="0">
                <a:solidFill>
                  <a:srgbClr val="0F1311"/>
                </a:solidFill>
                <a:latin typeface="Arial" pitchFamily="34" charset="0"/>
                <a:ea typeface="Arial" pitchFamily="34" charset="-122"/>
                <a:cs typeface="Arial" pitchFamily="34" charset="-120"/>
              </a:rPr>
              <a:t>(đổi feedback + case study lấy 6 tháng giảm giá) và </a:t>
            </a:r>
            <a:pPr algn="l" indent="0" marL="0">
              <a:lnSpc>
                <a:spcPct val="150000"/>
              </a:lnSpc>
              <a:buNone/>
            </a:pPr>
            <a:r>
              <a:rPr lang="en-US" sz="1800" b="1" dirty="0">
                <a:solidFill>
                  <a:srgbClr val="0F1311"/>
                </a:solidFill>
                <a:latin typeface="Arial" pitchFamily="34" charset="0"/>
                <a:ea typeface="Arial" pitchFamily="34" charset="-122"/>
                <a:cs typeface="Arial" pitchFamily="34" charset="-120"/>
              </a:rPr>
              <a:t>Multi-module Cohort </a:t>
            </a:r>
            <a:pPr algn="l" indent="0" marL="0">
              <a:lnSpc>
                <a:spcPct val="150000"/>
              </a:lnSpc>
              <a:buNone/>
            </a:pPr>
            <a:r>
              <a:rPr lang="en-US" sz="1800" dirty="0">
                <a:solidFill>
                  <a:srgbClr val="0F1311"/>
                </a:solidFill>
                <a:latin typeface="Arial" pitchFamily="34" charset="0"/>
                <a:ea typeface="Arial" pitchFamily="34" charset="-122"/>
                <a:cs typeface="Arial" pitchFamily="34" charset="-120"/>
              </a:rPr>
              <a:t>(mua ≥2 module trong 90 ngày → discount theo bundle).</a:t>
            </a:r>
            <a:endParaRPr lang="en-US" sz="1800" dirty="0"/>
          </a:p>
        </p:txBody>
      </p:sp>
      <p:sp>
        <p:nvSpPr>
          <p:cNvPr id="17" name="Text 15"/>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6B7771"/>
                </a:solidFill>
                <a:latin typeface="Courier New" pitchFamily="34" charset="0"/>
                <a:ea typeface="Courier New" pitchFamily="34" charset="-122"/>
                <a:cs typeface="Courier New" pitchFamily="34" charset="-120"/>
              </a:rPr>
              <a:t>23 / 24</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261A"/>
        </a:solidFill>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FFFFFF">
              <a:alpha val="4000"/>
            </a:srgbClr>
          </a:solidFill>
          <a:ln/>
        </p:spPr>
      </p:sp>
      <p:sp>
        <p:nvSpPr>
          <p:cNvPr id="3" name="Text 1"/>
          <p:cNvSpPr/>
          <p:nvPr/>
        </p:nvSpPr>
        <p:spPr>
          <a:xfrm>
            <a:off x="1143000" y="914301"/>
            <a:ext cx="16482061"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44" kern="0" dirty="0">
                <a:solidFill>
                  <a:srgbClr val="66D59C"/>
                </a:solidFill>
                <a:latin typeface="Courier New" pitchFamily="34" charset="0"/>
                <a:ea typeface="Courier New" pitchFamily="34" charset="-122"/>
                <a:cs typeface="Courier New" pitchFamily="34" charset="-120"/>
              </a:rPr>
              <a:t>24 · NEXT STEPS</a:t>
            </a:r>
            <a:endParaRPr lang="en-US" sz="1800" dirty="0"/>
          </a:p>
        </p:txBody>
      </p:sp>
      <p:sp>
        <p:nvSpPr>
          <p:cNvPr id="4" name="Text 2"/>
          <p:cNvSpPr/>
          <p:nvPr/>
        </p:nvSpPr>
        <p:spPr>
          <a:xfrm>
            <a:off x="1143000" y="1386417"/>
            <a:ext cx="14716126" cy="758097"/>
          </a:xfrm>
          <a:prstGeom prst="rect">
            <a:avLst/>
          </a:prstGeom>
          <a:noFill/>
          <a:ln/>
        </p:spPr>
        <p:txBody>
          <a:bodyPr wrap="square" lIns="25400" tIns="25400" rIns="25400" bIns="25400" rtlCol="0" anchor="t">
            <a:normAutofit/>
          </a:bodyPr>
          <a:lstStyle/>
          <a:p>
            <a:pPr algn="l" indent="0" marL="0">
              <a:lnSpc>
                <a:spcPct val="105000"/>
              </a:lnSpc>
              <a:buNone/>
            </a:pPr>
            <a:r>
              <a:rPr lang="en-US" sz="5400" b="1" spc="-135" kern="0" dirty="0">
                <a:solidFill>
                  <a:srgbClr val="FFFFFF"/>
                </a:solidFill>
                <a:latin typeface="Arial" pitchFamily="34" charset="0"/>
                <a:ea typeface="Arial" pitchFamily="34" charset="-122"/>
                <a:cs typeface="Arial" pitchFamily="34" charset="-120"/>
              </a:rPr>
              <a:t>3 thứ tôi cần </a:t>
            </a:r>
            <a:pPr algn="l" indent="0" marL="0">
              <a:lnSpc>
                <a:spcPct val="105000"/>
              </a:lnSpc>
              <a:buNone/>
            </a:pPr>
            <a:r>
              <a:rPr lang="en-US" sz="5400" b="1" spc="-135" kern="0" dirty="0">
                <a:solidFill>
                  <a:srgbClr val="66D59C"/>
                </a:solidFill>
                <a:latin typeface="Arial" pitchFamily="34" charset="0"/>
                <a:ea typeface="Arial" pitchFamily="34" charset="-122"/>
                <a:cs typeface="Arial" pitchFamily="34" charset="-120"/>
              </a:rPr>
              <a:t>từ team </a:t>
            </a:r>
            <a:pPr algn="l" indent="0" marL="0">
              <a:lnSpc>
                <a:spcPct val="105000"/>
              </a:lnSpc>
              <a:buNone/>
            </a:pPr>
            <a:r>
              <a:rPr lang="en-US" sz="5400" b="1" spc="-135" kern="0" dirty="0">
                <a:solidFill>
                  <a:srgbClr val="FFFFFF"/>
                </a:solidFill>
                <a:latin typeface="Arial" pitchFamily="34" charset="0"/>
                <a:ea typeface="Arial" pitchFamily="34" charset="-122"/>
                <a:cs typeface="Arial" pitchFamily="34" charset="-120"/>
              </a:rPr>
              <a:t>sau session hôm nay.</a:t>
            </a:r>
            <a:endParaRPr lang="en-US" sz="5400" dirty="0"/>
          </a:p>
        </p:txBody>
      </p:sp>
      <p:sp>
        <p:nvSpPr>
          <p:cNvPr id="5" name="Shape 3"/>
          <p:cNvSpPr/>
          <p:nvPr/>
        </p:nvSpPr>
        <p:spPr>
          <a:xfrm>
            <a:off x="1143000" y="2639715"/>
            <a:ext cx="5105466" cy="3098436"/>
          </a:xfrm>
          <a:prstGeom prst="roundRect">
            <a:avLst>
              <a:gd name="adj" fmla="val 6148"/>
            </a:avLst>
          </a:prstGeom>
          <a:solidFill>
            <a:srgbClr val="FFFFFF">
              <a:alpha val="4000"/>
            </a:srgbClr>
          </a:solidFill>
          <a:ln w="10583">
            <a:solidFill>
              <a:srgbClr val="FFFFFF">
                <a:alpha val="12000"/>
              </a:srgbClr>
            </a:solidFill>
            <a:prstDash val="solid"/>
          </a:ln>
        </p:spPr>
      </p:sp>
      <p:sp>
        <p:nvSpPr>
          <p:cNvPr id="6" name="Text 4"/>
          <p:cNvSpPr/>
          <p:nvPr/>
        </p:nvSpPr>
        <p:spPr>
          <a:xfrm>
            <a:off x="1534583" y="2993099"/>
            <a:ext cx="445196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66D59C"/>
                </a:solidFill>
                <a:latin typeface="Courier New" pitchFamily="34" charset="0"/>
                <a:ea typeface="Courier New" pitchFamily="34" charset="-122"/>
                <a:cs typeface="Courier New" pitchFamily="34" charset="-120"/>
              </a:rPr>
              <a:t>ASK · 01</a:t>
            </a:r>
            <a:endParaRPr lang="en-US" sz="1800" dirty="0"/>
          </a:p>
        </p:txBody>
      </p:sp>
      <p:sp>
        <p:nvSpPr>
          <p:cNvPr id="7" name="Text 5"/>
          <p:cNvSpPr/>
          <p:nvPr/>
        </p:nvSpPr>
        <p:spPr>
          <a:xfrm>
            <a:off x="1534583" y="3484232"/>
            <a:ext cx="4451969" cy="738915"/>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FFFFFF"/>
                </a:solidFill>
                <a:latin typeface="Arial" pitchFamily="34" charset="0"/>
                <a:ea typeface="Arial" pitchFamily="34" charset="-122"/>
                <a:cs typeface="Arial" pitchFamily="34" charset="-120"/>
              </a:rPr>
              <a:t>Sign-off Value Prop + Segmentation</a:t>
            </a:r>
            <a:endParaRPr lang="en-US" sz="2400" dirty="0"/>
          </a:p>
        </p:txBody>
      </p:sp>
      <p:sp>
        <p:nvSpPr>
          <p:cNvPr id="8" name="Text 6"/>
          <p:cNvSpPr/>
          <p:nvPr/>
        </p:nvSpPr>
        <p:spPr>
          <a:xfrm>
            <a:off x="1534583" y="4356365"/>
            <a:ext cx="4451969" cy="1066502"/>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72000"/>
                  </a:srgbClr>
                </a:solidFill>
                <a:latin typeface="Arial" pitchFamily="34" charset="0"/>
                <a:ea typeface="Arial" pitchFamily="34" charset="-122"/>
                <a:cs typeface="Arial" pitchFamily="34" charset="-120"/>
              </a:rPr>
              <a:t>Xác nhận 2 đứt gãy Odoo + chiến lược 2 phân khúc Partner / End-user là đúng hướng.</a:t>
            </a:r>
            <a:endParaRPr lang="en-US" sz="1800" dirty="0"/>
          </a:p>
        </p:txBody>
      </p:sp>
      <p:sp>
        <p:nvSpPr>
          <p:cNvPr id="9" name="Shape 7"/>
          <p:cNvSpPr/>
          <p:nvPr/>
        </p:nvSpPr>
        <p:spPr>
          <a:xfrm>
            <a:off x="6591267" y="2639715"/>
            <a:ext cx="5105466" cy="3098436"/>
          </a:xfrm>
          <a:prstGeom prst="roundRect">
            <a:avLst>
              <a:gd name="adj" fmla="val 6148"/>
            </a:avLst>
          </a:prstGeom>
          <a:solidFill>
            <a:srgbClr val="FFFFFF">
              <a:alpha val="4000"/>
            </a:srgbClr>
          </a:solidFill>
          <a:ln w="10583">
            <a:solidFill>
              <a:srgbClr val="FFFFFF">
                <a:alpha val="12000"/>
              </a:srgbClr>
            </a:solidFill>
            <a:prstDash val="solid"/>
          </a:ln>
        </p:spPr>
      </p:sp>
      <p:sp>
        <p:nvSpPr>
          <p:cNvPr id="10" name="Text 8"/>
          <p:cNvSpPr/>
          <p:nvPr/>
        </p:nvSpPr>
        <p:spPr>
          <a:xfrm>
            <a:off x="6982851" y="2993099"/>
            <a:ext cx="445196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66D59C"/>
                </a:solidFill>
                <a:latin typeface="Courier New" pitchFamily="34" charset="0"/>
                <a:ea typeface="Courier New" pitchFamily="34" charset="-122"/>
                <a:cs typeface="Courier New" pitchFamily="34" charset="-120"/>
              </a:rPr>
              <a:t>ASK · 02</a:t>
            </a:r>
            <a:endParaRPr lang="en-US" sz="1800" dirty="0"/>
          </a:p>
        </p:txBody>
      </p:sp>
      <p:sp>
        <p:nvSpPr>
          <p:cNvPr id="11" name="Text 9"/>
          <p:cNvSpPr/>
          <p:nvPr/>
        </p:nvSpPr>
        <p:spPr>
          <a:xfrm>
            <a:off x="6982851" y="3484232"/>
            <a:ext cx="4451969" cy="738915"/>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FFFFFF"/>
                </a:solidFill>
                <a:latin typeface="Arial" pitchFamily="34" charset="0"/>
                <a:ea typeface="Arial" pitchFamily="34" charset="-122"/>
                <a:cs typeface="Arial" pitchFamily="34" charset="-120"/>
              </a:rPr>
              <a:t>Approve packaging strategy</a:t>
            </a:r>
            <a:endParaRPr lang="en-US" sz="2400" dirty="0"/>
          </a:p>
        </p:txBody>
      </p:sp>
      <p:sp>
        <p:nvSpPr>
          <p:cNvPr id="12" name="Text 10"/>
          <p:cNvSpPr/>
          <p:nvPr/>
        </p:nvSpPr>
        <p:spPr>
          <a:xfrm>
            <a:off x="6982851" y="4356365"/>
            <a:ext cx="4451969" cy="1066502"/>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72000"/>
                  </a:srgbClr>
                </a:solidFill>
                <a:latin typeface="Arial" pitchFamily="34" charset="0"/>
                <a:ea typeface="Arial" pitchFamily="34" charset="-122"/>
                <a:cs typeface="Arial" pitchFamily="34" charset="-120"/>
              </a:rPr>
              <a:t>Chốt 3 cách đóng gói (Lẻ / Combo / Enterprise) và 2 bộ tier — tên + value, con số chốt sau Validate.</a:t>
            </a:r>
            <a:endParaRPr lang="en-US" sz="1800" dirty="0"/>
          </a:p>
        </p:txBody>
      </p:sp>
      <p:sp>
        <p:nvSpPr>
          <p:cNvPr id="13" name="Shape 11"/>
          <p:cNvSpPr/>
          <p:nvPr/>
        </p:nvSpPr>
        <p:spPr>
          <a:xfrm>
            <a:off x="12039535" y="2639715"/>
            <a:ext cx="5105466" cy="2748029"/>
          </a:xfrm>
          <a:prstGeom prst="roundRect">
            <a:avLst>
              <a:gd name="adj" fmla="val 6932"/>
            </a:avLst>
          </a:prstGeom>
          <a:solidFill>
            <a:srgbClr val="FFFFFF">
              <a:alpha val="4000"/>
            </a:srgbClr>
          </a:solidFill>
          <a:ln w="10583">
            <a:solidFill>
              <a:srgbClr val="FFFFFF">
                <a:alpha val="12000"/>
              </a:srgbClr>
            </a:solidFill>
            <a:prstDash val="solid"/>
          </a:ln>
        </p:spPr>
      </p:sp>
      <p:sp>
        <p:nvSpPr>
          <p:cNvPr id="14" name="Text 12"/>
          <p:cNvSpPr/>
          <p:nvPr/>
        </p:nvSpPr>
        <p:spPr>
          <a:xfrm>
            <a:off x="12431118" y="2993099"/>
            <a:ext cx="4451969"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80" kern="0" dirty="0">
                <a:solidFill>
                  <a:srgbClr val="66D59C"/>
                </a:solidFill>
                <a:latin typeface="Courier New" pitchFamily="34" charset="0"/>
                <a:ea typeface="Courier New" pitchFamily="34" charset="-122"/>
                <a:cs typeface="Courier New" pitchFamily="34" charset="-120"/>
              </a:rPr>
              <a:t>ASK · 03</a:t>
            </a:r>
            <a:endParaRPr lang="en-US" sz="1800" dirty="0"/>
          </a:p>
        </p:txBody>
      </p:sp>
      <p:sp>
        <p:nvSpPr>
          <p:cNvPr id="15" name="Text 13"/>
          <p:cNvSpPr/>
          <p:nvPr/>
        </p:nvSpPr>
        <p:spPr>
          <a:xfrm>
            <a:off x="12431118" y="3484232"/>
            <a:ext cx="4451969" cy="388508"/>
          </a:xfrm>
          <a:prstGeom prst="rect">
            <a:avLst/>
          </a:prstGeom>
          <a:noFill/>
          <a:ln/>
        </p:spPr>
        <p:txBody>
          <a:bodyPr wrap="square" lIns="25400" tIns="25400" rIns="25400" bIns="25400" rtlCol="0" anchor="t">
            <a:normAutofit/>
          </a:bodyPr>
          <a:lstStyle/>
          <a:p>
            <a:pPr algn="l" indent="0" marL="0">
              <a:lnSpc>
                <a:spcPct val="115000"/>
              </a:lnSpc>
              <a:buNone/>
            </a:pPr>
            <a:r>
              <a:rPr lang="en-US" sz="2400" b="1" spc="-24" kern="0" dirty="0">
                <a:solidFill>
                  <a:srgbClr val="FFFFFF"/>
                </a:solidFill>
                <a:latin typeface="Arial" pitchFamily="34" charset="0"/>
                <a:ea typeface="Arial" pitchFamily="34" charset="-122"/>
                <a:cs typeface="Arial" pitchFamily="34" charset="-120"/>
              </a:rPr>
              <a:t>Greenlight phase Validate</a:t>
            </a:r>
            <a:endParaRPr lang="en-US" sz="2400" dirty="0"/>
          </a:p>
        </p:txBody>
      </p:sp>
      <p:sp>
        <p:nvSpPr>
          <p:cNvPr id="16" name="Text 14"/>
          <p:cNvSpPr/>
          <p:nvPr/>
        </p:nvSpPr>
        <p:spPr>
          <a:xfrm>
            <a:off x="12431118" y="4005957"/>
            <a:ext cx="4451969" cy="1066502"/>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72000"/>
                  </a:srgbClr>
                </a:solidFill>
                <a:latin typeface="Arial" pitchFamily="34" charset="0"/>
                <a:ea typeface="Arial" pitchFamily="34" charset="-122"/>
                <a:cs typeface="Arial" pitchFamily="34" charset="-120"/>
              </a:rPr>
              <a:t>Cho phép tiếp cận Oris, Viindoo + 1 partner để mang module này cho họ xài thử trong 4 tuần tới.</a:t>
            </a:r>
            <a:endParaRPr lang="en-US" sz="1800" dirty="0"/>
          </a:p>
        </p:txBody>
      </p:sp>
      <p:sp>
        <p:nvSpPr>
          <p:cNvPr id="17" name="Shape 15"/>
          <p:cNvSpPr/>
          <p:nvPr/>
        </p:nvSpPr>
        <p:spPr>
          <a:xfrm>
            <a:off x="1143000" y="8858251"/>
            <a:ext cx="381000" cy="381000"/>
          </a:xfrm>
          <a:prstGeom prst="roundRect">
            <a:avLst>
              <a:gd name="adj" fmla="val 25000"/>
            </a:avLst>
          </a:prstGeom>
          <a:solidFill>
            <a:srgbClr val="00B26A"/>
          </a:solidFill>
          <a:ln/>
        </p:spPr>
      </p:sp>
      <p:sp>
        <p:nvSpPr>
          <p:cNvPr id="18" name="Text 16"/>
          <p:cNvSpPr/>
          <p:nvPr/>
        </p:nvSpPr>
        <p:spPr>
          <a:xfrm>
            <a:off x="1143000" y="8858251"/>
            <a:ext cx="457200" cy="41910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9" name="Text 17"/>
          <p:cNvSpPr/>
          <p:nvPr/>
        </p:nvSpPr>
        <p:spPr>
          <a:xfrm>
            <a:off x="1714500" y="8888843"/>
            <a:ext cx="4881700"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FFFFFF"/>
                </a:solidFill>
                <a:latin typeface="Arial" pitchFamily="34" charset="0"/>
                <a:ea typeface="Arial" pitchFamily="34" charset="-122"/>
                <a:cs typeface="Arial" pitchFamily="34" charset="-120"/>
              </a:rPr>
              <a:t>CASSO · Odoo by Cas — v1 internal review</a:t>
            </a:r>
            <a:endParaRPr lang="en-US" sz="1800" dirty="0"/>
          </a:p>
        </p:txBody>
      </p:sp>
      <p:sp>
        <p:nvSpPr>
          <p:cNvPr id="20" name="Text 18"/>
          <p:cNvSpPr/>
          <p:nvPr/>
        </p:nvSpPr>
        <p:spPr>
          <a:xfrm>
            <a:off x="16089148" y="9548151"/>
            <a:ext cx="1132053" cy="357915"/>
          </a:xfrm>
          <a:prstGeom prst="rect">
            <a:avLst/>
          </a:prstGeom>
          <a:noFill/>
          <a:ln/>
        </p:spPr>
        <p:txBody>
          <a:bodyPr wrap="square" lIns="25400" tIns="25400" rIns="25400" bIns="25400" rtlCol="0" anchor="t">
            <a:normAutofit/>
          </a:bodyPr>
          <a:lstStyle/>
          <a:p>
            <a:pPr algn="l" indent="0" marL="0">
              <a:lnSpc>
                <a:spcPct val="140000"/>
              </a:lnSpc>
              <a:buNone/>
            </a:pPr>
            <a:r>
              <a:rPr lang="en-US" sz="1800" spc="108" kern="0" dirty="0">
                <a:solidFill>
                  <a:srgbClr val="FFFFFF">
                    <a:alpha val="40000"/>
                  </a:srgbClr>
                </a:solidFill>
                <a:latin typeface="Courier New" pitchFamily="34" charset="0"/>
                <a:ea typeface="Courier New" pitchFamily="34" charset="-122"/>
                <a:cs typeface="Courier New" pitchFamily="34" charset="-120"/>
              </a:rPr>
              <a:t>24 / 24</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2026-05-28T06:25:47Z</dcterms:created>
  <dcterms:modified xsi:type="dcterms:W3CDTF">2026-05-28T06:25:47Z</dcterms:modified>
</cp:coreProperties>
</file>